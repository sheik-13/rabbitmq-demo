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9" r:id="rId32"/>
    <p:sldId id="280" r:id="rId33"/>
    <p:sldId id="281" r:id="rId34"/>
    <p:sldId id="277" r:id="rId27"/>
    <p:sldId id="278" r:id="rId28"/>
  </p:sldIdLst>
  <p:sldSz cy="6858000" cx="12191675"/>
  <p:notesSz cx="6858000" cy="9144000"/>
  <p:embeddedFontLst>
    <p:embeddedFont>
      <p:font typeface="Space Grotesk"/>
      <p:regular r:id="rId29"/>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1" roundtripDataSignature="AMtx7mgrWF7Sj9+ELJD5PfvenwFFQNHRR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SpaceGrotesk-regular.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SpaceGrotesk-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  <Relationship Id="rId32" Type="http://schemas.openxmlformats.org/officeDocument/2006/relationships/slide" Target="slides/slide24.xml"/>
  <Relationship Id="rId33" Type="http://schemas.openxmlformats.org/officeDocument/2006/relationships/slide" Target="slides/slide25.xml"/>
  <Relationship Id="rId34" Type="http://schemas.openxmlformats.org/officeDocument/2006/relationships/slide" Target="slides/slide26.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Welcome everyone. Today we'll cover RabbitMQ from zero to production. No prior knowledge of message brokers is needed — we'll start from the basics and build up to clustering, reliability, and monitoring. By the end, you'll know how to run RabbitMQ confidently in production.</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Imagine a busy town. Instead of every person delivering letters to every other person, there's a post office in the middle. You drop off your letter, and the post office sorts it and delivers it when the recipient is available. A message broker does exactly this for software services. RabbitMQ is the most popular open-source message broker.</a:t>
            </a:r>
            <a:endParaRPr/>
          </a:p>
        </p:txBody>
      </p:sp>
      <p:sp>
        <p:nvSpPr>
          <p:cNvPr id="96" name="Google Shape;96;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 name="Google Shape;112;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Synchronous communication is like calling someone on the phone — you wait until they answer. Asynchronous is like sending a text — you send it and carry on. Message queues let your services work asynchronously. If a downstream service is slow or crashes, the messages wait in the queue until it recovers. This absorbs traffic spikes and prevents cascading failures.</a:t>
            </a:r>
            <a:endParaRPr/>
          </a:p>
        </p:txBody>
      </p:sp>
      <p:sp>
        <p:nvSpPr>
          <p:cNvPr id="113" name="Google Shape;113;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Message queues shine when you don't need an instant response. Sending emails, processing payments, and handling image uploads are classic examples. During a flash sale, your API might receive 1000 requests per second. Without a queue, your payment service would crash. With a queue, requests are buffered and workers process them at a sustainable rate.</a:t>
            </a:r>
            <a:endParaRPr/>
          </a:p>
        </p:txBody>
      </p:sp>
      <p:sp>
        <p:nvSpPr>
          <p:cNvPr id="136" name="Google Shape;136;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 name="Google Shape;156;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These are the four core components. A producer sends a message to an exchange. The exchange looks at its bindings to decide which queue(s) should receive the message. Consumers then read from queues. This indirection through the exchange gives us powerful routing capabilities, which we'll explore in the next slides.</a:t>
            </a:r>
            <a:endParaRPr/>
          </a:p>
        </p:txBody>
      </p:sp>
      <p:sp>
        <p:nvSpPr>
          <p:cNvPr id="157" name="Google Shape;157;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 name="Google Shape;175;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The exchange is like the sorting department at the post office. When a letter arrives, the sorter reads the address (routing key) and puts it in the right mailbox (queue). RabbitMQ gives you four types of exchanges, each with different routing logic. Direct matches exact keys, Topic uses wildcard patterns, Fanout broadcasts to everyone, and Headers matches on message attributes instead of routing keys.</a:t>
            </a:r>
            <a:endParaRPr/>
          </a:p>
        </p:txBody>
      </p:sp>
      <p:sp>
        <p:nvSpPr>
          <p:cNvPr id="176" name="Google Shape;176;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8" name="Google Shape;198;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A direct exchange routes a message to queues whose binding key exactly matches the message's routing key. If you publish with key 'error', only queues bound with key 'error' receive the message. Queues bound with 'info' or 'warning' are ignored. This is the most common exchange type for simple point-to-point routing.</a:t>
            </a:r>
            <a:endParaRPr/>
          </a:p>
        </p:txBody>
      </p:sp>
      <p:sp>
        <p:nvSpPr>
          <p:cNvPr id="199" name="Google Shape;199;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7" name="Google Shape;21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Topic exchanges let you use patterns. Dot-separated routing keys like 'orders.new.eu' are matched against binding patterns. The star (*) matches exactly one word, so 'orders.*.eu' matches 'orders.new.eu' but not 'orders.new.us'. The hash (#) matches zero or more words, so 'orders.#' matches everything starting with 'orders.'. This is perfect for event-based routing where you want flexible subscriptions.</a:t>
            </a:r>
            <a:endParaRPr/>
          </a:p>
        </p:txBody>
      </p:sp>
      <p:sp>
        <p:nvSpPr>
          <p:cNvPr id="218" name="Google Shape;21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7" name="Google Shape;237;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A fanout exchange is the simplest — it ignores routing keys and sends a copy of every message to every queue bound to it. Think of it like a radio broadcast: everyone listening gets the same message. This is perfect for events that need to trigger multiple actions, like a 'new user' event that needs to send a welcome email, an SMS, and update analytics.</a:t>
            </a:r>
            <a:endParaRPr/>
          </a:p>
        </p:txBody>
      </p:sp>
      <p:sp>
        <p:nvSpPr>
          <p:cNvPr id="238" name="Google Shape;238;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7" name="Google Shape;257;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The headers exchange routes based on message header attributes rather than the routing key. You set x-match to 'all' (every header must match) or 'any' (at least one header matches). The default exchange is a special nameless direct exchange — every queue is automatically bound to it using the queue's own name as the routing key. This lets you send directly to a queue by name without creating any bindings.</a:t>
            </a:r>
            <a:endParaRPr/>
          </a:p>
        </p:txBody>
      </p:sp>
      <p:sp>
        <p:nvSpPr>
          <p:cNvPr id="258" name="Google Shape;258;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5" name="Google Shape;275;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Virtual hosts are like separate apartments in one building. Each vhost has its own exchanges, queues, and user permissions. The production team can't accidentally read from the staging queue. Always create dedicated users with specific permissions for each vhost. The default 'guest' user only works on localhost, but in production you should delete it entirely to avoid security risks.</a:t>
            </a:r>
            <a:endParaRPr/>
          </a:p>
        </p:txBody>
      </p:sp>
      <p:sp>
        <p:nvSpPr>
          <p:cNvPr id="276" name="Google Shape;276;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9" name="Google Shape;289;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AMQP 0-9-1, the protocol RabbitMQ uses, multiplexes channels over a single TCP connection. Opening a TCP connection is expensive (TLS handshake, memory). Channels are virtual and very lightweight. Best practice: one connection per application instance, one channel per thread. Avoid opening hundreds of connections — that's a common mistake we'll revisit in the production mistakes slide.</a:t>
            </a:r>
            <a:endParaRPr/>
          </a:p>
        </p:txBody>
      </p:sp>
      <p:sp>
        <p:nvSpPr>
          <p:cNvPr id="290" name="Google Shape;290;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7" name="Google Shape;30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Messages can get lost at three points. First, between the producer and the broker — the network might drop the message. Second, inside the broker — if the server crashes and the queue isn't durable, messages vanish. Third, between the broker and the consumer — if the consumer crashes before finishing processing, the message is gone. We'll cover the fix for each in the next three slides.</a:t>
            </a:r>
            <a:endParaRPr/>
          </a:p>
        </p:txBody>
      </p:sp>
      <p:sp>
        <p:nvSpPr>
          <p:cNvPr id="308" name="Google Shape;308;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8" name="Google Shape;328;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Durability has two sides. The queue must be declared as durable, meaning its definition survives a broker restart. But the messages also need to be marked as persistent (delivery mode 2), which tells RabbitMQ to write them to disk. If you have a durable queue with non-persistent messages, the queue exists after restart but the messages are gone. For classic queues, always set both. Quorum queues always write messages to disk, so this rule matters mainly for classic queues.</a:t>
            </a:r>
            <a:endParaRPr/>
          </a:p>
        </p:txBody>
      </p:sp>
      <p:sp>
        <p:nvSpPr>
          <p:cNvPr id="329" name="Google Shape;329;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4" name="Google Shape;344;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Publisher confirms solve Risk 1. After you enable confirm mode on a channel, the broker sends back an acknowledgement for every message it successfully receives and persists. If the broker can't handle the message, it sends a nack (negative acknowledgement). On nack or timeout, your producer should republish. This can cause duplicates, so your consumers should be idempotent — we'll cover that on slide 18.</a:t>
            </a:r>
            <a:endParaRPr/>
          </a:p>
        </p:txBody>
      </p:sp>
      <p:sp>
        <p:nvSpPr>
          <p:cNvPr id="345" name="Google Shape;345;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0" name="Google Shape;360;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Consumer acknowledgements solve Risk 3. When auto-ack is off (manual ack), the broker keeps the message until the consumer explicitly confirms it's done. If the consumer crashes, the message goes back to the queue for another consumer. Prefetch count limits how many unacknowledged messages a consumer can hold. Set it too high and one slow consumer hogs all messages. Set it too low and you lose throughput. A common starting point is 10-50.</a:t>
            </a:r>
            <a:endParaRPr/>
          </a:p>
        </p:txBody>
      </p:sp>
      <p:sp>
        <p:nvSpPr>
          <p:cNvPr id="361" name="Google Shape;361;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7" name="Google Shape;377;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Some messages will always fail, maybe because the data is corrupt or there's a bug. Without a dead-letter queue, the message would cycle forever and block the queue. Set a retry limit, typically 3. RabbitMQ does not add backoff by itself, so build it in your app or with delay queues. Quorum queues also have a built-in delivery-limit setting that dead-letters a message after too many redeliveries. After the maximum retries, the message is routed to a DLQ. Monitor your DLQ: it's your early warning system for bugs in production.</a:t>
            </a:r>
            <a:endParaRPr/>
          </a:p>
        </p:txBody>
      </p:sp>
      <p:sp>
        <p:nvSpPr>
          <p:cNvPr id="378" name="Google Shape;378;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7" name="Google Shape;39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At-most-once is fast but risky — you might lose messages. At-least-once (with confirms and acks) guarantees delivery but you may get duplicates if a confirm is lost and you republish. The gold standard is the idempotent consumer: store a unique message ID (or use a natural key) and skip messages you've already processed. This gives you effectively-once processing.</a:t>
            </a:r>
            <a:endParaRPr/>
          </a:p>
        </p:txBody>
      </p:sp>
      <p:sp>
        <p:nvSpPr>
          <p:cNvPr id="398" name="Google Shape;398;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8" name="Google Shape;418;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RabbitMQ now has three queue types. Classic queues are the original single-node queues — they are still supported but not replicated, and mirroring of classic queues was removed in 4.0. Quorum queues are the recommended default: they replicate data across multiple nodes using the Raft consensus algorithm, surviving node failures. Streams are a newer type — they work like an append-only log (similar to Kafka topics) where multiple consumers can read the same messages independently and replay from any position.</a:t>
            </a:r>
            <a:endParaRPr/>
          </a:p>
        </p:txBody>
      </p:sp>
      <p:sp>
        <p:nvSpPr>
          <p:cNvPr id="419" name="Google Shape;419;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4" name="Google Shape;434;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Quorum queues use the Raft consensus algorithm. One node is elected leader and handles all reads and writes. Followers replicate the data. A message is only confirmed to the producer when a majority of nodes (quorum) have persisted it. With 3 nodes, you need 2 to agree, so you can lose 1 node. With 5 nodes, you need 3, so you can lose 2. This is why odd numbers are recommended for cluster sizes.</a:t>
            </a:r>
            <a:endParaRPr/>
          </a:p>
        </p:txBody>
      </p:sp>
      <p:sp>
        <p:nvSpPr>
          <p:cNvPr id="435" name="Google Shape;435;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3" name="Google Shape;453;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Streams are RabbitMQ's answer to append-only log use cases (like Kafka topics). Reading does not delete messages from a stream. They stay until the retention policy (size or age) removes them — consumers track their own offset and can replay from any point. Multiple consumers can read the same stream independently at different speeds. Since reading doesn't delete messages, plan disk space around your retention settings.</a:t>
            </a:r>
            <a:endParaRPr/>
          </a:p>
        </p:txBody>
      </p:sp>
      <p:sp>
        <p:nvSpPr>
          <p:cNvPr id="454" name="Google Shape;454;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2" name="Google Shape;472;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Choose RabbitMQ when you need complex routing, priority queues, or request-reply patterns. Choose Kafka when you need an event log with replay, massive throughput, or stream processing. Choose SQS when you're on AWS and want the least operational overhead — no cluster to manage, pay per message. There's no universally 'best' tool — it depends on your use case.</a:t>
            </a:r>
            <a:endParaRPr/>
          </a:p>
        </p:txBody>
      </p:sp>
      <p:sp>
        <p:nvSpPr>
          <p:cNvPr id="473" name="Google Shape;473;p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h16c38d813e46dba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Thank you for attending! I'm happy to take questions.</a:t>
            </a:r>
            <a:endParaRPr/>
          </a:p>
        </p:txBody>
      </p:sp>
      <p:sp>
        <p:nvSpPr>
          <p:cNvPr id="489" name="Google Shape;489;h16c38d813e46dba8_0_11:notes"/>
          <p:cNvSpPr/>
          <p:nvPr>
            <p:ph idx="2" type="sldImg"/>
          </p:nvPr>
        </p:nvSpPr>
        <p:spPr>
          <a:xfrm>
            <a:off x="1143286"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8" name="Google Shape;418;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A cluster is several RabbitMQ nodes acting as one broker. Use an odd number of nodes, usually 3 or 5, so a majority can always agree: 3 nodes survive one failure, 5 survive two. Keep nodes on a low-latency network, ideally spread across availability zones. Clustering across regions or over a WAN is a bad idea; use Federation or Shovel to move messages between sites instead. On the client side, connect through a load balancer or a list of node addresses and enable automatic reconnect, so a node failure is just a brief blip. When upgrading, go one node at a time and wait for it to rejoin before moving on.</a:t>
            </a:r>
            <a:endParaRPr/>
          </a:p>
        </p:txBody>
      </p:sp>
      <p:sp>
        <p:nvSpPr>
          <p:cNvPr id="419" name="Google Shape;419;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2" name="Google Shape;472;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You can't run RabbitMQ in production without monitoring. For queues, watch ready and unacked message counts and the trend of queue depth: a depth that keeps growing means consumers can't keep up. Watch the dead-letter queue size and unroutable messages. For consumers, check that every important queue has consumers, compare publish rate to ack rate, and look at redeliveries, which point to crashing or stuck consumers. For nodes, watch memory and disk alarms (RabbitMQ blocks publishers when they trigger), file descriptors, connection and channel counts, and cluster partitions. The Management UI is great for a quick look; for production, use the Prometheus plugin with Grafana dashboards. Good starter alerts: no consumers on a queue, growing queue depth, anything in the DLQ, and any memory or disk alarm.</a:t>
            </a:r>
            <a:endParaRPr/>
          </a:p>
        </p:txBody>
      </p:sp>
      <p:sp>
        <p:nvSpPr>
          <p:cNvPr id="473" name="Google Shape;473;p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8" name="Google Shape;418;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Here are the mistakes I see most often. Connections: opening a connection per message, or ending up with hundreds of connections, wastes memory and hurts the broker. Use one connection per app instance and keep channels per thread, never shared. Queues: unbounded queues eventually put the broker under memory and disk pressure, so use length limits or TTLs where appropriate. Always have a retry limit and a DLQ, and don't use auto-ack for work you can't afford to lose. Security: delete the guest user, give each service its own user with per-vhost permissions, and use TLS. If you remember one rule from this slide: bounded queues, a DLQ, and a dedicated user per service.</a:t>
            </a:r>
            <a:endParaRPr/>
          </a:p>
        </p:txBody>
      </p:sp>
      <p:sp>
        <p:nvSpPr>
          <p:cNvPr id="419" name="Google Shape;419;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3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3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3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3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3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0"/>
          <p:cNvSpPr/>
          <p:nvPr>
            <p:ph idx="2" type="pic"/>
          </p:nvPr>
        </p:nvSpPr>
        <p:spPr>
          <a:xfrm>
            <a:off x="1792288" y="612775"/>
            <a:ext cx="5486400" cy="4114800"/>
          </a:xfrm>
          <a:prstGeom prst="rect">
            <a:avLst/>
          </a:prstGeom>
          <a:noFill/>
          <a:ln>
            <a:noFill/>
          </a:ln>
        </p:spPr>
      </p:sp>
      <p:sp>
        <p:nvSpPr>
          <p:cNvPr id="64" name="Google Shape;64;p4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6CB0"/>
        </a:solidFill>
      </p:bgPr>
    </p:bg>
    <p:spTree>
      <p:nvGrpSpPr>
        <p:cNvPr id="84" name="Shape 84"/>
        <p:cNvGrpSpPr/>
        <p:nvPr/>
      </p:nvGrpSpPr>
      <p:grpSpPr>
        <a:xfrm>
          <a:off x="0" y="0"/>
          <a:ext cx="0" cy="0"/>
          <a:chOff x="0" y="0"/>
          <a:chExt cx="0" cy="0"/>
        </a:xfrm>
      </p:grpSpPr>
      <p:sp>
        <p:nvSpPr>
          <p:cNvPr id="85" name="Google Shape;85;p1"/>
          <p:cNvSpPr txBox="1"/>
          <p:nvPr/>
        </p:nvSpPr>
        <p:spPr>
          <a:xfrm>
            <a:off x="914400" y="1500000"/>
            <a:ext cx="1033272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FFFFFF"/>
                </a:solidFill>
                <a:latin typeface="Calibri"/>
                <a:ea typeface="Calibri"/>
                <a:cs typeface="Calibri"/>
                <a:sym typeface="Calibri"/>
              </a:rPr>
              <a:t>RabbitMQ in Production</a:t>
            </a:r>
            <a:endParaRPr b="0" i="0" sz="1400" u="none" cap="none" strike="noStrike">
              <a:solidFill>
                <a:srgbClr val="000000"/>
              </a:solidFill>
              <a:latin typeface="Arial"/>
              <a:ea typeface="Arial"/>
              <a:cs typeface="Arial"/>
              <a:sym typeface="Arial"/>
            </a:endParaRPr>
          </a:p>
        </p:txBody>
      </p:sp>
      <p:sp>
        <p:nvSpPr>
          <p:cNvPr id="86" name="Google Shape;86;p1"/>
          <p:cNvSpPr txBox="1"/>
          <p:nvPr/>
        </p:nvSpPr>
        <p:spPr>
          <a:xfrm>
            <a:off x="914400" y="2240280"/>
            <a:ext cx="1033272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n-US" sz="2000" u="none" cap="none" strike="noStrike">
                <a:solidFill>
                  <a:srgbClr val="CFE3F7"/>
                </a:solidFill>
                <a:latin typeface="Calibri"/>
                <a:ea typeface="Calibri"/>
                <a:cs typeface="Calibri"/>
                <a:sym typeface="Calibri"/>
              </a:rPr>
              <a:t>From zero to production: routing, reliability, clustering and monitoring</a:t>
            </a:r>
            <a:endParaRPr b="0" i="0" sz="1400" u="none" cap="none" strike="noStrike">
              <a:solidFill>
                <a:srgbClr val="000000"/>
              </a:solidFill>
              <a:latin typeface="Arial"/>
              <a:ea typeface="Arial"/>
              <a:cs typeface="Arial"/>
              <a:sym typeface="Arial"/>
            </a:endParaRPr>
          </a:p>
        </p:txBody>
      </p:sp>
      <p:sp>
        <p:nvSpPr>
          <p:cNvPr id="87" name="Google Shape;87;p1"/>
          <p:cNvSpPr/>
          <p:nvPr/>
        </p:nvSpPr>
        <p:spPr>
          <a:xfrm>
            <a:off x="914400" y="3093206"/>
            <a:ext cx="1783200" cy="832200"/>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Producer</a:t>
            </a:r>
            <a:endParaRPr b="0" i="0" sz="1400" u="none" cap="none" strike="noStrike">
              <a:solidFill>
                <a:srgbClr val="000000"/>
              </a:solidFill>
              <a:latin typeface="Arial"/>
              <a:ea typeface="Arial"/>
              <a:cs typeface="Arial"/>
              <a:sym typeface="Arial"/>
            </a:endParaRPr>
          </a:p>
        </p:txBody>
      </p:sp>
      <p:sp>
        <p:nvSpPr>
          <p:cNvPr id="88" name="Google Shape;88;p1"/>
          <p:cNvSpPr/>
          <p:nvPr/>
        </p:nvSpPr>
        <p:spPr>
          <a:xfrm>
            <a:off x="2697480" y="3424203"/>
            <a:ext cx="1056600" cy="314400"/>
          </a:xfrm>
          <a:prstGeom prst="rightArrow">
            <a:avLst>
              <a:gd fmla="val 50000" name="adj1"/>
              <a:gd fmla="val 50000" name="adj2"/>
            </a:avLst>
          </a:prstGeom>
          <a:solidFill>
            <a:srgbClr val="90CDF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300"/>
              <a:buFont typeface="Arial"/>
              <a:buNone/>
            </a:pPr>
            <a:r>
              <a:t/>
            </a:r>
            <a:endParaRPr b="0" i="0" sz="2300" u="none" cap="none" strike="noStrike">
              <a:solidFill>
                <a:schemeClr val="dk1"/>
              </a:solidFill>
              <a:latin typeface="Calibri"/>
              <a:ea typeface="Calibri"/>
              <a:cs typeface="Calibri"/>
              <a:sym typeface="Calibri"/>
            </a:endParaRPr>
          </a:p>
        </p:txBody>
      </p:sp>
      <p:sp>
        <p:nvSpPr>
          <p:cNvPr id="89" name="Google Shape;89;p1"/>
          <p:cNvSpPr/>
          <p:nvPr/>
        </p:nvSpPr>
        <p:spPr>
          <a:xfrm>
            <a:off x="3753977" y="3165243"/>
            <a:ext cx="2139600" cy="832200"/>
          </a:xfrm>
          <a:prstGeom prst="roundRect">
            <a:avLst>
              <a:gd fmla="val 16667" name="adj"/>
            </a:avLst>
          </a:prstGeom>
          <a:solidFill>
            <a:srgbClr val="ED8A36"/>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RabbitMQ</a:t>
            </a:r>
            <a:endParaRPr b="0" i="0" sz="1400" u="none" cap="none" strike="noStrike">
              <a:solidFill>
                <a:srgbClr val="000000"/>
              </a:solidFill>
              <a:latin typeface="Arial"/>
              <a:ea typeface="Arial"/>
              <a:cs typeface="Arial"/>
              <a:sym typeface="Arial"/>
            </a:endParaRPr>
          </a:p>
        </p:txBody>
      </p:sp>
      <p:sp>
        <p:nvSpPr>
          <p:cNvPr id="90" name="Google Shape;90;p1"/>
          <p:cNvSpPr/>
          <p:nvPr/>
        </p:nvSpPr>
        <p:spPr>
          <a:xfrm>
            <a:off x="5893530" y="3424204"/>
            <a:ext cx="832200" cy="314400"/>
          </a:xfrm>
          <a:prstGeom prst="rightArrow">
            <a:avLst>
              <a:gd fmla="val 50000" name="adj1"/>
              <a:gd fmla="val 50000" name="adj2"/>
            </a:avLst>
          </a:prstGeom>
          <a:solidFill>
            <a:srgbClr val="90CDF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300"/>
              <a:buFont typeface="Arial"/>
              <a:buNone/>
            </a:pPr>
            <a:r>
              <a:t/>
            </a:r>
            <a:endParaRPr b="0" i="0" sz="2300" u="none" cap="none" strike="noStrike">
              <a:solidFill>
                <a:schemeClr val="dk1"/>
              </a:solidFill>
              <a:latin typeface="Calibri"/>
              <a:ea typeface="Calibri"/>
              <a:cs typeface="Calibri"/>
              <a:sym typeface="Calibri"/>
            </a:endParaRPr>
          </a:p>
        </p:txBody>
      </p:sp>
      <p:sp>
        <p:nvSpPr>
          <p:cNvPr id="91" name="Google Shape;91;p1"/>
          <p:cNvSpPr/>
          <p:nvPr/>
        </p:nvSpPr>
        <p:spPr>
          <a:xfrm>
            <a:off x="6725796" y="3093175"/>
            <a:ext cx="1902000" cy="832200"/>
          </a:xfrm>
          <a:prstGeom prst="roundRect">
            <a:avLst>
              <a:gd fmla="val 16667" name="adj"/>
            </a:avLst>
          </a:prstGeom>
          <a:solidFill>
            <a:srgbClr val="E53E3E"/>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Consumer</a:t>
            </a:r>
            <a:endParaRPr b="0" i="0" sz="1400" u="none" cap="none" strike="noStrike">
              <a:solidFill>
                <a:srgbClr val="000000"/>
              </a:solidFill>
              <a:latin typeface="Arial"/>
              <a:ea typeface="Arial"/>
              <a:cs typeface="Arial"/>
              <a:sym typeface="Arial"/>
            </a:endParaRPr>
          </a:p>
        </p:txBody>
      </p:sp>
      <p:sp>
        <p:nvSpPr>
          <p:cNvPr id="92" name="Google Shape;92;p1"/>
          <p:cNvSpPr txBox="1"/>
          <p:nvPr/>
        </p:nvSpPr>
        <p:spPr>
          <a:xfrm>
            <a:off x="10515600" y="6446520"/>
            <a:ext cx="1371600" cy="32004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BEE3F8"/>
                </a:solidFill>
                <a:latin typeface="Calibri"/>
                <a:ea typeface="Calibri"/>
                <a:cs typeface="Calibri"/>
                <a:sym typeface="Calibri"/>
              </a:rPr>
              <a:t>1 / 26</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97" name="Shape 97"/>
        <p:cNvGrpSpPr/>
        <p:nvPr/>
      </p:nvGrpSpPr>
      <p:grpSpPr>
        <a:xfrm>
          <a:off x="0" y="0"/>
          <a:ext cx="0" cy="0"/>
          <a:chOff x="0" y="0"/>
          <a:chExt cx="0" cy="0"/>
        </a:xfrm>
      </p:grpSpPr>
      <p:sp>
        <p:nvSpPr>
          <p:cNvPr id="98" name="Google Shape;98;p2"/>
          <p:cNvSpPr/>
          <p:nvPr/>
        </p:nvSpPr>
        <p:spPr>
          <a:xfrm>
            <a:off x="0" y="0"/>
            <a:ext cx="12191695" cy="1005840"/>
          </a:xfrm>
          <a:prstGeom prst="rect">
            <a:avLst/>
          </a:prstGeom>
          <a:solidFill>
            <a:srgbClr val="2B6CB0"/>
          </a:solidFill>
          <a:ln>
            <a:noFill/>
          </a:ln>
          <a:effectLst>
            <a:outerShdw blurRad="40000" rotWithShape="0" dir="5400000" dist="23000">
              <a:srgbClr val="000000">
                <a:alpha val="34902"/>
              </a:srgbClr>
            </a:outerShdw>
          </a:effectLst>
        </p:spPr>
        <p:txBody>
          <a:bodyPr anchorCtr="0" anchor="ctr" bIns="45700" lIns="548625" spcFirstLastPara="1" rIns="91425" wrap="square" tIns="13715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Calibri"/>
                <a:ea typeface="Calibri"/>
                <a:cs typeface="Calibri"/>
                <a:sym typeface="Calibri"/>
              </a:rPr>
              <a:t>What Is a Message Broker?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BEE3F8"/>
                </a:solidFill>
                <a:latin typeface="Calibri"/>
                <a:ea typeface="Calibri"/>
                <a:cs typeface="Calibri"/>
                <a:sym typeface="Calibri"/>
              </a:rPr>
              <a:t>The post office for your applications</a:t>
            </a:r>
            <a:endParaRPr b="0" i="0" sz="1400" u="none" cap="none" strike="noStrike">
              <a:solidFill>
                <a:srgbClr val="000000"/>
              </a:solidFill>
              <a:latin typeface="Arial"/>
              <a:ea typeface="Arial"/>
              <a:cs typeface="Arial"/>
              <a:sym typeface="Arial"/>
            </a:endParaRPr>
          </a:p>
        </p:txBody>
      </p:sp>
      <p:sp>
        <p:nvSpPr>
          <p:cNvPr id="99" name="Google Shape;99;p2"/>
          <p:cNvSpPr/>
          <p:nvPr/>
        </p:nvSpPr>
        <p:spPr>
          <a:xfrm>
            <a:off x="457200" y="6400800"/>
            <a:ext cx="11277295" cy="18288"/>
          </a:xfrm>
          <a:prstGeom prst="rect">
            <a:avLst/>
          </a:prstGeom>
          <a:solidFill>
            <a:srgbClr val="E2E8F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 name="Google Shape;100;p2"/>
          <p:cNvSpPr txBox="1"/>
          <p:nvPr/>
        </p:nvSpPr>
        <p:spPr>
          <a:xfrm>
            <a:off x="457200" y="6446520"/>
            <a:ext cx="4572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RabbitMQ in Production</a:t>
            </a:r>
            <a:endParaRPr b="0" i="0" sz="1400" u="none" cap="none" strike="noStrike">
              <a:solidFill>
                <a:srgbClr val="000000"/>
              </a:solidFill>
              <a:latin typeface="Arial"/>
              <a:ea typeface="Arial"/>
              <a:cs typeface="Arial"/>
              <a:sym typeface="Arial"/>
            </a:endParaRPr>
          </a:p>
        </p:txBody>
      </p:sp>
      <p:sp>
        <p:nvSpPr>
          <p:cNvPr id="101" name="Google Shape;101;p2"/>
          <p:cNvSpPr txBox="1"/>
          <p:nvPr/>
        </p:nvSpPr>
        <p:spPr>
          <a:xfrm>
            <a:off x="10515600" y="6446520"/>
            <a:ext cx="1371600" cy="32004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2 / 26</a:t>
            </a:r>
            <a:endParaRPr b="0" i="0" sz="1400" u="none" cap="none" strike="noStrike">
              <a:solidFill>
                <a:srgbClr val="000000"/>
              </a:solidFill>
              <a:latin typeface="Arial"/>
              <a:ea typeface="Arial"/>
              <a:cs typeface="Arial"/>
              <a:sym typeface="Arial"/>
            </a:endParaRPr>
          </a:p>
        </p:txBody>
      </p:sp>
      <p:sp>
        <p:nvSpPr>
          <p:cNvPr id="102" name="Google Shape;102;p2"/>
          <p:cNvSpPr txBox="1"/>
          <p:nvPr/>
        </p:nvSpPr>
        <p:spPr>
          <a:xfrm>
            <a:off x="649224" y="1974800"/>
            <a:ext cx="5029200" cy="2286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  A middleman that receives, stores, and delivers messages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  Like a post office: sender drops mail, receiver picks it up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  Producer and consumer never talk directly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  Messages wait safely until the receiver is ready</a:t>
            </a:r>
            <a:endParaRPr b="0" i="0" sz="1400" u="none" cap="none" strike="noStrike">
              <a:solidFill>
                <a:srgbClr val="000000"/>
              </a:solidFill>
              <a:latin typeface="Arial"/>
              <a:ea typeface="Arial"/>
              <a:cs typeface="Arial"/>
              <a:sym typeface="Arial"/>
            </a:endParaRPr>
          </a:p>
        </p:txBody>
      </p:sp>
      <p:sp>
        <p:nvSpPr>
          <p:cNvPr id="103" name="Google Shape;103;p2"/>
          <p:cNvSpPr/>
          <p:nvPr/>
        </p:nvSpPr>
        <p:spPr>
          <a:xfrm>
            <a:off x="472240" y="4535120"/>
            <a:ext cx="5029200" cy="640080"/>
          </a:xfrm>
          <a:prstGeom prst="roundRect">
            <a:avLst>
              <a:gd fmla="val 16667" name="adj"/>
            </a:avLst>
          </a:prstGeom>
          <a:solidFill>
            <a:srgbClr val="EBF8FF"/>
          </a:solidFill>
          <a:ln cap="flat" cmpd="sng" w="19050">
            <a:solidFill>
              <a:srgbClr val="2B6CB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37150"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rgbClr val="2B6CB0"/>
                </a:solidFill>
                <a:latin typeface="Calibri"/>
                <a:ea typeface="Calibri"/>
                <a:cs typeface="Calibri"/>
                <a:sym typeface="Calibri"/>
              </a:rPr>
              <a:t>💡 In real tech terms: the broker decouples services so they can scale and fail independently.</a:t>
            </a:r>
            <a:endParaRPr b="0" i="0" sz="1400" u="none" cap="none" strike="noStrike">
              <a:solidFill>
                <a:srgbClr val="000000"/>
              </a:solidFill>
              <a:latin typeface="Arial"/>
              <a:ea typeface="Arial"/>
              <a:cs typeface="Arial"/>
              <a:sym typeface="Arial"/>
            </a:endParaRPr>
          </a:p>
        </p:txBody>
      </p:sp>
      <p:sp>
        <p:nvSpPr>
          <p:cNvPr id="104" name="Google Shape;104;p2"/>
          <p:cNvSpPr/>
          <p:nvPr/>
        </p:nvSpPr>
        <p:spPr>
          <a:xfrm>
            <a:off x="5501435" y="2401510"/>
            <a:ext cx="1371600" cy="731400"/>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Sender</a:t>
            </a:r>
            <a:br>
              <a:rPr b="1" i="0" lang="en-US" sz="1400" u="none" cap="none" strike="noStrike">
                <a:solidFill>
                  <a:srgbClr val="FFFFFF"/>
                </a:solidFill>
                <a:latin typeface="Calibri"/>
                <a:ea typeface="Calibri"/>
                <a:cs typeface="Calibri"/>
                <a:sym typeface="Calibri"/>
              </a:rPr>
            </a:br>
            <a:r>
              <a:rPr b="1" i="0" lang="en-US" sz="1400" u="none" cap="none" strike="noStrike">
                <a:solidFill>
                  <a:srgbClr val="FFFFFF"/>
                </a:solidFill>
                <a:latin typeface="Calibri"/>
                <a:ea typeface="Calibri"/>
                <a:cs typeface="Calibri"/>
                <a:sym typeface="Calibri"/>
              </a:rPr>
              <a:t>(Producer)</a:t>
            </a:r>
            <a:endParaRPr b="0" i="0" sz="1400" u="none" cap="none" strike="noStrike">
              <a:solidFill>
                <a:srgbClr val="000000"/>
              </a:solidFill>
              <a:latin typeface="Arial"/>
              <a:ea typeface="Arial"/>
              <a:cs typeface="Arial"/>
              <a:sym typeface="Arial"/>
            </a:endParaRPr>
          </a:p>
        </p:txBody>
      </p:sp>
      <p:sp>
        <p:nvSpPr>
          <p:cNvPr id="105" name="Google Shape;105;p2"/>
          <p:cNvSpPr/>
          <p:nvPr/>
        </p:nvSpPr>
        <p:spPr>
          <a:xfrm>
            <a:off x="6873040" y="2688497"/>
            <a:ext cx="731400" cy="320100"/>
          </a:xfrm>
          <a:prstGeom prst="rightArrow">
            <a:avLst>
              <a:gd fmla="val 50000" name="adj1"/>
              <a:gd fmla="val 50000" name="adj2"/>
            </a:avLst>
          </a:prstGeom>
          <a:solidFill>
            <a:srgbClr val="A0AEC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 name="Google Shape;106;p2"/>
          <p:cNvSpPr/>
          <p:nvPr/>
        </p:nvSpPr>
        <p:spPr>
          <a:xfrm>
            <a:off x="7650278" y="2482810"/>
            <a:ext cx="1828800" cy="731400"/>
          </a:xfrm>
          <a:prstGeom prst="roundRect">
            <a:avLst>
              <a:gd fmla="val 16667" name="adj"/>
            </a:avLst>
          </a:prstGeom>
          <a:solidFill>
            <a:srgbClr val="ED8A36"/>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Post Office</a:t>
            </a:r>
            <a:br>
              <a:rPr b="1" i="0" lang="en-US" sz="1400" u="none" cap="none" strike="noStrike">
                <a:solidFill>
                  <a:srgbClr val="FFFFFF"/>
                </a:solidFill>
                <a:latin typeface="Calibri"/>
                <a:ea typeface="Calibri"/>
                <a:cs typeface="Calibri"/>
                <a:sym typeface="Calibri"/>
              </a:rPr>
            </a:br>
            <a:r>
              <a:rPr b="1" i="0" lang="en-US" sz="1400" u="none" cap="none" strike="noStrike">
                <a:solidFill>
                  <a:srgbClr val="FFFFFF"/>
                </a:solidFill>
                <a:latin typeface="Calibri"/>
                <a:ea typeface="Calibri"/>
                <a:cs typeface="Calibri"/>
                <a:sym typeface="Calibri"/>
              </a:rPr>
              <a:t>(RabbitMQ)</a:t>
            </a:r>
            <a:endParaRPr b="0" i="0" sz="1400" u="none" cap="none" strike="noStrike">
              <a:solidFill>
                <a:srgbClr val="000000"/>
              </a:solidFill>
              <a:latin typeface="Arial"/>
              <a:ea typeface="Arial"/>
              <a:cs typeface="Arial"/>
              <a:sym typeface="Arial"/>
            </a:endParaRPr>
          </a:p>
        </p:txBody>
      </p:sp>
      <p:sp>
        <p:nvSpPr>
          <p:cNvPr id="107" name="Google Shape;107;p2"/>
          <p:cNvSpPr/>
          <p:nvPr/>
        </p:nvSpPr>
        <p:spPr>
          <a:xfrm>
            <a:off x="9524945" y="2688497"/>
            <a:ext cx="731400" cy="320100"/>
          </a:xfrm>
          <a:prstGeom prst="rightArrow">
            <a:avLst>
              <a:gd fmla="val 50000" name="adj1"/>
              <a:gd fmla="val 50000" name="adj2"/>
            </a:avLst>
          </a:prstGeom>
          <a:solidFill>
            <a:srgbClr val="A0AEC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 name="Google Shape;108;p2"/>
          <p:cNvSpPr/>
          <p:nvPr/>
        </p:nvSpPr>
        <p:spPr>
          <a:xfrm>
            <a:off x="10302195" y="2553910"/>
            <a:ext cx="1371600" cy="731400"/>
          </a:xfrm>
          <a:prstGeom prst="roundRect">
            <a:avLst>
              <a:gd fmla="val 16667" name="adj"/>
            </a:avLst>
          </a:prstGeom>
          <a:solidFill>
            <a:srgbClr val="E53E3E"/>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Receiver</a:t>
            </a:r>
            <a:br>
              <a:rPr b="1" i="0" lang="en-US" sz="1400" u="none" cap="none" strike="noStrike">
                <a:solidFill>
                  <a:srgbClr val="FFFFFF"/>
                </a:solidFill>
                <a:latin typeface="Calibri"/>
                <a:ea typeface="Calibri"/>
                <a:cs typeface="Calibri"/>
                <a:sym typeface="Calibri"/>
              </a:rPr>
            </a:br>
            <a:r>
              <a:rPr b="1" i="0" lang="en-US" sz="1400" u="none" cap="none" strike="noStrike">
                <a:solidFill>
                  <a:srgbClr val="FFFFFF"/>
                </a:solidFill>
                <a:latin typeface="Calibri"/>
                <a:ea typeface="Calibri"/>
                <a:cs typeface="Calibri"/>
                <a:sym typeface="Calibri"/>
              </a:rPr>
              <a:t>(Consumer)</a:t>
            </a:r>
            <a:endParaRPr b="0" i="0" sz="1400" u="none" cap="none" strike="noStrike">
              <a:solidFill>
                <a:srgbClr val="000000"/>
              </a:solidFill>
              <a:latin typeface="Arial"/>
              <a:ea typeface="Arial"/>
              <a:cs typeface="Arial"/>
              <a:sym typeface="Arial"/>
            </a:endParaRPr>
          </a:p>
        </p:txBody>
      </p:sp>
      <p:sp>
        <p:nvSpPr>
          <p:cNvPr id="109" name="Google Shape;109;p2"/>
          <p:cNvSpPr/>
          <p:nvPr/>
        </p:nvSpPr>
        <p:spPr>
          <a:xfrm>
            <a:off x="6690160" y="3712160"/>
            <a:ext cx="5029200" cy="548640"/>
          </a:xfrm>
          <a:prstGeom prst="roundRect">
            <a:avLst>
              <a:gd fmla="val 16667" name="adj"/>
            </a:avLst>
          </a:prstGeom>
          <a:solidFill>
            <a:srgbClr val="EBF8FF"/>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2B6CB0"/>
                </a:solidFill>
                <a:latin typeface="Calibri"/>
                <a:ea typeface="Calibri"/>
                <a:cs typeface="Calibri"/>
                <a:sym typeface="Calibri"/>
              </a:rPr>
              <a:t>📖 Story: Think of RabbitMQ as the town post office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14" name="Shape 114"/>
        <p:cNvGrpSpPr/>
        <p:nvPr/>
      </p:nvGrpSpPr>
      <p:grpSpPr>
        <a:xfrm>
          <a:off x="0" y="0"/>
          <a:ext cx="0" cy="0"/>
          <a:chOff x="0" y="0"/>
          <a:chExt cx="0" cy="0"/>
        </a:xfrm>
      </p:grpSpPr>
      <p:sp>
        <p:nvSpPr>
          <p:cNvPr id="115" name="Google Shape;115;p3"/>
          <p:cNvSpPr/>
          <p:nvPr/>
        </p:nvSpPr>
        <p:spPr>
          <a:xfrm>
            <a:off x="0" y="0"/>
            <a:ext cx="12191695" cy="1005840"/>
          </a:xfrm>
          <a:prstGeom prst="rect">
            <a:avLst/>
          </a:prstGeom>
          <a:solidFill>
            <a:srgbClr val="2B6CB0"/>
          </a:solidFill>
          <a:ln>
            <a:noFill/>
          </a:ln>
          <a:effectLst>
            <a:outerShdw blurRad="40000" rotWithShape="0" dir="5400000" dist="23000">
              <a:srgbClr val="000000">
                <a:alpha val="34902"/>
              </a:srgbClr>
            </a:outerShdw>
          </a:effectLst>
        </p:spPr>
        <p:txBody>
          <a:bodyPr anchorCtr="0" anchor="ctr" bIns="45700" lIns="548625" spcFirstLastPara="1" rIns="91425" wrap="square" tIns="13715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Calibri"/>
                <a:ea typeface="Calibri"/>
                <a:cs typeface="Calibri"/>
                <a:sym typeface="Calibri"/>
              </a:rPr>
              <a:t>Synchronous vs Asynchronous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BEE3F8"/>
                </a:solidFill>
                <a:latin typeface="Calibri"/>
                <a:ea typeface="Calibri"/>
                <a:cs typeface="Calibri"/>
                <a:sym typeface="Calibri"/>
              </a:rPr>
              <a:t>Why queues absorb delay and protect your services</a:t>
            </a:r>
            <a:endParaRPr b="0" i="0" sz="1400" u="none" cap="none" strike="noStrike">
              <a:solidFill>
                <a:srgbClr val="000000"/>
              </a:solidFill>
              <a:latin typeface="Arial"/>
              <a:ea typeface="Arial"/>
              <a:cs typeface="Arial"/>
              <a:sym typeface="Arial"/>
            </a:endParaRPr>
          </a:p>
        </p:txBody>
      </p:sp>
      <p:sp>
        <p:nvSpPr>
          <p:cNvPr id="116" name="Google Shape;116;p3"/>
          <p:cNvSpPr/>
          <p:nvPr/>
        </p:nvSpPr>
        <p:spPr>
          <a:xfrm>
            <a:off x="457200" y="6400800"/>
            <a:ext cx="11277295" cy="18288"/>
          </a:xfrm>
          <a:prstGeom prst="rect">
            <a:avLst/>
          </a:prstGeom>
          <a:solidFill>
            <a:srgbClr val="E2E8F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7" name="Google Shape;117;p3"/>
          <p:cNvSpPr txBox="1"/>
          <p:nvPr/>
        </p:nvSpPr>
        <p:spPr>
          <a:xfrm>
            <a:off x="457200" y="6446520"/>
            <a:ext cx="4572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RabbitMQ in Production</a:t>
            </a:r>
            <a:endParaRPr b="0" i="0" sz="1400" u="none" cap="none" strike="noStrike">
              <a:solidFill>
                <a:srgbClr val="000000"/>
              </a:solidFill>
              <a:latin typeface="Arial"/>
              <a:ea typeface="Arial"/>
              <a:cs typeface="Arial"/>
              <a:sym typeface="Arial"/>
            </a:endParaRPr>
          </a:p>
        </p:txBody>
      </p:sp>
      <p:sp>
        <p:nvSpPr>
          <p:cNvPr id="118" name="Google Shape;118;p3"/>
          <p:cNvSpPr txBox="1"/>
          <p:nvPr/>
        </p:nvSpPr>
        <p:spPr>
          <a:xfrm>
            <a:off x="10515600" y="6446520"/>
            <a:ext cx="1371600" cy="32004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3 / 26</a:t>
            </a:r>
            <a:endParaRPr b="0" i="0" sz="1400" u="none" cap="none" strike="noStrike">
              <a:solidFill>
                <a:srgbClr val="000000"/>
              </a:solidFill>
              <a:latin typeface="Arial"/>
              <a:ea typeface="Arial"/>
              <a:cs typeface="Arial"/>
              <a:sym typeface="Arial"/>
            </a:endParaRPr>
          </a:p>
        </p:txBody>
      </p:sp>
      <p:sp>
        <p:nvSpPr>
          <p:cNvPr id="119" name="Google Shape;119;p3"/>
          <p:cNvSpPr txBox="1"/>
          <p:nvPr/>
        </p:nvSpPr>
        <p:spPr>
          <a:xfrm>
            <a:off x="609400" y="2180540"/>
            <a:ext cx="50292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E53E3E"/>
                </a:solidFill>
                <a:latin typeface="Calibri"/>
                <a:ea typeface="Calibri"/>
                <a:cs typeface="Calibri"/>
                <a:sym typeface="Calibri"/>
              </a:rPr>
              <a:t>⏳  Synchronous (waiting in line)</a:t>
            </a:r>
            <a:endParaRPr b="0" i="0" sz="1400" u="none" cap="none" strike="noStrike">
              <a:solidFill>
                <a:srgbClr val="000000"/>
              </a:solidFill>
              <a:latin typeface="Arial"/>
              <a:ea typeface="Arial"/>
              <a:cs typeface="Arial"/>
              <a:sym typeface="Arial"/>
            </a:endParaRPr>
          </a:p>
        </p:txBody>
      </p:sp>
      <p:sp>
        <p:nvSpPr>
          <p:cNvPr id="120" name="Google Shape;120;p3"/>
          <p:cNvSpPr txBox="1"/>
          <p:nvPr/>
        </p:nvSpPr>
        <p:spPr>
          <a:xfrm>
            <a:off x="609400" y="2729180"/>
            <a:ext cx="5029200" cy="10972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Caller waits for a response before continuing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If the receiver is slow, the caller is stuck</a:t>
            </a:r>
            <a:endParaRPr b="0" i="0" sz="1400" u="none" cap="none" strike="noStrike">
              <a:solidFill>
                <a:srgbClr val="000000"/>
              </a:solidFill>
              <a:latin typeface="Arial"/>
              <a:ea typeface="Arial"/>
              <a:cs typeface="Arial"/>
              <a:sym typeface="Arial"/>
            </a:endParaRPr>
          </a:p>
        </p:txBody>
      </p:sp>
      <p:sp>
        <p:nvSpPr>
          <p:cNvPr id="121" name="Google Shape;121;p3"/>
          <p:cNvSpPr/>
          <p:nvPr/>
        </p:nvSpPr>
        <p:spPr>
          <a:xfrm>
            <a:off x="609400" y="4009340"/>
            <a:ext cx="1188720" cy="548640"/>
          </a:xfrm>
          <a:prstGeom prst="roundRect">
            <a:avLst>
              <a:gd fmla="val 16667" name="adj"/>
            </a:avLst>
          </a:prstGeom>
          <a:solidFill>
            <a:srgbClr val="E53E3E"/>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Calibri"/>
                <a:ea typeface="Calibri"/>
                <a:cs typeface="Calibri"/>
                <a:sym typeface="Calibri"/>
              </a:rPr>
              <a:t>App A</a:t>
            </a:r>
            <a:endParaRPr b="0" i="0" sz="1400" u="none" cap="none" strike="noStrike">
              <a:solidFill>
                <a:srgbClr val="000000"/>
              </a:solidFill>
              <a:latin typeface="Arial"/>
              <a:ea typeface="Arial"/>
              <a:cs typeface="Arial"/>
              <a:sym typeface="Arial"/>
            </a:endParaRPr>
          </a:p>
        </p:txBody>
      </p:sp>
      <p:sp>
        <p:nvSpPr>
          <p:cNvPr id="122" name="Google Shape;122;p3"/>
          <p:cNvSpPr/>
          <p:nvPr/>
        </p:nvSpPr>
        <p:spPr>
          <a:xfrm>
            <a:off x="1935280" y="4128212"/>
            <a:ext cx="548640" cy="320040"/>
          </a:xfrm>
          <a:prstGeom prst="rightArrow">
            <a:avLst>
              <a:gd fmla="val 50000" name="adj1"/>
              <a:gd fmla="val 50000" name="adj2"/>
            </a:avLst>
          </a:prstGeom>
          <a:solidFill>
            <a:srgbClr val="E53E3E"/>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 name="Google Shape;123;p3"/>
          <p:cNvSpPr/>
          <p:nvPr/>
        </p:nvSpPr>
        <p:spPr>
          <a:xfrm>
            <a:off x="2621080" y="4009340"/>
            <a:ext cx="1188720" cy="548640"/>
          </a:xfrm>
          <a:prstGeom prst="roundRect">
            <a:avLst>
              <a:gd fmla="val 16667" name="adj"/>
            </a:avLst>
          </a:prstGeom>
          <a:solidFill>
            <a:srgbClr val="E53E3E"/>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Calibri"/>
                <a:ea typeface="Calibri"/>
                <a:cs typeface="Calibri"/>
                <a:sym typeface="Calibri"/>
              </a:rPr>
              <a:t>App B</a:t>
            </a:r>
            <a:endParaRPr b="0" i="0" sz="1400" u="none" cap="none" strike="noStrike">
              <a:solidFill>
                <a:srgbClr val="000000"/>
              </a:solidFill>
              <a:latin typeface="Arial"/>
              <a:ea typeface="Arial"/>
              <a:cs typeface="Arial"/>
              <a:sym typeface="Arial"/>
            </a:endParaRPr>
          </a:p>
        </p:txBody>
      </p:sp>
      <p:sp>
        <p:nvSpPr>
          <p:cNvPr id="124" name="Google Shape;124;p3"/>
          <p:cNvSpPr txBox="1"/>
          <p:nvPr/>
        </p:nvSpPr>
        <p:spPr>
          <a:xfrm>
            <a:off x="883720" y="4603700"/>
            <a:ext cx="274320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E53E3E"/>
                </a:solidFill>
                <a:latin typeface="Calibri"/>
                <a:ea typeface="Calibri"/>
                <a:cs typeface="Calibri"/>
                <a:sym typeface="Calibri"/>
              </a:rPr>
              <a:t>⛔ A waits until B responds</a:t>
            </a:r>
            <a:endParaRPr b="0" i="0" sz="1400" u="none" cap="none" strike="noStrike">
              <a:solidFill>
                <a:srgbClr val="000000"/>
              </a:solidFill>
              <a:latin typeface="Arial"/>
              <a:ea typeface="Arial"/>
              <a:cs typeface="Arial"/>
              <a:sym typeface="Arial"/>
            </a:endParaRPr>
          </a:p>
        </p:txBody>
      </p:sp>
      <p:sp>
        <p:nvSpPr>
          <p:cNvPr id="125" name="Google Shape;125;p3"/>
          <p:cNvSpPr txBox="1"/>
          <p:nvPr/>
        </p:nvSpPr>
        <p:spPr>
          <a:xfrm>
            <a:off x="6370120" y="2180540"/>
            <a:ext cx="50292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38A169"/>
                </a:solidFill>
                <a:latin typeface="Calibri"/>
                <a:ea typeface="Calibri"/>
                <a:cs typeface="Calibri"/>
                <a:sym typeface="Calibri"/>
              </a:rPr>
              <a:t>🚀  Asynchronous (drop and go)</a:t>
            </a:r>
            <a:endParaRPr b="0" i="0" sz="1400" u="none" cap="none" strike="noStrike">
              <a:solidFill>
                <a:srgbClr val="000000"/>
              </a:solidFill>
              <a:latin typeface="Arial"/>
              <a:ea typeface="Arial"/>
              <a:cs typeface="Arial"/>
              <a:sym typeface="Arial"/>
            </a:endParaRPr>
          </a:p>
        </p:txBody>
      </p:sp>
      <p:sp>
        <p:nvSpPr>
          <p:cNvPr id="126" name="Google Shape;126;p3"/>
          <p:cNvSpPr txBox="1"/>
          <p:nvPr/>
        </p:nvSpPr>
        <p:spPr>
          <a:xfrm>
            <a:off x="6370120" y="2729180"/>
            <a:ext cx="5029200" cy="10972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Caller drops the message and moves 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Queue absorbs spikes — receiver works at its own pace</a:t>
            </a:r>
            <a:endParaRPr b="0" i="0" sz="1400" u="none" cap="none" strike="noStrike">
              <a:solidFill>
                <a:srgbClr val="000000"/>
              </a:solidFill>
              <a:latin typeface="Arial"/>
              <a:ea typeface="Arial"/>
              <a:cs typeface="Arial"/>
              <a:sym typeface="Arial"/>
            </a:endParaRPr>
          </a:p>
        </p:txBody>
      </p:sp>
      <p:sp>
        <p:nvSpPr>
          <p:cNvPr id="127" name="Google Shape;127;p3"/>
          <p:cNvSpPr/>
          <p:nvPr/>
        </p:nvSpPr>
        <p:spPr>
          <a:xfrm>
            <a:off x="6370120" y="4009340"/>
            <a:ext cx="1188720" cy="548640"/>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Calibri"/>
                <a:ea typeface="Calibri"/>
                <a:cs typeface="Calibri"/>
                <a:sym typeface="Calibri"/>
              </a:rPr>
              <a:t>App A</a:t>
            </a:r>
            <a:endParaRPr b="0" i="0" sz="1400" u="none" cap="none" strike="noStrike">
              <a:solidFill>
                <a:srgbClr val="000000"/>
              </a:solidFill>
              <a:latin typeface="Arial"/>
              <a:ea typeface="Arial"/>
              <a:cs typeface="Arial"/>
              <a:sym typeface="Arial"/>
            </a:endParaRPr>
          </a:p>
        </p:txBody>
      </p:sp>
      <p:sp>
        <p:nvSpPr>
          <p:cNvPr id="128" name="Google Shape;128;p3"/>
          <p:cNvSpPr/>
          <p:nvPr/>
        </p:nvSpPr>
        <p:spPr>
          <a:xfrm>
            <a:off x="7695999" y="4128212"/>
            <a:ext cx="457200" cy="320040"/>
          </a:xfrm>
          <a:prstGeom prst="rightArrow">
            <a:avLst>
              <a:gd fmla="val 50000" name="adj1"/>
              <a:gd fmla="val 50000" name="adj2"/>
            </a:avLst>
          </a:prstGeom>
          <a:solidFill>
            <a:srgbClr val="38A16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 name="Google Shape;129;p3"/>
          <p:cNvSpPr/>
          <p:nvPr/>
        </p:nvSpPr>
        <p:spPr>
          <a:xfrm>
            <a:off x="8290360" y="4009340"/>
            <a:ext cx="1371600" cy="548640"/>
          </a:xfrm>
          <a:prstGeom prst="roundRect">
            <a:avLst>
              <a:gd fmla="val 16667" name="adj"/>
            </a:avLst>
          </a:prstGeom>
          <a:solidFill>
            <a:srgbClr val="ED8A36"/>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Calibri"/>
                <a:ea typeface="Calibri"/>
                <a:cs typeface="Calibri"/>
                <a:sym typeface="Calibri"/>
              </a:rPr>
              <a:t>Queue</a:t>
            </a:r>
            <a:endParaRPr b="0" i="0" sz="1400" u="none" cap="none" strike="noStrike">
              <a:solidFill>
                <a:srgbClr val="000000"/>
              </a:solidFill>
              <a:latin typeface="Arial"/>
              <a:ea typeface="Arial"/>
              <a:cs typeface="Arial"/>
              <a:sym typeface="Arial"/>
            </a:endParaRPr>
          </a:p>
        </p:txBody>
      </p:sp>
      <p:sp>
        <p:nvSpPr>
          <p:cNvPr id="130" name="Google Shape;130;p3"/>
          <p:cNvSpPr/>
          <p:nvPr/>
        </p:nvSpPr>
        <p:spPr>
          <a:xfrm>
            <a:off x="9799120" y="4128212"/>
            <a:ext cx="457200" cy="320040"/>
          </a:xfrm>
          <a:prstGeom prst="rightArrow">
            <a:avLst>
              <a:gd fmla="val 50000" name="adj1"/>
              <a:gd fmla="val 50000" name="adj2"/>
            </a:avLst>
          </a:prstGeom>
          <a:solidFill>
            <a:srgbClr val="38A16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1" name="Google Shape;131;p3"/>
          <p:cNvSpPr/>
          <p:nvPr/>
        </p:nvSpPr>
        <p:spPr>
          <a:xfrm>
            <a:off x="10393480" y="4009340"/>
            <a:ext cx="1188720" cy="548640"/>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Calibri"/>
                <a:ea typeface="Calibri"/>
                <a:cs typeface="Calibri"/>
                <a:sym typeface="Calibri"/>
              </a:rPr>
              <a:t>App B</a:t>
            </a:r>
            <a:endParaRPr b="0" i="0" sz="1400" u="none" cap="none" strike="noStrike">
              <a:solidFill>
                <a:srgbClr val="000000"/>
              </a:solidFill>
              <a:latin typeface="Arial"/>
              <a:ea typeface="Arial"/>
              <a:cs typeface="Arial"/>
              <a:sym typeface="Arial"/>
            </a:endParaRPr>
          </a:p>
        </p:txBody>
      </p:sp>
      <p:sp>
        <p:nvSpPr>
          <p:cNvPr id="132" name="Google Shape;132;p3"/>
          <p:cNvSpPr txBox="1"/>
          <p:nvPr/>
        </p:nvSpPr>
        <p:spPr>
          <a:xfrm>
            <a:off x="6827320" y="4603700"/>
            <a:ext cx="457200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38A169"/>
                </a:solidFill>
                <a:latin typeface="Calibri"/>
                <a:ea typeface="Calibri"/>
                <a:cs typeface="Calibri"/>
                <a:sym typeface="Calibri"/>
              </a:rPr>
              <a:t>✅ A is free instantly — queue buffers the work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37" name="Shape 137"/>
        <p:cNvGrpSpPr/>
        <p:nvPr/>
      </p:nvGrpSpPr>
      <p:grpSpPr>
        <a:xfrm>
          <a:off x="0" y="0"/>
          <a:ext cx="0" cy="0"/>
          <a:chOff x="0" y="0"/>
          <a:chExt cx="0" cy="0"/>
        </a:xfrm>
      </p:grpSpPr>
      <p:sp>
        <p:nvSpPr>
          <p:cNvPr id="138" name="Google Shape;138;p4"/>
          <p:cNvSpPr/>
          <p:nvPr/>
        </p:nvSpPr>
        <p:spPr>
          <a:xfrm>
            <a:off x="0" y="0"/>
            <a:ext cx="12191695" cy="1005840"/>
          </a:xfrm>
          <a:prstGeom prst="rect">
            <a:avLst/>
          </a:prstGeom>
          <a:solidFill>
            <a:srgbClr val="2B6CB0"/>
          </a:solidFill>
          <a:ln>
            <a:noFill/>
          </a:ln>
          <a:effectLst>
            <a:outerShdw blurRad="40000" rotWithShape="0" dir="5400000" dist="23000">
              <a:srgbClr val="000000">
                <a:alpha val="34902"/>
              </a:srgbClr>
            </a:outerShdw>
          </a:effectLst>
        </p:spPr>
        <p:txBody>
          <a:bodyPr anchorCtr="0" anchor="ctr" bIns="45700" lIns="548625" spcFirstLastPara="1" rIns="91425" wrap="square" tIns="13715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Calibri"/>
                <a:ea typeface="Calibri"/>
                <a:cs typeface="Calibri"/>
                <a:sym typeface="Calibri"/>
              </a:rPr>
              <a:t>When to Use a Queue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BEE3F8"/>
                </a:solidFill>
                <a:latin typeface="Calibri"/>
                <a:ea typeface="Calibri"/>
                <a:cs typeface="Calibri"/>
                <a:sym typeface="Calibri"/>
              </a:rPr>
              <a:t>Good uses, bad uses, and the traffic-spike superpower</a:t>
            </a:r>
            <a:endParaRPr b="0" i="0" sz="1400" u="none" cap="none" strike="noStrike">
              <a:solidFill>
                <a:srgbClr val="000000"/>
              </a:solidFill>
              <a:latin typeface="Arial"/>
              <a:ea typeface="Arial"/>
              <a:cs typeface="Arial"/>
              <a:sym typeface="Arial"/>
            </a:endParaRPr>
          </a:p>
        </p:txBody>
      </p:sp>
      <p:sp>
        <p:nvSpPr>
          <p:cNvPr id="139" name="Google Shape;139;p4"/>
          <p:cNvSpPr/>
          <p:nvPr/>
        </p:nvSpPr>
        <p:spPr>
          <a:xfrm>
            <a:off x="457200" y="6400800"/>
            <a:ext cx="11277295" cy="18288"/>
          </a:xfrm>
          <a:prstGeom prst="rect">
            <a:avLst/>
          </a:prstGeom>
          <a:solidFill>
            <a:srgbClr val="E2E8F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0" name="Google Shape;140;p4"/>
          <p:cNvSpPr txBox="1"/>
          <p:nvPr/>
        </p:nvSpPr>
        <p:spPr>
          <a:xfrm>
            <a:off x="457200" y="6446520"/>
            <a:ext cx="4572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RabbitMQ in Production</a:t>
            </a:r>
            <a:endParaRPr b="0" i="0" sz="1400" u="none" cap="none" strike="noStrike">
              <a:solidFill>
                <a:srgbClr val="000000"/>
              </a:solidFill>
              <a:latin typeface="Arial"/>
              <a:ea typeface="Arial"/>
              <a:cs typeface="Arial"/>
              <a:sym typeface="Arial"/>
            </a:endParaRPr>
          </a:p>
        </p:txBody>
      </p:sp>
      <p:sp>
        <p:nvSpPr>
          <p:cNvPr id="141" name="Google Shape;141;p4"/>
          <p:cNvSpPr txBox="1"/>
          <p:nvPr/>
        </p:nvSpPr>
        <p:spPr>
          <a:xfrm>
            <a:off x="10515600" y="6446520"/>
            <a:ext cx="1371600" cy="32004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4 / 26</a:t>
            </a:r>
            <a:endParaRPr b="0" i="0" sz="1400" u="none" cap="none" strike="noStrike">
              <a:solidFill>
                <a:srgbClr val="000000"/>
              </a:solidFill>
              <a:latin typeface="Arial"/>
              <a:ea typeface="Arial"/>
              <a:cs typeface="Arial"/>
              <a:sym typeface="Arial"/>
            </a:endParaRPr>
          </a:p>
        </p:txBody>
      </p:sp>
      <p:sp>
        <p:nvSpPr>
          <p:cNvPr id="142" name="Google Shape;142;p4"/>
          <p:cNvSpPr txBox="1"/>
          <p:nvPr/>
        </p:nvSpPr>
        <p:spPr>
          <a:xfrm>
            <a:off x="645800" y="1565890"/>
            <a:ext cx="5080508" cy="4618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38A169"/>
                </a:solidFill>
                <a:latin typeface="Calibri"/>
                <a:ea typeface="Calibri"/>
                <a:cs typeface="Calibri"/>
                <a:sym typeface="Calibri"/>
              </a:rPr>
              <a:t>✅  Great fit</a:t>
            </a:r>
            <a:endParaRPr b="0" i="0" sz="1400" u="none" cap="none" strike="noStrike">
              <a:solidFill>
                <a:srgbClr val="000000"/>
              </a:solidFill>
              <a:latin typeface="Arial"/>
              <a:ea typeface="Arial"/>
              <a:cs typeface="Arial"/>
              <a:sym typeface="Arial"/>
            </a:endParaRPr>
          </a:p>
        </p:txBody>
      </p:sp>
      <p:sp>
        <p:nvSpPr>
          <p:cNvPr id="143" name="Google Shape;143;p4"/>
          <p:cNvSpPr txBox="1"/>
          <p:nvPr/>
        </p:nvSpPr>
        <p:spPr>
          <a:xfrm>
            <a:off x="645800" y="2073941"/>
            <a:ext cx="5080508" cy="184745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 Sending emails / notifications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 Billing and payment processing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 Absorbing traffic spikes (flash sales)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 Background jobs (image resize, PDF generation)</a:t>
            </a:r>
            <a:endParaRPr b="0" i="0" sz="1400" u="none" cap="none" strike="noStrike">
              <a:solidFill>
                <a:srgbClr val="000000"/>
              </a:solidFill>
              <a:latin typeface="Arial"/>
              <a:ea typeface="Arial"/>
              <a:cs typeface="Arial"/>
              <a:sym typeface="Arial"/>
            </a:endParaRPr>
          </a:p>
        </p:txBody>
      </p:sp>
      <p:sp>
        <p:nvSpPr>
          <p:cNvPr id="144" name="Google Shape;144;p4"/>
          <p:cNvSpPr txBox="1"/>
          <p:nvPr/>
        </p:nvSpPr>
        <p:spPr>
          <a:xfrm>
            <a:off x="6465292" y="1565890"/>
            <a:ext cx="5080508" cy="4618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E53E3E"/>
                </a:solidFill>
                <a:latin typeface="Calibri"/>
                <a:ea typeface="Calibri"/>
                <a:cs typeface="Calibri"/>
                <a:sym typeface="Calibri"/>
              </a:rPr>
              <a:t>❌  Not ideal</a:t>
            </a:r>
            <a:endParaRPr b="0" i="0" sz="1400" u="none" cap="none" strike="noStrike">
              <a:solidFill>
                <a:srgbClr val="000000"/>
              </a:solidFill>
              <a:latin typeface="Arial"/>
              <a:ea typeface="Arial"/>
              <a:cs typeface="Arial"/>
              <a:sym typeface="Arial"/>
            </a:endParaRPr>
          </a:p>
        </p:txBody>
      </p:sp>
      <p:sp>
        <p:nvSpPr>
          <p:cNvPr id="145" name="Google Shape;145;p4"/>
          <p:cNvSpPr txBox="1"/>
          <p:nvPr/>
        </p:nvSpPr>
        <p:spPr>
          <a:xfrm>
            <a:off x="6465292" y="2073941"/>
            <a:ext cx="5080508" cy="184745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 Need an instant answer (use HTTP)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 Tiny data lookups (use a cache)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 Live dashboards (WebSockets fit better)</a:t>
            </a:r>
            <a:endParaRPr b="0" i="0" sz="1400" u="none" cap="none" strike="noStrike">
              <a:solidFill>
                <a:srgbClr val="000000"/>
              </a:solidFill>
              <a:latin typeface="Arial"/>
              <a:ea typeface="Arial"/>
              <a:cs typeface="Arial"/>
              <a:sym typeface="Arial"/>
            </a:endParaRPr>
          </a:p>
        </p:txBody>
      </p:sp>
      <p:sp>
        <p:nvSpPr>
          <p:cNvPr id="146" name="Google Shape;146;p4"/>
          <p:cNvSpPr/>
          <p:nvPr/>
        </p:nvSpPr>
        <p:spPr>
          <a:xfrm>
            <a:off x="1384783" y="4429449"/>
            <a:ext cx="2032203" cy="646610"/>
          </a:xfrm>
          <a:prstGeom prst="roundRect">
            <a:avLst>
              <a:gd fmla="val 16667" name="adj"/>
            </a:avLst>
          </a:prstGeom>
          <a:solidFill>
            <a:srgbClr val="E53E3E"/>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1000 req/s spike</a:t>
            </a:r>
            <a:endParaRPr b="0" i="0" sz="1400" u="none" cap="none" strike="noStrike">
              <a:solidFill>
                <a:srgbClr val="000000"/>
              </a:solidFill>
              <a:latin typeface="Arial"/>
              <a:ea typeface="Arial"/>
              <a:cs typeface="Arial"/>
              <a:sym typeface="Arial"/>
            </a:endParaRPr>
          </a:p>
        </p:txBody>
      </p:sp>
      <p:sp>
        <p:nvSpPr>
          <p:cNvPr id="147" name="Google Shape;147;p4"/>
          <p:cNvSpPr/>
          <p:nvPr/>
        </p:nvSpPr>
        <p:spPr>
          <a:xfrm>
            <a:off x="3601732" y="4595720"/>
            <a:ext cx="738983" cy="323305"/>
          </a:xfrm>
          <a:prstGeom prst="rightArrow">
            <a:avLst>
              <a:gd fmla="val 50000" name="adj1"/>
              <a:gd fmla="val 50000" name="adj2"/>
            </a:avLst>
          </a:prstGeom>
          <a:solidFill>
            <a:srgbClr val="A0AEC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8" name="Google Shape;148;p4"/>
          <p:cNvSpPr/>
          <p:nvPr/>
        </p:nvSpPr>
        <p:spPr>
          <a:xfrm>
            <a:off x="4525461" y="4429449"/>
            <a:ext cx="1847458" cy="646610"/>
          </a:xfrm>
          <a:prstGeom prst="roundRect">
            <a:avLst>
              <a:gd fmla="val 16667" name="adj"/>
            </a:avLst>
          </a:prstGeom>
          <a:solidFill>
            <a:srgbClr val="ED8A36"/>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Queue</a:t>
            </a:r>
            <a:endParaRPr b="0" i="0" sz="1400" u="none" cap="none" strike="noStrike">
              <a:solidFill>
                <a:srgbClr val="000000"/>
              </a:solidFill>
              <a:latin typeface="Arial"/>
              <a:ea typeface="Arial"/>
              <a:cs typeface="Arial"/>
              <a:sym typeface="Arial"/>
            </a:endParaRPr>
          </a:p>
        </p:txBody>
      </p:sp>
      <p:sp>
        <p:nvSpPr>
          <p:cNvPr id="149" name="Google Shape;149;p4"/>
          <p:cNvSpPr/>
          <p:nvPr/>
        </p:nvSpPr>
        <p:spPr>
          <a:xfrm>
            <a:off x="6557664" y="4595720"/>
            <a:ext cx="738983" cy="323305"/>
          </a:xfrm>
          <a:prstGeom prst="rightArrow">
            <a:avLst>
              <a:gd fmla="val 50000" name="adj1"/>
              <a:gd fmla="val 50000" name="adj2"/>
            </a:avLst>
          </a:prstGeom>
          <a:solidFill>
            <a:srgbClr val="A0AEC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0" name="Google Shape;150;p4"/>
          <p:cNvSpPr/>
          <p:nvPr/>
        </p:nvSpPr>
        <p:spPr>
          <a:xfrm>
            <a:off x="7481393" y="3967585"/>
            <a:ext cx="1385593" cy="415678"/>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Calibri"/>
                <a:ea typeface="Calibri"/>
                <a:cs typeface="Calibri"/>
                <a:sym typeface="Calibri"/>
              </a:rPr>
              <a:t>Worker 1</a:t>
            </a:r>
            <a:endParaRPr b="0" i="0" sz="1400" u="none" cap="none" strike="noStrike">
              <a:solidFill>
                <a:srgbClr val="000000"/>
              </a:solidFill>
              <a:latin typeface="Arial"/>
              <a:ea typeface="Arial"/>
              <a:cs typeface="Arial"/>
              <a:sym typeface="Arial"/>
            </a:endParaRPr>
          </a:p>
        </p:txBody>
      </p:sp>
      <p:sp>
        <p:nvSpPr>
          <p:cNvPr id="151" name="Google Shape;151;p4"/>
          <p:cNvSpPr/>
          <p:nvPr/>
        </p:nvSpPr>
        <p:spPr>
          <a:xfrm>
            <a:off x="7481393" y="4475636"/>
            <a:ext cx="1385593" cy="415678"/>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Calibri"/>
                <a:ea typeface="Calibri"/>
                <a:cs typeface="Calibri"/>
                <a:sym typeface="Calibri"/>
              </a:rPr>
              <a:t>Worker 2</a:t>
            </a:r>
            <a:endParaRPr b="0" i="0" sz="1400" u="none" cap="none" strike="noStrike">
              <a:solidFill>
                <a:srgbClr val="000000"/>
              </a:solidFill>
              <a:latin typeface="Arial"/>
              <a:ea typeface="Arial"/>
              <a:cs typeface="Arial"/>
              <a:sym typeface="Arial"/>
            </a:endParaRPr>
          </a:p>
        </p:txBody>
      </p:sp>
      <p:sp>
        <p:nvSpPr>
          <p:cNvPr id="152" name="Google Shape;152;p4"/>
          <p:cNvSpPr/>
          <p:nvPr/>
        </p:nvSpPr>
        <p:spPr>
          <a:xfrm>
            <a:off x="7481393" y="4983686"/>
            <a:ext cx="1385593" cy="415678"/>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Calibri"/>
                <a:ea typeface="Calibri"/>
                <a:cs typeface="Calibri"/>
                <a:sym typeface="Calibri"/>
              </a:rPr>
              <a:t>Worker 3</a:t>
            </a:r>
            <a:endParaRPr b="0" i="0" sz="1400" u="none" cap="none" strike="noStrike">
              <a:solidFill>
                <a:srgbClr val="000000"/>
              </a:solidFill>
              <a:latin typeface="Arial"/>
              <a:ea typeface="Arial"/>
              <a:cs typeface="Arial"/>
              <a:sym typeface="Arial"/>
            </a:endParaRPr>
          </a:p>
        </p:txBody>
      </p:sp>
      <p:sp>
        <p:nvSpPr>
          <p:cNvPr id="153" name="Google Shape;153;p4"/>
          <p:cNvSpPr txBox="1"/>
          <p:nvPr/>
        </p:nvSpPr>
        <p:spPr>
          <a:xfrm>
            <a:off x="2770376" y="5214619"/>
            <a:ext cx="6466102" cy="3694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2B6CB0"/>
                </a:solidFill>
                <a:latin typeface="Calibri"/>
                <a:ea typeface="Calibri"/>
                <a:cs typeface="Calibri"/>
                <a:sym typeface="Calibri"/>
              </a:rPr>
              <a:t>Queue absorbs the spike — workers drain it at a safe pace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58" name="Shape 158"/>
        <p:cNvGrpSpPr/>
        <p:nvPr/>
      </p:nvGrpSpPr>
      <p:grpSpPr>
        <a:xfrm>
          <a:off x="0" y="0"/>
          <a:ext cx="0" cy="0"/>
          <a:chOff x="0" y="0"/>
          <a:chExt cx="0" cy="0"/>
        </a:xfrm>
      </p:grpSpPr>
      <p:sp>
        <p:nvSpPr>
          <p:cNvPr id="159" name="Google Shape;159;p5"/>
          <p:cNvSpPr/>
          <p:nvPr/>
        </p:nvSpPr>
        <p:spPr>
          <a:xfrm>
            <a:off x="0" y="0"/>
            <a:ext cx="12191695" cy="1005840"/>
          </a:xfrm>
          <a:prstGeom prst="rect">
            <a:avLst/>
          </a:prstGeom>
          <a:solidFill>
            <a:srgbClr val="2B6CB0"/>
          </a:solidFill>
          <a:ln>
            <a:noFill/>
          </a:ln>
          <a:effectLst>
            <a:outerShdw blurRad="40000" rotWithShape="0" dir="5400000" dist="23000">
              <a:srgbClr val="000000">
                <a:alpha val="34902"/>
              </a:srgbClr>
            </a:outerShdw>
          </a:effectLst>
        </p:spPr>
        <p:txBody>
          <a:bodyPr anchorCtr="0" anchor="ctr" bIns="45700" lIns="548625" spcFirstLastPara="1" rIns="91425" wrap="square" tIns="13715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Calibri"/>
                <a:ea typeface="Calibri"/>
                <a:cs typeface="Calibri"/>
                <a:sym typeface="Calibri"/>
              </a:rPr>
              <a:t>The Four Building Blocks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BEE3F8"/>
                </a:solidFill>
                <a:latin typeface="Calibri"/>
                <a:ea typeface="Calibri"/>
                <a:cs typeface="Calibri"/>
                <a:sym typeface="Calibri"/>
              </a:rPr>
              <a:t>Producer → Exchange → Queue → Consumer</a:t>
            </a:r>
            <a:endParaRPr b="0" i="0" sz="1400" u="none" cap="none" strike="noStrike">
              <a:solidFill>
                <a:srgbClr val="000000"/>
              </a:solidFill>
              <a:latin typeface="Arial"/>
              <a:ea typeface="Arial"/>
              <a:cs typeface="Arial"/>
              <a:sym typeface="Arial"/>
            </a:endParaRPr>
          </a:p>
        </p:txBody>
      </p:sp>
      <p:sp>
        <p:nvSpPr>
          <p:cNvPr id="160" name="Google Shape;160;p5"/>
          <p:cNvSpPr/>
          <p:nvPr/>
        </p:nvSpPr>
        <p:spPr>
          <a:xfrm>
            <a:off x="457200" y="6400800"/>
            <a:ext cx="11277295" cy="18288"/>
          </a:xfrm>
          <a:prstGeom prst="rect">
            <a:avLst/>
          </a:prstGeom>
          <a:solidFill>
            <a:srgbClr val="E2E8F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1" name="Google Shape;161;p5"/>
          <p:cNvSpPr txBox="1"/>
          <p:nvPr/>
        </p:nvSpPr>
        <p:spPr>
          <a:xfrm>
            <a:off x="457200" y="6446520"/>
            <a:ext cx="4572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RabbitMQ in Production</a:t>
            </a:r>
            <a:endParaRPr b="0" i="0" sz="1400" u="none" cap="none" strike="noStrike">
              <a:solidFill>
                <a:srgbClr val="000000"/>
              </a:solidFill>
              <a:latin typeface="Arial"/>
              <a:ea typeface="Arial"/>
              <a:cs typeface="Arial"/>
              <a:sym typeface="Arial"/>
            </a:endParaRPr>
          </a:p>
        </p:txBody>
      </p:sp>
      <p:sp>
        <p:nvSpPr>
          <p:cNvPr id="162" name="Google Shape;162;p5"/>
          <p:cNvSpPr txBox="1"/>
          <p:nvPr/>
        </p:nvSpPr>
        <p:spPr>
          <a:xfrm>
            <a:off x="10515600" y="6446520"/>
            <a:ext cx="1371600" cy="32004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5 / 26</a:t>
            </a:r>
            <a:endParaRPr b="0" i="0" sz="1400" u="none" cap="none" strike="noStrike">
              <a:solidFill>
                <a:srgbClr val="000000"/>
              </a:solidFill>
              <a:latin typeface="Arial"/>
              <a:ea typeface="Arial"/>
              <a:cs typeface="Arial"/>
              <a:sym typeface="Arial"/>
            </a:endParaRPr>
          </a:p>
        </p:txBody>
      </p:sp>
      <p:sp>
        <p:nvSpPr>
          <p:cNvPr id="163" name="Google Shape;163;p5"/>
          <p:cNvSpPr txBox="1"/>
          <p:nvPr/>
        </p:nvSpPr>
        <p:spPr>
          <a:xfrm>
            <a:off x="645800" y="1742672"/>
            <a:ext cx="5168103" cy="263103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 Producer — sends messages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 Exchange — routes messages by rules (bindings)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 Queue — stores messages until consumed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 Consumer — picks up and processes messages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 Binding — rule connecting exchange to queue</a:t>
            </a:r>
            <a:endParaRPr b="0" i="0" sz="1400" u="none" cap="none" strike="noStrike">
              <a:solidFill>
                <a:srgbClr val="000000"/>
              </a:solidFill>
              <a:latin typeface="Arial"/>
              <a:ea typeface="Arial"/>
              <a:cs typeface="Arial"/>
              <a:sym typeface="Arial"/>
            </a:endParaRPr>
          </a:p>
        </p:txBody>
      </p:sp>
      <p:sp>
        <p:nvSpPr>
          <p:cNvPr id="164" name="Google Shape;164;p5"/>
          <p:cNvSpPr/>
          <p:nvPr/>
        </p:nvSpPr>
        <p:spPr>
          <a:xfrm>
            <a:off x="739766" y="4749569"/>
            <a:ext cx="1409483" cy="657759"/>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Producer</a:t>
            </a:r>
            <a:endParaRPr b="0" i="0" sz="1400" u="none" cap="none" strike="noStrike">
              <a:solidFill>
                <a:srgbClr val="000000"/>
              </a:solidFill>
              <a:latin typeface="Arial"/>
              <a:ea typeface="Arial"/>
              <a:cs typeface="Arial"/>
              <a:sym typeface="Arial"/>
            </a:endParaRPr>
          </a:p>
        </p:txBody>
      </p:sp>
      <p:sp>
        <p:nvSpPr>
          <p:cNvPr id="165" name="Google Shape;165;p5"/>
          <p:cNvSpPr/>
          <p:nvPr/>
        </p:nvSpPr>
        <p:spPr>
          <a:xfrm>
            <a:off x="2337179" y="4918707"/>
            <a:ext cx="657759" cy="328879"/>
          </a:xfrm>
          <a:prstGeom prst="rightArrow">
            <a:avLst>
              <a:gd fmla="val 50000" name="adj1"/>
              <a:gd fmla="val 50000" name="adj2"/>
            </a:avLst>
          </a:prstGeom>
          <a:solidFill>
            <a:srgbClr val="A0AEC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6" name="Google Shape;166;p5"/>
          <p:cNvSpPr/>
          <p:nvPr/>
        </p:nvSpPr>
        <p:spPr>
          <a:xfrm>
            <a:off x="3182869" y="4749569"/>
            <a:ext cx="1691379" cy="657759"/>
          </a:xfrm>
          <a:prstGeom prst="roundRect">
            <a:avLst>
              <a:gd fmla="val 16667" name="adj"/>
            </a:avLst>
          </a:prstGeom>
          <a:solidFill>
            <a:srgbClr val="2B6CB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Exchange</a:t>
            </a:r>
            <a:endParaRPr b="0" i="0" sz="1400" u="none" cap="none" strike="noStrike">
              <a:solidFill>
                <a:srgbClr val="000000"/>
              </a:solidFill>
              <a:latin typeface="Arial"/>
              <a:ea typeface="Arial"/>
              <a:cs typeface="Arial"/>
              <a:sym typeface="Arial"/>
            </a:endParaRPr>
          </a:p>
        </p:txBody>
      </p:sp>
      <p:sp>
        <p:nvSpPr>
          <p:cNvPr id="167" name="Google Shape;167;p5"/>
          <p:cNvSpPr/>
          <p:nvPr/>
        </p:nvSpPr>
        <p:spPr>
          <a:xfrm>
            <a:off x="5062179" y="4918707"/>
            <a:ext cx="657759" cy="328879"/>
          </a:xfrm>
          <a:prstGeom prst="rightArrow">
            <a:avLst>
              <a:gd fmla="val 50000" name="adj1"/>
              <a:gd fmla="val 50000" name="adj2"/>
            </a:avLst>
          </a:prstGeom>
          <a:solidFill>
            <a:srgbClr val="A0AEC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8" name="Google Shape;168;p5"/>
          <p:cNvSpPr txBox="1"/>
          <p:nvPr/>
        </p:nvSpPr>
        <p:spPr>
          <a:xfrm>
            <a:off x="5062179" y="4467672"/>
            <a:ext cx="751724" cy="2818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2B6CB0"/>
                </a:solidFill>
                <a:latin typeface="Calibri"/>
                <a:ea typeface="Calibri"/>
                <a:cs typeface="Calibri"/>
                <a:sym typeface="Calibri"/>
              </a:rPr>
              <a:t>binding</a:t>
            </a:r>
            <a:endParaRPr b="0" i="0" sz="1400" u="none" cap="none" strike="noStrike">
              <a:solidFill>
                <a:srgbClr val="000000"/>
              </a:solidFill>
              <a:latin typeface="Arial"/>
              <a:ea typeface="Arial"/>
              <a:cs typeface="Arial"/>
              <a:sym typeface="Arial"/>
            </a:endParaRPr>
          </a:p>
        </p:txBody>
      </p:sp>
      <p:sp>
        <p:nvSpPr>
          <p:cNvPr id="169" name="Google Shape;169;p5"/>
          <p:cNvSpPr/>
          <p:nvPr/>
        </p:nvSpPr>
        <p:spPr>
          <a:xfrm>
            <a:off x="5907869" y="4749569"/>
            <a:ext cx="1409483" cy="657759"/>
          </a:xfrm>
          <a:prstGeom prst="roundRect">
            <a:avLst>
              <a:gd fmla="val 16667" name="adj"/>
            </a:avLst>
          </a:prstGeom>
          <a:solidFill>
            <a:srgbClr val="ED8A36"/>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Queue</a:t>
            </a:r>
            <a:endParaRPr b="0" i="0" sz="1400" u="none" cap="none" strike="noStrike">
              <a:solidFill>
                <a:srgbClr val="000000"/>
              </a:solidFill>
              <a:latin typeface="Arial"/>
              <a:ea typeface="Arial"/>
              <a:cs typeface="Arial"/>
              <a:sym typeface="Arial"/>
            </a:endParaRPr>
          </a:p>
        </p:txBody>
      </p:sp>
      <p:sp>
        <p:nvSpPr>
          <p:cNvPr id="170" name="Google Shape;170;p5"/>
          <p:cNvSpPr/>
          <p:nvPr/>
        </p:nvSpPr>
        <p:spPr>
          <a:xfrm>
            <a:off x="7505283" y="4918707"/>
            <a:ext cx="657759" cy="328879"/>
          </a:xfrm>
          <a:prstGeom prst="rightArrow">
            <a:avLst>
              <a:gd fmla="val 50000" name="adj1"/>
              <a:gd fmla="val 50000" name="adj2"/>
            </a:avLst>
          </a:prstGeom>
          <a:solidFill>
            <a:srgbClr val="A0AEC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1" name="Google Shape;171;p5"/>
          <p:cNvSpPr/>
          <p:nvPr/>
        </p:nvSpPr>
        <p:spPr>
          <a:xfrm>
            <a:off x="8350972" y="4749569"/>
            <a:ext cx="1597414" cy="657759"/>
          </a:xfrm>
          <a:prstGeom prst="roundRect">
            <a:avLst>
              <a:gd fmla="val 16667" name="adj"/>
            </a:avLst>
          </a:prstGeom>
          <a:solidFill>
            <a:srgbClr val="E53E3E"/>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Consumer</a:t>
            </a:r>
            <a:endParaRPr b="0" i="0" sz="1400" u="none" cap="none" strike="noStrike">
              <a:solidFill>
                <a:srgbClr val="000000"/>
              </a:solidFill>
              <a:latin typeface="Arial"/>
              <a:ea typeface="Arial"/>
              <a:cs typeface="Arial"/>
              <a:sym typeface="Arial"/>
            </a:endParaRPr>
          </a:p>
        </p:txBody>
      </p:sp>
      <p:sp>
        <p:nvSpPr>
          <p:cNvPr id="172" name="Google Shape;172;p5"/>
          <p:cNvSpPr/>
          <p:nvPr/>
        </p:nvSpPr>
        <p:spPr>
          <a:xfrm>
            <a:off x="6095800" y="1836638"/>
            <a:ext cx="5450000" cy="657759"/>
          </a:xfrm>
          <a:prstGeom prst="roundRect">
            <a:avLst>
              <a:gd fmla="val 16667" name="adj"/>
            </a:avLst>
          </a:prstGeom>
          <a:solidFill>
            <a:srgbClr val="EBF8FF"/>
          </a:solidFill>
          <a:ln cap="flat" cmpd="sng" w="19050">
            <a:solidFill>
              <a:srgbClr val="2B6CB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37150"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rgbClr val="2B6CB0"/>
                </a:solidFill>
                <a:latin typeface="Calibri"/>
                <a:ea typeface="Calibri"/>
                <a:cs typeface="Calibri"/>
                <a:sym typeface="Calibri"/>
              </a:rPr>
              <a:t>💡 In real tech terms: the producer never talks to the queue directly — the exchange decides where the message goes.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77" name="Shape 177"/>
        <p:cNvGrpSpPr/>
        <p:nvPr/>
      </p:nvGrpSpPr>
      <p:grpSpPr>
        <a:xfrm>
          <a:off x="0" y="0"/>
          <a:ext cx="0" cy="0"/>
          <a:chOff x="0" y="0"/>
          <a:chExt cx="0" cy="0"/>
        </a:xfrm>
      </p:grpSpPr>
      <p:sp>
        <p:nvSpPr>
          <p:cNvPr id="178" name="Google Shape;178;p6"/>
          <p:cNvSpPr/>
          <p:nvPr/>
        </p:nvSpPr>
        <p:spPr>
          <a:xfrm>
            <a:off x="0" y="0"/>
            <a:ext cx="12191695" cy="1005840"/>
          </a:xfrm>
          <a:prstGeom prst="rect">
            <a:avLst/>
          </a:prstGeom>
          <a:solidFill>
            <a:srgbClr val="2B6CB0"/>
          </a:solidFill>
          <a:ln>
            <a:noFill/>
          </a:ln>
          <a:effectLst>
            <a:outerShdw blurRad="40000" rotWithShape="0" dir="5400000" dist="23000">
              <a:srgbClr val="000000">
                <a:alpha val="34902"/>
              </a:srgbClr>
            </a:outerShdw>
          </a:effectLst>
        </p:spPr>
        <p:txBody>
          <a:bodyPr anchorCtr="0" anchor="ctr" bIns="45700" lIns="548625" spcFirstLastPara="1" rIns="91425" wrap="square" tIns="13715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Calibri"/>
                <a:ea typeface="Calibri"/>
                <a:cs typeface="Calibri"/>
                <a:sym typeface="Calibri"/>
              </a:rPr>
              <a:t>The Exchange Is the Router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BEE3F8"/>
                </a:solidFill>
                <a:latin typeface="Calibri"/>
                <a:ea typeface="Calibri"/>
                <a:cs typeface="Calibri"/>
                <a:sym typeface="Calibri"/>
              </a:rPr>
              <a:t>Routing keys, bindings, and four exchange types</a:t>
            </a:r>
            <a:endParaRPr b="0" i="0" sz="1400" u="none" cap="none" strike="noStrike">
              <a:solidFill>
                <a:srgbClr val="000000"/>
              </a:solidFill>
              <a:latin typeface="Arial"/>
              <a:ea typeface="Arial"/>
              <a:cs typeface="Arial"/>
              <a:sym typeface="Arial"/>
            </a:endParaRPr>
          </a:p>
        </p:txBody>
      </p:sp>
      <p:sp>
        <p:nvSpPr>
          <p:cNvPr id="179" name="Google Shape;179;p6"/>
          <p:cNvSpPr/>
          <p:nvPr/>
        </p:nvSpPr>
        <p:spPr>
          <a:xfrm>
            <a:off x="457200" y="6400800"/>
            <a:ext cx="11277295" cy="18288"/>
          </a:xfrm>
          <a:prstGeom prst="rect">
            <a:avLst/>
          </a:prstGeom>
          <a:solidFill>
            <a:srgbClr val="E2E8F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0" name="Google Shape;180;p6"/>
          <p:cNvSpPr txBox="1"/>
          <p:nvPr/>
        </p:nvSpPr>
        <p:spPr>
          <a:xfrm>
            <a:off x="457200" y="6446520"/>
            <a:ext cx="4572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RabbitMQ in Production</a:t>
            </a:r>
            <a:endParaRPr b="0" i="0" sz="1400" u="none" cap="none" strike="noStrike">
              <a:solidFill>
                <a:srgbClr val="000000"/>
              </a:solidFill>
              <a:latin typeface="Arial"/>
              <a:ea typeface="Arial"/>
              <a:cs typeface="Arial"/>
              <a:sym typeface="Arial"/>
            </a:endParaRPr>
          </a:p>
        </p:txBody>
      </p:sp>
      <p:sp>
        <p:nvSpPr>
          <p:cNvPr id="181" name="Google Shape;181;p6"/>
          <p:cNvSpPr txBox="1"/>
          <p:nvPr/>
        </p:nvSpPr>
        <p:spPr>
          <a:xfrm>
            <a:off x="10515600" y="6446520"/>
            <a:ext cx="1371600" cy="32004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6 / 26</a:t>
            </a:r>
            <a:endParaRPr b="0" i="0" sz="1400" u="none" cap="none" strike="noStrike">
              <a:solidFill>
                <a:srgbClr val="000000"/>
              </a:solidFill>
              <a:latin typeface="Arial"/>
              <a:ea typeface="Arial"/>
              <a:cs typeface="Arial"/>
              <a:sym typeface="Arial"/>
            </a:endParaRPr>
          </a:p>
        </p:txBody>
      </p:sp>
      <p:sp>
        <p:nvSpPr>
          <p:cNvPr id="182" name="Google Shape;182;p6"/>
          <p:cNvSpPr txBox="1"/>
          <p:nvPr/>
        </p:nvSpPr>
        <p:spPr>
          <a:xfrm>
            <a:off x="649224" y="1609040"/>
            <a:ext cx="4572000" cy="2286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Each message has a routing key (like an address)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Bindings are rules: 'send key X to queue 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Four types: direct, topic, fanout, headers</a:t>
            </a:r>
            <a:endParaRPr b="0" i="0" sz="1400" u="none" cap="none" strike="noStrike">
              <a:solidFill>
                <a:srgbClr val="000000"/>
              </a:solidFill>
              <a:latin typeface="Arial"/>
              <a:ea typeface="Arial"/>
              <a:cs typeface="Arial"/>
              <a:sym typeface="Arial"/>
            </a:endParaRPr>
          </a:p>
        </p:txBody>
      </p:sp>
      <p:sp>
        <p:nvSpPr>
          <p:cNvPr id="183" name="Google Shape;183;p6"/>
          <p:cNvSpPr/>
          <p:nvPr/>
        </p:nvSpPr>
        <p:spPr>
          <a:xfrm>
            <a:off x="609400" y="3803600"/>
            <a:ext cx="1371600" cy="640080"/>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Producer</a:t>
            </a:r>
            <a:endParaRPr b="0" i="0" sz="1400" u="none" cap="none" strike="noStrike">
              <a:solidFill>
                <a:srgbClr val="000000"/>
              </a:solidFill>
              <a:latin typeface="Arial"/>
              <a:ea typeface="Arial"/>
              <a:cs typeface="Arial"/>
              <a:sym typeface="Arial"/>
            </a:endParaRPr>
          </a:p>
        </p:txBody>
      </p:sp>
      <p:sp>
        <p:nvSpPr>
          <p:cNvPr id="184" name="Google Shape;184;p6"/>
          <p:cNvSpPr/>
          <p:nvPr/>
        </p:nvSpPr>
        <p:spPr>
          <a:xfrm>
            <a:off x="2163880" y="3968192"/>
            <a:ext cx="640080" cy="320040"/>
          </a:xfrm>
          <a:prstGeom prst="rightArrow">
            <a:avLst>
              <a:gd fmla="val 50000" name="adj1"/>
              <a:gd fmla="val 50000" name="adj2"/>
            </a:avLst>
          </a:prstGeom>
          <a:solidFill>
            <a:srgbClr val="A0AEC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5" name="Google Shape;185;p6"/>
          <p:cNvSpPr/>
          <p:nvPr/>
        </p:nvSpPr>
        <p:spPr>
          <a:xfrm>
            <a:off x="2986840" y="3803600"/>
            <a:ext cx="1645920" cy="640080"/>
          </a:xfrm>
          <a:prstGeom prst="roundRect">
            <a:avLst>
              <a:gd fmla="val 16667" name="adj"/>
            </a:avLst>
          </a:prstGeom>
          <a:solidFill>
            <a:srgbClr val="2B6CB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Exchange</a:t>
            </a:r>
            <a:endParaRPr b="0" i="0" sz="1400" u="none" cap="none" strike="noStrike">
              <a:solidFill>
                <a:srgbClr val="000000"/>
              </a:solidFill>
              <a:latin typeface="Arial"/>
              <a:ea typeface="Arial"/>
              <a:cs typeface="Arial"/>
              <a:sym typeface="Arial"/>
            </a:endParaRPr>
          </a:p>
        </p:txBody>
      </p:sp>
      <p:sp>
        <p:nvSpPr>
          <p:cNvPr id="186" name="Google Shape;186;p6"/>
          <p:cNvSpPr/>
          <p:nvPr/>
        </p:nvSpPr>
        <p:spPr>
          <a:xfrm>
            <a:off x="4815640" y="3575000"/>
            <a:ext cx="731520" cy="320040"/>
          </a:xfrm>
          <a:prstGeom prst="rightArrow">
            <a:avLst>
              <a:gd fmla="val 50000" name="adj1"/>
              <a:gd fmla="val 50000" name="adj2"/>
            </a:avLst>
          </a:prstGeom>
          <a:solidFill>
            <a:srgbClr val="38A16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7" name="Google Shape;187;p6"/>
          <p:cNvSpPr/>
          <p:nvPr/>
        </p:nvSpPr>
        <p:spPr>
          <a:xfrm>
            <a:off x="4815640" y="4352240"/>
            <a:ext cx="731520" cy="320040"/>
          </a:xfrm>
          <a:prstGeom prst="rightArrow">
            <a:avLst>
              <a:gd fmla="val 50000" name="adj1"/>
              <a:gd fmla="val 50000" name="adj2"/>
            </a:avLst>
          </a:prstGeom>
          <a:solidFill>
            <a:srgbClr val="ED8A3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8" name="Google Shape;188;p6"/>
          <p:cNvSpPr/>
          <p:nvPr/>
        </p:nvSpPr>
        <p:spPr>
          <a:xfrm>
            <a:off x="5730040" y="3437840"/>
            <a:ext cx="1828800" cy="548640"/>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Calibri"/>
                <a:ea typeface="Calibri"/>
                <a:cs typeface="Calibri"/>
                <a:sym typeface="Calibri"/>
              </a:rPr>
              <a:t>billing-queue</a:t>
            </a:r>
            <a:endParaRPr b="0" i="0" sz="1400" u="none" cap="none" strike="noStrike">
              <a:solidFill>
                <a:srgbClr val="000000"/>
              </a:solidFill>
              <a:latin typeface="Arial"/>
              <a:ea typeface="Arial"/>
              <a:cs typeface="Arial"/>
              <a:sym typeface="Arial"/>
            </a:endParaRPr>
          </a:p>
        </p:txBody>
      </p:sp>
      <p:sp>
        <p:nvSpPr>
          <p:cNvPr id="189" name="Google Shape;189;p6"/>
          <p:cNvSpPr/>
          <p:nvPr/>
        </p:nvSpPr>
        <p:spPr>
          <a:xfrm>
            <a:off x="5730040" y="4215080"/>
            <a:ext cx="1828800" cy="548640"/>
          </a:xfrm>
          <a:prstGeom prst="roundRect">
            <a:avLst>
              <a:gd fmla="val 16667" name="adj"/>
            </a:avLst>
          </a:prstGeom>
          <a:solidFill>
            <a:srgbClr val="ED8A36"/>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Calibri"/>
                <a:ea typeface="Calibri"/>
                <a:cs typeface="Calibri"/>
                <a:sym typeface="Calibri"/>
              </a:rPr>
              <a:t>audit-queue</a:t>
            </a:r>
            <a:endParaRPr b="0" i="0" sz="1400" u="none" cap="none" strike="noStrike">
              <a:solidFill>
                <a:srgbClr val="000000"/>
              </a:solidFill>
              <a:latin typeface="Arial"/>
              <a:ea typeface="Arial"/>
              <a:cs typeface="Arial"/>
              <a:sym typeface="Arial"/>
            </a:endParaRPr>
          </a:p>
        </p:txBody>
      </p:sp>
      <p:sp>
        <p:nvSpPr>
          <p:cNvPr id="190" name="Google Shape;190;p6"/>
          <p:cNvSpPr txBox="1"/>
          <p:nvPr/>
        </p:nvSpPr>
        <p:spPr>
          <a:xfrm>
            <a:off x="4907080" y="3163520"/>
            <a:ext cx="13716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38A169"/>
                </a:solidFill>
                <a:latin typeface="Calibri"/>
                <a:ea typeface="Calibri"/>
                <a:cs typeface="Calibri"/>
                <a:sym typeface="Calibri"/>
              </a:rPr>
              <a:t>key: billing</a:t>
            </a:r>
            <a:endParaRPr b="0" i="0" sz="1400" u="none" cap="none" strike="noStrike">
              <a:solidFill>
                <a:srgbClr val="000000"/>
              </a:solidFill>
              <a:latin typeface="Arial"/>
              <a:ea typeface="Arial"/>
              <a:cs typeface="Arial"/>
              <a:sym typeface="Arial"/>
            </a:endParaRPr>
          </a:p>
        </p:txBody>
      </p:sp>
      <p:sp>
        <p:nvSpPr>
          <p:cNvPr id="191" name="Google Shape;191;p6"/>
          <p:cNvSpPr txBox="1"/>
          <p:nvPr/>
        </p:nvSpPr>
        <p:spPr>
          <a:xfrm>
            <a:off x="4907080" y="4809440"/>
            <a:ext cx="13716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ED8A36"/>
                </a:solidFill>
                <a:latin typeface="Calibri"/>
                <a:ea typeface="Calibri"/>
                <a:cs typeface="Calibri"/>
                <a:sym typeface="Calibri"/>
              </a:rPr>
              <a:t>key: audit</a:t>
            </a:r>
            <a:endParaRPr b="0" i="0" sz="1400" u="none" cap="none" strike="noStrike">
              <a:solidFill>
                <a:srgbClr val="000000"/>
              </a:solidFill>
              <a:latin typeface="Arial"/>
              <a:ea typeface="Arial"/>
              <a:cs typeface="Arial"/>
              <a:sym typeface="Arial"/>
            </a:endParaRPr>
          </a:p>
        </p:txBody>
      </p:sp>
      <p:sp>
        <p:nvSpPr>
          <p:cNvPr id="192" name="Google Shape;192;p6"/>
          <p:cNvSpPr/>
          <p:nvPr/>
        </p:nvSpPr>
        <p:spPr>
          <a:xfrm>
            <a:off x="609400" y="5083760"/>
            <a:ext cx="2560320" cy="457200"/>
          </a:xfrm>
          <a:prstGeom prst="roundRect">
            <a:avLst>
              <a:gd fmla="val 16667" name="adj"/>
            </a:avLst>
          </a:prstGeom>
          <a:solidFill>
            <a:srgbClr val="2B6CB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Calibri"/>
                <a:ea typeface="Calibri"/>
                <a:cs typeface="Calibri"/>
                <a:sym typeface="Calibri"/>
              </a:rPr>
              <a:t>Direct: Exact key match</a:t>
            </a:r>
            <a:endParaRPr b="0" i="0" sz="1400" u="none" cap="none" strike="noStrike">
              <a:solidFill>
                <a:srgbClr val="000000"/>
              </a:solidFill>
              <a:latin typeface="Arial"/>
              <a:ea typeface="Arial"/>
              <a:cs typeface="Arial"/>
              <a:sym typeface="Arial"/>
            </a:endParaRPr>
          </a:p>
        </p:txBody>
      </p:sp>
      <p:sp>
        <p:nvSpPr>
          <p:cNvPr id="193" name="Google Shape;193;p6"/>
          <p:cNvSpPr/>
          <p:nvPr/>
        </p:nvSpPr>
        <p:spPr>
          <a:xfrm>
            <a:off x="3444040" y="5083760"/>
            <a:ext cx="2560320" cy="457200"/>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Calibri"/>
                <a:ea typeface="Calibri"/>
                <a:cs typeface="Calibri"/>
                <a:sym typeface="Calibri"/>
              </a:rPr>
              <a:t>Topic: Wildcard patterns</a:t>
            </a:r>
            <a:endParaRPr b="0" i="0" sz="1400" u="none" cap="none" strike="noStrike">
              <a:solidFill>
                <a:srgbClr val="000000"/>
              </a:solidFill>
              <a:latin typeface="Arial"/>
              <a:ea typeface="Arial"/>
              <a:cs typeface="Arial"/>
              <a:sym typeface="Arial"/>
            </a:endParaRPr>
          </a:p>
        </p:txBody>
      </p:sp>
      <p:sp>
        <p:nvSpPr>
          <p:cNvPr id="194" name="Google Shape;194;p6"/>
          <p:cNvSpPr/>
          <p:nvPr/>
        </p:nvSpPr>
        <p:spPr>
          <a:xfrm>
            <a:off x="6278680" y="5083760"/>
            <a:ext cx="2560320" cy="457200"/>
          </a:xfrm>
          <a:prstGeom prst="roundRect">
            <a:avLst>
              <a:gd fmla="val 16667" name="adj"/>
            </a:avLst>
          </a:prstGeom>
          <a:solidFill>
            <a:srgbClr val="ED8A36"/>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Calibri"/>
                <a:ea typeface="Calibri"/>
                <a:cs typeface="Calibri"/>
                <a:sym typeface="Calibri"/>
              </a:rPr>
              <a:t>Fanout: Broadcast to all</a:t>
            </a:r>
            <a:endParaRPr b="0" i="0" sz="1400" u="none" cap="none" strike="noStrike">
              <a:solidFill>
                <a:srgbClr val="000000"/>
              </a:solidFill>
              <a:latin typeface="Arial"/>
              <a:ea typeface="Arial"/>
              <a:cs typeface="Arial"/>
              <a:sym typeface="Arial"/>
            </a:endParaRPr>
          </a:p>
        </p:txBody>
      </p:sp>
      <p:sp>
        <p:nvSpPr>
          <p:cNvPr id="195" name="Google Shape;195;p6"/>
          <p:cNvSpPr/>
          <p:nvPr/>
        </p:nvSpPr>
        <p:spPr>
          <a:xfrm>
            <a:off x="9113320" y="5083760"/>
            <a:ext cx="2560320" cy="457200"/>
          </a:xfrm>
          <a:prstGeom prst="roundRect">
            <a:avLst>
              <a:gd fmla="val 16667" name="adj"/>
            </a:avLst>
          </a:prstGeom>
          <a:solidFill>
            <a:srgbClr val="805AD5"/>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Calibri"/>
                <a:ea typeface="Calibri"/>
                <a:cs typeface="Calibri"/>
                <a:sym typeface="Calibri"/>
              </a:rPr>
              <a:t>Headers: Match on attributes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200" name="Shape 200"/>
        <p:cNvGrpSpPr/>
        <p:nvPr/>
      </p:nvGrpSpPr>
      <p:grpSpPr>
        <a:xfrm>
          <a:off x="0" y="0"/>
          <a:ext cx="0" cy="0"/>
          <a:chOff x="0" y="0"/>
          <a:chExt cx="0" cy="0"/>
        </a:xfrm>
      </p:grpSpPr>
      <p:sp>
        <p:nvSpPr>
          <p:cNvPr id="201" name="Google Shape;201;p7"/>
          <p:cNvSpPr/>
          <p:nvPr/>
        </p:nvSpPr>
        <p:spPr>
          <a:xfrm>
            <a:off x="0" y="0"/>
            <a:ext cx="12191695" cy="1005840"/>
          </a:xfrm>
          <a:prstGeom prst="rect">
            <a:avLst/>
          </a:prstGeom>
          <a:solidFill>
            <a:srgbClr val="2B6CB0"/>
          </a:solidFill>
          <a:ln>
            <a:noFill/>
          </a:ln>
          <a:effectLst>
            <a:outerShdw blurRad="40000" rotWithShape="0" dir="5400000" dist="23000">
              <a:srgbClr val="000000">
                <a:alpha val="34902"/>
              </a:srgbClr>
            </a:outerShdw>
          </a:effectLst>
        </p:spPr>
        <p:txBody>
          <a:bodyPr anchorCtr="0" anchor="ctr" bIns="45700" lIns="548625" spcFirstLastPara="1" rIns="91425" wrap="square" tIns="13715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Calibri"/>
                <a:ea typeface="Calibri"/>
                <a:cs typeface="Calibri"/>
                <a:sym typeface="Calibri"/>
              </a:rPr>
              <a:t>Direct Exchange — Exact Key Match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BEE3F8"/>
                </a:solidFill>
                <a:latin typeface="Calibri"/>
                <a:ea typeface="Calibri"/>
                <a:cs typeface="Calibri"/>
                <a:sym typeface="Calibri"/>
              </a:rPr>
              <a:t>Route messages to a specific queue by exact routing key</a:t>
            </a:r>
            <a:endParaRPr b="0" i="0" sz="1400" u="none" cap="none" strike="noStrike">
              <a:solidFill>
                <a:srgbClr val="000000"/>
              </a:solidFill>
              <a:latin typeface="Arial"/>
              <a:ea typeface="Arial"/>
              <a:cs typeface="Arial"/>
              <a:sym typeface="Arial"/>
            </a:endParaRPr>
          </a:p>
        </p:txBody>
      </p:sp>
      <p:sp>
        <p:nvSpPr>
          <p:cNvPr id="202" name="Google Shape;202;p7"/>
          <p:cNvSpPr/>
          <p:nvPr/>
        </p:nvSpPr>
        <p:spPr>
          <a:xfrm>
            <a:off x="457200" y="6400800"/>
            <a:ext cx="11277295" cy="18288"/>
          </a:xfrm>
          <a:prstGeom prst="rect">
            <a:avLst/>
          </a:prstGeom>
          <a:solidFill>
            <a:srgbClr val="E2E8F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3" name="Google Shape;203;p7"/>
          <p:cNvSpPr txBox="1"/>
          <p:nvPr/>
        </p:nvSpPr>
        <p:spPr>
          <a:xfrm>
            <a:off x="457200" y="6446520"/>
            <a:ext cx="4572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RabbitMQ in Production</a:t>
            </a:r>
            <a:endParaRPr b="0" i="0" sz="1400" u="none" cap="none" strike="noStrike">
              <a:solidFill>
                <a:srgbClr val="000000"/>
              </a:solidFill>
              <a:latin typeface="Arial"/>
              <a:ea typeface="Arial"/>
              <a:cs typeface="Arial"/>
              <a:sym typeface="Arial"/>
            </a:endParaRPr>
          </a:p>
        </p:txBody>
      </p:sp>
      <p:sp>
        <p:nvSpPr>
          <p:cNvPr id="204" name="Google Shape;204;p7"/>
          <p:cNvSpPr txBox="1"/>
          <p:nvPr/>
        </p:nvSpPr>
        <p:spPr>
          <a:xfrm>
            <a:off x="10515600" y="6446520"/>
            <a:ext cx="1371600" cy="32004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7 / 26</a:t>
            </a:r>
            <a:endParaRPr b="0" i="0" sz="1400" u="none" cap="none" strike="noStrike">
              <a:solidFill>
                <a:srgbClr val="000000"/>
              </a:solidFill>
              <a:latin typeface="Arial"/>
              <a:ea typeface="Arial"/>
              <a:cs typeface="Arial"/>
              <a:sym typeface="Arial"/>
            </a:endParaRPr>
          </a:p>
        </p:txBody>
      </p:sp>
      <p:sp>
        <p:nvSpPr>
          <p:cNvPr id="205" name="Google Shape;205;p7"/>
          <p:cNvSpPr txBox="1"/>
          <p:nvPr/>
        </p:nvSpPr>
        <p:spPr>
          <a:xfrm>
            <a:off x="649224" y="1453896"/>
            <a:ext cx="10515600" cy="182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2D3A4A"/>
                </a:solidFill>
                <a:latin typeface="Calibri"/>
                <a:ea typeface="Calibri"/>
                <a:cs typeface="Calibri"/>
                <a:sym typeface="Calibri"/>
              </a:rPr>
              <a:t>Message with key 'error' → errors queue only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2300"/>
              <a:buFont typeface="Arial"/>
              <a:buNone/>
            </a:pPr>
            <a:r>
              <a:rPr b="0" i="0" lang="en-US" sz="2300" u="none" cap="none" strike="noStrike">
                <a:solidFill>
                  <a:srgbClr val="2D3A4A"/>
                </a:solidFill>
                <a:latin typeface="Calibri"/>
                <a:ea typeface="Calibri"/>
                <a:cs typeface="Calibri"/>
                <a:sym typeface="Calibri"/>
              </a:rPr>
              <a:t>Message with key 'info' → logs queue only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2300"/>
              <a:buFont typeface="Arial"/>
              <a:buNone/>
            </a:pPr>
            <a:r>
              <a:rPr b="0" i="0" lang="en-US" sz="2300" u="none" cap="none" strike="noStrike">
                <a:solidFill>
                  <a:srgbClr val="2D3A4A"/>
                </a:solidFill>
                <a:latin typeface="Calibri"/>
                <a:ea typeface="Calibri"/>
                <a:cs typeface="Calibri"/>
                <a:sym typeface="Calibri"/>
              </a:rPr>
              <a:t>Simplest routing: one key, one destination</a:t>
            </a:r>
            <a:endParaRPr b="0" i="0" sz="1400" u="none" cap="none" strike="noStrike">
              <a:solidFill>
                <a:srgbClr val="000000"/>
              </a:solidFill>
              <a:latin typeface="Arial"/>
              <a:ea typeface="Arial"/>
              <a:cs typeface="Arial"/>
              <a:sym typeface="Arial"/>
            </a:endParaRPr>
          </a:p>
        </p:txBody>
      </p:sp>
      <p:sp>
        <p:nvSpPr>
          <p:cNvPr id="206" name="Google Shape;206;p7"/>
          <p:cNvSpPr/>
          <p:nvPr/>
        </p:nvSpPr>
        <p:spPr>
          <a:xfrm>
            <a:off x="1518022" y="3583333"/>
            <a:ext cx="1716667" cy="801111"/>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Producer</a:t>
            </a:r>
            <a:endParaRPr b="0" i="0" sz="1400" u="none" cap="none" strike="noStrike">
              <a:solidFill>
                <a:srgbClr val="000000"/>
              </a:solidFill>
              <a:latin typeface="Arial"/>
              <a:ea typeface="Arial"/>
              <a:cs typeface="Arial"/>
              <a:sym typeface="Arial"/>
            </a:endParaRPr>
          </a:p>
        </p:txBody>
      </p:sp>
      <p:sp>
        <p:nvSpPr>
          <p:cNvPr id="207" name="Google Shape;207;p7"/>
          <p:cNvSpPr txBox="1"/>
          <p:nvPr/>
        </p:nvSpPr>
        <p:spPr>
          <a:xfrm>
            <a:off x="3463578" y="3240000"/>
            <a:ext cx="1716667" cy="3433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E53E3E"/>
                </a:solidFill>
                <a:latin typeface="Calibri"/>
                <a:ea typeface="Calibri"/>
                <a:cs typeface="Calibri"/>
                <a:sym typeface="Calibri"/>
              </a:rPr>
              <a:t>key="error"</a:t>
            </a:r>
            <a:endParaRPr b="0" i="0" sz="1400" u="none" cap="none" strike="noStrike">
              <a:solidFill>
                <a:srgbClr val="000000"/>
              </a:solidFill>
              <a:latin typeface="Arial"/>
              <a:ea typeface="Arial"/>
              <a:cs typeface="Arial"/>
              <a:sym typeface="Arial"/>
            </a:endParaRPr>
          </a:p>
        </p:txBody>
      </p:sp>
      <p:sp>
        <p:nvSpPr>
          <p:cNvPr id="208" name="Google Shape;208;p7"/>
          <p:cNvSpPr/>
          <p:nvPr/>
        </p:nvSpPr>
        <p:spPr>
          <a:xfrm>
            <a:off x="3463578" y="3789333"/>
            <a:ext cx="915556" cy="400556"/>
          </a:xfrm>
          <a:prstGeom prst="rightArrow">
            <a:avLst>
              <a:gd fmla="val 50000" name="adj1"/>
              <a:gd fmla="val 50000" name="adj2"/>
            </a:avLst>
          </a:prstGeom>
          <a:solidFill>
            <a:srgbClr val="A0AEC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300"/>
              <a:buFont typeface="Arial"/>
              <a:buNone/>
            </a:pPr>
            <a:r>
              <a:t/>
            </a:r>
            <a:endParaRPr b="0" i="0" sz="2300" u="none" cap="none" strike="noStrike">
              <a:solidFill>
                <a:schemeClr val="dk1"/>
              </a:solidFill>
              <a:latin typeface="Calibri"/>
              <a:ea typeface="Calibri"/>
              <a:cs typeface="Calibri"/>
              <a:sym typeface="Calibri"/>
            </a:endParaRPr>
          </a:p>
        </p:txBody>
      </p:sp>
      <p:sp>
        <p:nvSpPr>
          <p:cNvPr id="209" name="Google Shape;209;p7"/>
          <p:cNvSpPr/>
          <p:nvPr/>
        </p:nvSpPr>
        <p:spPr>
          <a:xfrm>
            <a:off x="4608022" y="3583333"/>
            <a:ext cx="2517778" cy="801111"/>
          </a:xfrm>
          <a:prstGeom prst="roundRect">
            <a:avLst>
              <a:gd fmla="val 16667" name="adj"/>
            </a:avLst>
          </a:prstGeom>
          <a:solidFill>
            <a:srgbClr val="2B6CB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Direct Exchange</a:t>
            </a:r>
            <a:endParaRPr b="0" i="0" sz="1400" u="none" cap="none" strike="noStrike">
              <a:solidFill>
                <a:srgbClr val="000000"/>
              </a:solidFill>
              <a:latin typeface="Arial"/>
              <a:ea typeface="Arial"/>
              <a:cs typeface="Arial"/>
              <a:sym typeface="Arial"/>
            </a:endParaRPr>
          </a:p>
        </p:txBody>
      </p:sp>
      <p:sp>
        <p:nvSpPr>
          <p:cNvPr id="210" name="Google Shape;210;p7"/>
          <p:cNvSpPr/>
          <p:nvPr/>
        </p:nvSpPr>
        <p:spPr>
          <a:xfrm>
            <a:off x="7354689" y="3411667"/>
            <a:ext cx="915556" cy="400556"/>
          </a:xfrm>
          <a:prstGeom prst="rightArrow">
            <a:avLst>
              <a:gd fmla="val 50000" name="adj1"/>
              <a:gd fmla="val 50000" name="adj2"/>
            </a:avLst>
          </a:prstGeom>
          <a:solidFill>
            <a:srgbClr val="E53E3E"/>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300"/>
              <a:buFont typeface="Arial"/>
              <a:buNone/>
            </a:pPr>
            <a:r>
              <a:t/>
            </a:r>
            <a:endParaRPr b="0" i="0" sz="2300" u="none" cap="none" strike="noStrike">
              <a:solidFill>
                <a:schemeClr val="dk1"/>
              </a:solidFill>
              <a:latin typeface="Calibri"/>
              <a:ea typeface="Calibri"/>
              <a:cs typeface="Calibri"/>
              <a:sym typeface="Calibri"/>
            </a:endParaRPr>
          </a:p>
        </p:txBody>
      </p:sp>
      <p:sp>
        <p:nvSpPr>
          <p:cNvPr id="211" name="Google Shape;211;p7"/>
          <p:cNvSpPr/>
          <p:nvPr/>
        </p:nvSpPr>
        <p:spPr>
          <a:xfrm>
            <a:off x="7354689" y="4155556"/>
            <a:ext cx="915556" cy="400556"/>
          </a:xfrm>
          <a:prstGeom prst="rightArrow">
            <a:avLst>
              <a:gd fmla="val 50000" name="adj1"/>
              <a:gd fmla="val 50000" name="adj2"/>
            </a:avLst>
          </a:prstGeom>
          <a:solidFill>
            <a:srgbClr val="E2E8F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300"/>
              <a:buFont typeface="Arial"/>
              <a:buNone/>
            </a:pPr>
            <a:r>
              <a:t/>
            </a:r>
            <a:endParaRPr b="0" i="0" sz="2300" u="none" cap="none" strike="noStrike">
              <a:solidFill>
                <a:schemeClr val="dk1"/>
              </a:solidFill>
              <a:latin typeface="Calibri"/>
              <a:ea typeface="Calibri"/>
              <a:cs typeface="Calibri"/>
              <a:sym typeface="Calibri"/>
            </a:endParaRPr>
          </a:p>
        </p:txBody>
      </p:sp>
      <p:sp>
        <p:nvSpPr>
          <p:cNvPr id="212" name="Google Shape;212;p7"/>
          <p:cNvSpPr/>
          <p:nvPr/>
        </p:nvSpPr>
        <p:spPr>
          <a:xfrm>
            <a:off x="8499133" y="3240000"/>
            <a:ext cx="2517778" cy="686667"/>
          </a:xfrm>
          <a:prstGeom prst="roundRect">
            <a:avLst>
              <a:gd fmla="val 16667" name="adj"/>
            </a:avLst>
          </a:prstGeom>
          <a:solidFill>
            <a:srgbClr val="E53E3E"/>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Calibri"/>
                <a:ea typeface="Calibri"/>
                <a:cs typeface="Calibri"/>
                <a:sym typeface="Calibri"/>
              </a:rPr>
              <a:t>errors queue ✅</a:t>
            </a:r>
            <a:endParaRPr b="0" i="0" sz="1400" u="none" cap="none" strike="noStrike">
              <a:solidFill>
                <a:srgbClr val="000000"/>
              </a:solidFill>
              <a:latin typeface="Arial"/>
              <a:ea typeface="Arial"/>
              <a:cs typeface="Arial"/>
              <a:sym typeface="Arial"/>
            </a:endParaRPr>
          </a:p>
        </p:txBody>
      </p:sp>
      <p:sp>
        <p:nvSpPr>
          <p:cNvPr id="213" name="Google Shape;213;p7"/>
          <p:cNvSpPr/>
          <p:nvPr/>
        </p:nvSpPr>
        <p:spPr>
          <a:xfrm>
            <a:off x="8499133" y="4041111"/>
            <a:ext cx="2517778" cy="686667"/>
          </a:xfrm>
          <a:prstGeom prst="roundRect">
            <a:avLst>
              <a:gd fmla="val 16667" name="adj"/>
            </a:avLst>
          </a:prstGeom>
          <a:solidFill>
            <a:srgbClr val="E2E8F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A0AEC0"/>
                </a:solidFill>
                <a:latin typeface="Calibri"/>
                <a:ea typeface="Calibri"/>
                <a:cs typeface="Calibri"/>
                <a:sym typeface="Calibri"/>
              </a:rPr>
              <a:t>logs queue ❌</a:t>
            </a:r>
            <a:endParaRPr b="0" i="0" sz="1400" u="none" cap="none" strike="noStrike">
              <a:solidFill>
                <a:srgbClr val="000000"/>
              </a:solidFill>
              <a:latin typeface="Arial"/>
              <a:ea typeface="Arial"/>
              <a:cs typeface="Arial"/>
              <a:sym typeface="Arial"/>
            </a:endParaRPr>
          </a:p>
        </p:txBody>
      </p:sp>
      <p:sp>
        <p:nvSpPr>
          <p:cNvPr id="214" name="Google Shape;214;p7"/>
          <p:cNvSpPr/>
          <p:nvPr/>
        </p:nvSpPr>
        <p:spPr>
          <a:xfrm>
            <a:off x="1174689" y="5643333"/>
            <a:ext cx="9155556" cy="686667"/>
          </a:xfrm>
          <a:prstGeom prst="roundRect">
            <a:avLst>
              <a:gd fmla="val 16667" name="adj"/>
            </a:avLst>
          </a:prstGeom>
          <a:solidFill>
            <a:srgbClr val="EBF8FF"/>
          </a:solidFill>
          <a:ln cap="flat" cmpd="sng" w="19050">
            <a:solidFill>
              <a:srgbClr val="2B6CB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37150"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1" lang="en-US" sz="1800" u="none" cap="none" strike="noStrike">
                <a:solidFill>
                  <a:srgbClr val="2B6CB0"/>
                </a:solidFill>
                <a:latin typeface="Calibri"/>
                <a:ea typeface="Calibri"/>
                <a:cs typeface="Calibri"/>
                <a:sym typeface="Calibri"/>
              </a:rPr>
              <a:t>💡 In real tech terms: like sending a letter to "123 Main St" — only that exact address gets it.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219" name="Shape 219"/>
        <p:cNvGrpSpPr/>
        <p:nvPr/>
      </p:nvGrpSpPr>
      <p:grpSpPr>
        <a:xfrm>
          <a:off x="0" y="0"/>
          <a:ext cx="0" cy="0"/>
          <a:chOff x="0" y="0"/>
          <a:chExt cx="0" cy="0"/>
        </a:xfrm>
      </p:grpSpPr>
      <p:sp>
        <p:nvSpPr>
          <p:cNvPr id="220" name="Google Shape;220;p8"/>
          <p:cNvSpPr/>
          <p:nvPr/>
        </p:nvSpPr>
        <p:spPr>
          <a:xfrm>
            <a:off x="0" y="0"/>
            <a:ext cx="12191695" cy="1005840"/>
          </a:xfrm>
          <a:prstGeom prst="rect">
            <a:avLst/>
          </a:prstGeom>
          <a:solidFill>
            <a:srgbClr val="2B6CB0"/>
          </a:solidFill>
          <a:ln>
            <a:noFill/>
          </a:ln>
          <a:effectLst>
            <a:outerShdw blurRad="40000" rotWithShape="0" dir="5400000" dist="23000">
              <a:srgbClr val="000000">
                <a:alpha val="34902"/>
              </a:srgbClr>
            </a:outerShdw>
          </a:effectLst>
        </p:spPr>
        <p:txBody>
          <a:bodyPr anchorCtr="0" anchor="ctr" bIns="45700" lIns="548625" spcFirstLastPara="1" rIns="91425" wrap="square" tIns="13715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Calibri"/>
                <a:ea typeface="Calibri"/>
                <a:cs typeface="Calibri"/>
                <a:sym typeface="Calibri"/>
              </a:rPr>
              <a:t>Topic Exchange — Wildcard Routing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BEE3F8"/>
                </a:solidFill>
                <a:latin typeface="Calibri"/>
                <a:ea typeface="Calibri"/>
                <a:cs typeface="Calibri"/>
                <a:sym typeface="Calibri"/>
              </a:rPr>
              <a:t>Use * (one word) and # (zero or more words)</a:t>
            </a:r>
            <a:endParaRPr b="0" i="0" sz="1400" u="none" cap="none" strike="noStrike">
              <a:solidFill>
                <a:srgbClr val="000000"/>
              </a:solidFill>
              <a:latin typeface="Arial"/>
              <a:ea typeface="Arial"/>
              <a:cs typeface="Arial"/>
              <a:sym typeface="Arial"/>
            </a:endParaRPr>
          </a:p>
        </p:txBody>
      </p:sp>
      <p:sp>
        <p:nvSpPr>
          <p:cNvPr id="221" name="Google Shape;221;p8"/>
          <p:cNvSpPr/>
          <p:nvPr/>
        </p:nvSpPr>
        <p:spPr>
          <a:xfrm>
            <a:off x="457200" y="6400800"/>
            <a:ext cx="11277295" cy="18288"/>
          </a:xfrm>
          <a:prstGeom prst="rect">
            <a:avLst/>
          </a:prstGeom>
          <a:solidFill>
            <a:srgbClr val="E2E8F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2" name="Google Shape;222;p8"/>
          <p:cNvSpPr txBox="1"/>
          <p:nvPr/>
        </p:nvSpPr>
        <p:spPr>
          <a:xfrm>
            <a:off x="457200" y="6446520"/>
            <a:ext cx="4572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RabbitMQ in Production</a:t>
            </a:r>
            <a:endParaRPr b="0" i="0" sz="1400" u="none" cap="none" strike="noStrike">
              <a:solidFill>
                <a:srgbClr val="000000"/>
              </a:solidFill>
              <a:latin typeface="Arial"/>
              <a:ea typeface="Arial"/>
              <a:cs typeface="Arial"/>
              <a:sym typeface="Arial"/>
            </a:endParaRPr>
          </a:p>
        </p:txBody>
      </p:sp>
      <p:sp>
        <p:nvSpPr>
          <p:cNvPr id="223" name="Google Shape;223;p8"/>
          <p:cNvSpPr txBox="1"/>
          <p:nvPr/>
        </p:nvSpPr>
        <p:spPr>
          <a:xfrm>
            <a:off x="10515600" y="6446520"/>
            <a:ext cx="1371600" cy="32004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8 / 26</a:t>
            </a:r>
            <a:endParaRPr b="0" i="0" sz="1400" u="none" cap="none" strike="noStrike">
              <a:solidFill>
                <a:srgbClr val="000000"/>
              </a:solidFill>
              <a:latin typeface="Arial"/>
              <a:ea typeface="Arial"/>
              <a:cs typeface="Arial"/>
              <a:sym typeface="Arial"/>
            </a:endParaRPr>
          </a:p>
        </p:txBody>
      </p:sp>
      <p:sp>
        <p:nvSpPr>
          <p:cNvPr id="224" name="Google Shape;224;p8"/>
          <p:cNvSpPr txBox="1"/>
          <p:nvPr/>
        </p:nvSpPr>
        <p:spPr>
          <a:xfrm>
            <a:off x="645800" y="1450000"/>
            <a:ext cx="6446237" cy="18752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2D3A4A"/>
                </a:solidFill>
                <a:latin typeface="Calibri"/>
                <a:ea typeface="Calibri"/>
                <a:cs typeface="Calibri"/>
                <a:sym typeface="Calibri"/>
              </a:rPr>
              <a:t>Routing keys are dot-separated words: orders.new.eu</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2300"/>
              <a:buFont typeface="Arial"/>
              <a:buNone/>
            </a:pPr>
            <a:r>
              <a:rPr b="0" i="0" lang="en-US" sz="2300" u="none" cap="none" strike="noStrike">
                <a:solidFill>
                  <a:srgbClr val="2D3A4A"/>
                </a:solidFill>
                <a:latin typeface="Calibri"/>
                <a:ea typeface="Calibri"/>
                <a:cs typeface="Calibri"/>
                <a:sym typeface="Calibri"/>
              </a:rPr>
              <a:t>* matches exactly one word: orders.*.eu</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2300"/>
              <a:buFont typeface="Arial"/>
              <a:buNone/>
            </a:pPr>
            <a:r>
              <a:rPr b="0" i="0" lang="en-US" sz="2300" u="none" cap="none" strike="noStrike">
                <a:solidFill>
                  <a:srgbClr val="2D3A4A"/>
                </a:solidFill>
                <a:latin typeface="Calibri"/>
                <a:ea typeface="Calibri"/>
                <a:cs typeface="Calibri"/>
                <a:sym typeface="Calibri"/>
              </a:rPr>
              <a:t># matches zero or more words: orders.#</a:t>
            </a:r>
            <a:endParaRPr b="0" i="0" sz="1400" u="none" cap="none" strike="noStrike">
              <a:solidFill>
                <a:srgbClr val="000000"/>
              </a:solidFill>
              <a:latin typeface="Arial"/>
              <a:ea typeface="Arial"/>
              <a:cs typeface="Arial"/>
              <a:sym typeface="Arial"/>
            </a:endParaRPr>
          </a:p>
        </p:txBody>
      </p:sp>
      <p:sp>
        <p:nvSpPr>
          <p:cNvPr id="225" name="Google Shape;225;p8"/>
          <p:cNvSpPr/>
          <p:nvPr/>
        </p:nvSpPr>
        <p:spPr>
          <a:xfrm>
            <a:off x="763004" y="4262903"/>
            <a:ext cx="2344086" cy="820430"/>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Producer</a:t>
            </a:r>
            <a:endParaRPr b="0" i="0" sz="1400" u="none" cap="none" strike="noStrike">
              <a:solidFill>
                <a:srgbClr val="000000"/>
              </a:solidFill>
              <a:latin typeface="Arial"/>
              <a:ea typeface="Arial"/>
              <a:cs typeface="Arial"/>
              <a:sym typeface="Arial"/>
            </a:endParaRPr>
          </a:p>
        </p:txBody>
      </p:sp>
      <p:sp>
        <p:nvSpPr>
          <p:cNvPr id="226" name="Google Shape;226;p8"/>
          <p:cNvSpPr txBox="1"/>
          <p:nvPr/>
        </p:nvSpPr>
        <p:spPr>
          <a:xfrm>
            <a:off x="763004" y="3794086"/>
            <a:ext cx="2930108" cy="3516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B6CB0"/>
                </a:solidFill>
                <a:latin typeface="Calibri"/>
                <a:ea typeface="Calibri"/>
                <a:cs typeface="Calibri"/>
                <a:sym typeface="Calibri"/>
              </a:rPr>
              <a:t>key: orders.new.eu</a:t>
            </a:r>
            <a:endParaRPr b="0" i="0" sz="1400" u="none" cap="none" strike="noStrike">
              <a:solidFill>
                <a:srgbClr val="000000"/>
              </a:solidFill>
              <a:latin typeface="Arial"/>
              <a:ea typeface="Arial"/>
              <a:cs typeface="Arial"/>
              <a:sym typeface="Arial"/>
            </a:endParaRPr>
          </a:p>
        </p:txBody>
      </p:sp>
      <p:sp>
        <p:nvSpPr>
          <p:cNvPr id="227" name="Google Shape;227;p8"/>
          <p:cNvSpPr/>
          <p:nvPr/>
        </p:nvSpPr>
        <p:spPr>
          <a:xfrm>
            <a:off x="3341499" y="4473870"/>
            <a:ext cx="820430" cy="410215"/>
          </a:xfrm>
          <a:prstGeom prst="rightArrow">
            <a:avLst>
              <a:gd fmla="val 50000" name="adj1"/>
              <a:gd fmla="val 50000" name="adj2"/>
            </a:avLst>
          </a:prstGeom>
          <a:solidFill>
            <a:srgbClr val="A0AEC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300"/>
              <a:buFont typeface="Arial"/>
              <a:buNone/>
            </a:pPr>
            <a:r>
              <a:t/>
            </a:r>
            <a:endParaRPr b="0" i="0" sz="2300" u="none" cap="none" strike="noStrike">
              <a:solidFill>
                <a:schemeClr val="dk1"/>
              </a:solidFill>
              <a:latin typeface="Calibri"/>
              <a:ea typeface="Calibri"/>
              <a:cs typeface="Calibri"/>
              <a:sym typeface="Calibri"/>
            </a:endParaRPr>
          </a:p>
        </p:txBody>
      </p:sp>
      <p:sp>
        <p:nvSpPr>
          <p:cNvPr id="228" name="Google Shape;228;p8"/>
          <p:cNvSpPr/>
          <p:nvPr/>
        </p:nvSpPr>
        <p:spPr>
          <a:xfrm>
            <a:off x="4396338" y="4262903"/>
            <a:ext cx="2578495" cy="820430"/>
          </a:xfrm>
          <a:prstGeom prst="roundRect">
            <a:avLst>
              <a:gd fmla="val 16667" name="adj"/>
            </a:avLst>
          </a:prstGeom>
          <a:solidFill>
            <a:srgbClr val="2B6CB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Topic Exchange</a:t>
            </a:r>
            <a:endParaRPr b="0" i="0" sz="1400" u="none" cap="none" strike="noStrike">
              <a:solidFill>
                <a:srgbClr val="000000"/>
              </a:solidFill>
              <a:latin typeface="Arial"/>
              <a:ea typeface="Arial"/>
              <a:cs typeface="Arial"/>
              <a:sym typeface="Arial"/>
            </a:endParaRPr>
          </a:p>
        </p:txBody>
      </p:sp>
      <p:sp>
        <p:nvSpPr>
          <p:cNvPr id="229" name="Google Shape;229;p8"/>
          <p:cNvSpPr/>
          <p:nvPr/>
        </p:nvSpPr>
        <p:spPr>
          <a:xfrm>
            <a:off x="7209241" y="3969892"/>
            <a:ext cx="820430" cy="410215"/>
          </a:xfrm>
          <a:prstGeom prst="rightArrow">
            <a:avLst>
              <a:gd fmla="val 50000" name="adj1"/>
              <a:gd fmla="val 50000" name="adj2"/>
            </a:avLst>
          </a:prstGeom>
          <a:solidFill>
            <a:srgbClr val="38A16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300"/>
              <a:buFont typeface="Arial"/>
              <a:buNone/>
            </a:pPr>
            <a:r>
              <a:t/>
            </a:r>
            <a:endParaRPr b="0" i="0" sz="2300" u="none" cap="none" strike="noStrike">
              <a:solidFill>
                <a:schemeClr val="dk1"/>
              </a:solidFill>
              <a:latin typeface="Calibri"/>
              <a:ea typeface="Calibri"/>
              <a:cs typeface="Calibri"/>
              <a:sym typeface="Calibri"/>
            </a:endParaRPr>
          </a:p>
        </p:txBody>
      </p:sp>
      <p:sp>
        <p:nvSpPr>
          <p:cNvPr id="230" name="Google Shape;230;p8"/>
          <p:cNvSpPr/>
          <p:nvPr/>
        </p:nvSpPr>
        <p:spPr>
          <a:xfrm>
            <a:off x="7209241" y="4555913"/>
            <a:ext cx="820430" cy="410215"/>
          </a:xfrm>
          <a:prstGeom prst="rightArrow">
            <a:avLst>
              <a:gd fmla="val 50000" name="adj1"/>
              <a:gd fmla="val 50000" name="adj2"/>
            </a:avLst>
          </a:prstGeom>
          <a:solidFill>
            <a:srgbClr val="38A16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300"/>
              <a:buFont typeface="Arial"/>
              <a:buNone/>
            </a:pPr>
            <a:r>
              <a:t/>
            </a:r>
            <a:endParaRPr b="0" i="0" sz="2300" u="none" cap="none" strike="noStrike">
              <a:solidFill>
                <a:schemeClr val="dk1"/>
              </a:solidFill>
              <a:latin typeface="Calibri"/>
              <a:ea typeface="Calibri"/>
              <a:cs typeface="Calibri"/>
              <a:sym typeface="Calibri"/>
            </a:endParaRPr>
          </a:p>
        </p:txBody>
      </p:sp>
      <p:sp>
        <p:nvSpPr>
          <p:cNvPr id="231" name="Google Shape;231;p8"/>
          <p:cNvSpPr/>
          <p:nvPr/>
        </p:nvSpPr>
        <p:spPr>
          <a:xfrm>
            <a:off x="7209241" y="5200537"/>
            <a:ext cx="820430" cy="410215"/>
          </a:xfrm>
          <a:prstGeom prst="rightArrow">
            <a:avLst>
              <a:gd fmla="val 50000" name="adj1"/>
              <a:gd fmla="val 50000" name="adj2"/>
            </a:avLst>
          </a:prstGeom>
          <a:solidFill>
            <a:srgbClr val="E2E8F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300"/>
              <a:buFont typeface="Arial"/>
              <a:buNone/>
            </a:pPr>
            <a:r>
              <a:t/>
            </a:r>
            <a:endParaRPr b="0" i="0" sz="2300" u="none" cap="none" strike="noStrike">
              <a:solidFill>
                <a:schemeClr val="dk1"/>
              </a:solidFill>
              <a:latin typeface="Calibri"/>
              <a:ea typeface="Calibri"/>
              <a:cs typeface="Calibri"/>
              <a:sym typeface="Calibri"/>
            </a:endParaRPr>
          </a:p>
        </p:txBody>
      </p:sp>
      <p:sp>
        <p:nvSpPr>
          <p:cNvPr id="232" name="Google Shape;232;p8"/>
          <p:cNvSpPr/>
          <p:nvPr/>
        </p:nvSpPr>
        <p:spPr>
          <a:xfrm>
            <a:off x="8264080" y="3735483"/>
            <a:ext cx="3281720" cy="586022"/>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FFFFFF"/>
                </a:solidFill>
                <a:latin typeface="Calibri"/>
                <a:ea typeface="Calibri"/>
                <a:cs typeface="Calibri"/>
                <a:sym typeface="Calibri"/>
              </a:rPr>
              <a:t>orders.*.eu ✅ match</a:t>
            </a:r>
            <a:endParaRPr b="0" i="0" sz="1400" u="none" cap="none" strike="noStrike">
              <a:solidFill>
                <a:srgbClr val="000000"/>
              </a:solidFill>
              <a:latin typeface="Arial"/>
              <a:ea typeface="Arial"/>
              <a:cs typeface="Arial"/>
              <a:sym typeface="Arial"/>
            </a:endParaRPr>
          </a:p>
        </p:txBody>
      </p:sp>
      <p:sp>
        <p:nvSpPr>
          <p:cNvPr id="233" name="Google Shape;233;p8"/>
          <p:cNvSpPr/>
          <p:nvPr/>
        </p:nvSpPr>
        <p:spPr>
          <a:xfrm>
            <a:off x="8264080" y="4438709"/>
            <a:ext cx="3281720" cy="586022"/>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FFFFFF"/>
                </a:solidFill>
                <a:latin typeface="Calibri"/>
                <a:ea typeface="Calibri"/>
                <a:cs typeface="Calibri"/>
                <a:sym typeface="Calibri"/>
              </a:rPr>
              <a:t>orders.# ✅ match</a:t>
            </a:r>
            <a:endParaRPr b="0" i="0" sz="1400" u="none" cap="none" strike="noStrike">
              <a:solidFill>
                <a:srgbClr val="000000"/>
              </a:solidFill>
              <a:latin typeface="Arial"/>
              <a:ea typeface="Arial"/>
              <a:cs typeface="Arial"/>
              <a:sym typeface="Arial"/>
            </a:endParaRPr>
          </a:p>
        </p:txBody>
      </p:sp>
      <p:sp>
        <p:nvSpPr>
          <p:cNvPr id="234" name="Google Shape;234;p8"/>
          <p:cNvSpPr/>
          <p:nvPr/>
        </p:nvSpPr>
        <p:spPr>
          <a:xfrm>
            <a:off x="8264080" y="5141935"/>
            <a:ext cx="3281720" cy="586022"/>
          </a:xfrm>
          <a:prstGeom prst="roundRect">
            <a:avLst>
              <a:gd fmla="val 16667" name="adj"/>
            </a:avLst>
          </a:prstGeom>
          <a:solidFill>
            <a:srgbClr val="E2E8F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A0AEC0"/>
                </a:solidFill>
                <a:latin typeface="Calibri"/>
                <a:ea typeface="Calibri"/>
                <a:cs typeface="Calibri"/>
                <a:sym typeface="Calibri"/>
              </a:rPr>
              <a:t>orders.new.us ❌ no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239" name="Shape 239"/>
        <p:cNvGrpSpPr/>
        <p:nvPr/>
      </p:nvGrpSpPr>
      <p:grpSpPr>
        <a:xfrm>
          <a:off x="0" y="0"/>
          <a:ext cx="0" cy="0"/>
          <a:chOff x="0" y="0"/>
          <a:chExt cx="0" cy="0"/>
        </a:xfrm>
      </p:grpSpPr>
      <p:sp>
        <p:nvSpPr>
          <p:cNvPr id="240" name="Google Shape;240;p9"/>
          <p:cNvSpPr/>
          <p:nvPr/>
        </p:nvSpPr>
        <p:spPr>
          <a:xfrm>
            <a:off x="0" y="0"/>
            <a:ext cx="12191695" cy="1005840"/>
          </a:xfrm>
          <a:prstGeom prst="rect">
            <a:avLst/>
          </a:prstGeom>
          <a:solidFill>
            <a:srgbClr val="2B6CB0"/>
          </a:solidFill>
          <a:ln>
            <a:noFill/>
          </a:ln>
          <a:effectLst>
            <a:outerShdw blurRad="40000" rotWithShape="0" dir="5400000" dist="23000">
              <a:srgbClr val="000000">
                <a:alpha val="34902"/>
              </a:srgbClr>
            </a:outerShdw>
          </a:effectLst>
        </p:spPr>
        <p:txBody>
          <a:bodyPr anchorCtr="0" anchor="ctr" bIns="45700" lIns="548625" spcFirstLastPara="1" rIns="91425" wrap="square" tIns="13715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Calibri"/>
                <a:ea typeface="Calibri"/>
                <a:cs typeface="Calibri"/>
                <a:sym typeface="Calibri"/>
              </a:rPr>
              <a:t>Fanout Exchange — Broadcast to All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BEE3F8"/>
                </a:solidFill>
                <a:latin typeface="Calibri"/>
                <a:ea typeface="Calibri"/>
                <a:cs typeface="Calibri"/>
                <a:sym typeface="Calibri"/>
              </a:rPr>
              <a:t>Every bound queue gets a copy of every message</a:t>
            </a:r>
            <a:endParaRPr b="0" i="0" sz="1400" u="none" cap="none" strike="noStrike">
              <a:solidFill>
                <a:srgbClr val="000000"/>
              </a:solidFill>
              <a:latin typeface="Arial"/>
              <a:ea typeface="Arial"/>
              <a:cs typeface="Arial"/>
              <a:sym typeface="Arial"/>
            </a:endParaRPr>
          </a:p>
        </p:txBody>
      </p:sp>
      <p:sp>
        <p:nvSpPr>
          <p:cNvPr id="241" name="Google Shape;241;p9"/>
          <p:cNvSpPr/>
          <p:nvPr/>
        </p:nvSpPr>
        <p:spPr>
          <a:xfrm>
            <a:off x="457200" y="6400800"/>
            <a:ext cx="11277295" cy="18288"/>
          </a:xfrm>
          <a:prstGeom prst="rect">
            <a:avLst/>
          </a:prstGeom>
          <a:solidFill>
            <a:srgbClr val="E2E8F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2" name="Google Shape;242;p9"/>
          <p:cNvSpPr txBox="1"/>
          <p:nvPr/>
        </p:nvSpPr>
        <p:spPr>
          <a:xfrm>
            <a:off x="457200" y="6446520"/>
            <a:ext cx="4572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RabbitMQ in Production</a:t>
            </a:r>
            <a:endParaRPr b="0" i="0" sz="1400" u="none" cap="none" strike="noStrike">
              <a:solidFill>
                <a:srgbClr val="000000"/>
              </a:solidFill>
              <a:latin typeface="Arial"/>
              <a:ea typeface="Arial"/>
              <a:cs typeface="Arial"/>
              <a:sym typeface="Arial"/>
            </a:endParaRPr>
          </a:p>
        </p:txBody>
      </p:sp>
      <p:sp>
        <p:nvSpPr>
          <p:cNvPr id="243" name="Google Shape;243;p9"/>
          <p:cNvSpPr txBox="1"/>
          <p:nvPr/>
        </p:nvSpPr>
        <p:spPr>
          <a:xfrm>
            <a:off x="10515600" y="6446520"/>
            <a:ext cx="1371600" cy="32004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9 / 26</a:t>
            </a:r>
            <a:endParaRPr b="0" i="0" sz="1400" u="none" cap="none" strike="noStrike">
              <a:solidFill>
                <a:srgbClr val="000000"/>
              </a:solidFill>
              <a:latin typeface="Arial"/>
              <a:ea typeface="Arial"/>
              <a:cs typeface="Arial"/>
              <a:sym typeface="Arial"/>
            </a:endParaRPr>
          </a:p>
        </p:txBody>
      </p:sp>
      <p:sp>
        <p:nvSpPr>
          <p:cNvPr id="244" name="Google Shape;244;p9"/>
          <p:cNvSpPr txBox="1"/>
          <p:nvPr/>
        </p:nvSpPr>
        <p:spPr>
          <a:xfrm>
            <a:off x="649224" y="1453896"/>
            <a:ext cx="10515600" cy="182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2D3A4A"/>
                </a:solidFill>
                <a:latin typeface="Calibri"/>
                <a:ea typeface="Calibri"/>
                <a:cs typeface="Calibri"/>
                <a:sym typeface="Calibri"/>
              </a:rPr>
              <a:t>Ignores routing keys entirely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2200"/>
              <a:buFont typeface="Arial"/>
              <a:buNone/>
            </a:pPr>
            <a:r>
              <a:rPr b="0" i="0" lang="en-US" sz="2200" u="none" cap="none" strike="noStrike">
                <a:solidFill>
                  <a:srgbClr val="2D3A4A"/>
                </a:solidFill>
                <a:latin typeface="Calibri"/>
                <a:ea typeface="Calibri"/>
                <a:cs typeface="Calibri"/>
                <a:sym typeface="Calibri"/>
              </a:rPr>
              <a:t>Copies the message to every bound queue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2200"/>
              <a:buFont typeface="Arial"/>
              <a:buNone/>
            </a:pPr>
            <a:r>
              <a:rPr b="0" i="0" lang="en-US" sz="2200" u="none" cap="none" strike="noStrike">
                <a:solidFill>
                  <a:srgbClr val="2D3A4A"/>
                </a:solidFill>
                <a:latin typeface="Calibri"/>
                <a:ea typeface="Calibri"/>
                <a:cs typeface="Calibri"/>
                <a:sym typeface="Calibri"/>
              </a:rPr>
              <a:t>Like a radio station: everyone tuned in hears it</a:t>
            </a:r>
            <a:endParaRPr b="0" i="0" sz="1400" u="none" cap="none" strike="noStrike">
              <a:solidFill>
                <a:srgbClr val="000000"/>
              </a:solidFill>
              <a:latin typeface="Arial"/>
              <a:ea typeface="Arial"/>
              <a:cs typeface="Arial"/>
              <a:sym typeface="Arial"/>
            </a:endParaRPr>
          </a:p>
        </p:txBody>
      </p:sp>
      <p:sp>
        <p:nvSpPr>
          <p:cNvPr id="245" name="Google Shape;245;p9"/>
          <p:cNvSpPr/>
          <p:nvPr/>
        </p:nvSpPr>
        <p:spPr>
          <a:xfrm>
            <a:off x="1658034" y="3919362"/>
            <a:ext cx="1643617" cy="767021"/>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Calibri"/>
                <a:ea typeface="Calibri"/>
                <a:cs typeface="Calibri"/>
                <a:sym typeface="Calibri"/>
              </a:rPr>
              <a:t>Producer</a:t>
            </a:r>
            <a:endParaRPr b="0" i="0" sz="1400" u="none" cap="none" strike="noStrike">
              <a:solidFill>
                <a:srgbClr val="000000"/>
              </a:solidFill>
              <a:latin typeface="Arial"/>
              <a:ea typeface="Arial"/>
              <a:cs typeface="Arial"/>
              <a:sym typeface="Arial"/>
            </a:endParaRPr>
          </a:p>
        </p:txBody>
      </p:sp>
      <p:sp>
        <p:nvSpPr>
          <p:cNvPr id="246" name="Google Shape;246;p9"/>
          <p:cNvSpPr/>
          <p:nvPr/>
        </p:nvSpPr>
        <p:spPr>
          <a:xfrm>
            <a:off x="3520800" y="4116596"/>
            <a:ext cx="657447" cy="383511"/>
          </a:xfrm>
          <a:prstGeom prst="rightArrow">
            <a:avLst>
              <a:gd fmla="val 50000" name="adj1"/>
              <a:gd fmla="val 50000" name="adj2"/>
            </a:avLst>
          </a:prstGeom>
          <a:solidFill>
            <a:srgbClr val="A0AEC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p:txBody>
      </p:sp>
      <p:sp>
        <p:nvSpPr>
          <p:cNvPr id="247" name="Google Shape;247;p9"/>
          <p:cNvSpPr/>
          <p:nvPr/>
        </p:nvSpPr>
        <p:spPr>
          <a:xfrm>
            <a:off x="4397396" y="3919362"/>
            <a:ext cx="2629787" cy="767021"/>
          </a:xfrm>
          <a:prstGeom prst="roundRect">
            <a:avLst>
              <a:gd fmla="val 16667" name="adj"/>
            </a:avLst>
          </a:prstGeom>
          <a:solidFill>
            <a:srgbClr val="ED8A36"/>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Calibri"/>
                <a:ea typeface="Calibri"/>
                <a:cs typeface="Calibri"/>
                <a:sym typeface="Calibri"/>
              </a:rPr>
              <a:t>Fanout Exchange</a:t>
            </a:r>
            <a:endParaRPr b="0" i="0" sz="1400" u="none" cap="none" strike="noStrike">
              <a:solidFill>
                <a:srgbClr val="000000"/>
              </a:solidFill>
              <a:latin typeface="Arial"/>
              <a:ea typeface="Arial"/>
              <a:cs typeface="Arial"/>
              <a:sym typeface="Arial"/>
            </a:endParaRPr>
          </a:p>
        </p:txBody>
      </p:sp>
      <p:sp>
        <p:nvSpPr>
          <p:cNvPr id="248" name="Google Shape;248;p9"/>
          <p:cNvSpPr/>
          <p:nvPr/>
        </p:nvSpPr>
        <p:spPr>
          <a:xfrm>
            <a:off x="7246332" y="3513936"/>
            <a:ext cx="657447" cy="383511"/>
          </a:xfrm>
          <a:prstGeom prst="rightArrow">
            <a:avLst>
              <a:gd fmla="val 50000" name="adj1"/>
              <a:gd fmla="val 50000" name="adj2"/>
            </a:avLst>
          </a:prstGeom>
          <a:solidFill>
            <a:srgbClr val="ED8A3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p:txBody>
      </p:sp>
      <p:sp>
        <p:nvSpPr>
          <p:cNvPr id="249" name="Google Shape;249;p9"/>
          <p:cNvSpPr/>
          <p:nvPr/>
        </p:nvSpPr>
        <p:spPr>
          <a:xfrm>
            <a:off x="8122928" y="3371489"/>
            <a:ext cx="2739362" cy="547872"/>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email-queue</a:t>
            </a:r>
            <a:endParaRPr b="0" i="0" sz="1400" u="none" cap="none" strike="noStrike">
              <a:solidFill>
                <a:srgbClr val="000000"/>
              </a:solidFill>
              <a:latin typeface="Arial"/>
              <a:ea typeface="Arial"/>
              <a:cs typeface="Arial"/>
              <a:sym typeface="Arial"/>
            </a:endParaRPr>
          </a:p>
        </p:txBody>
      </p:sp>
      <p:sp>
        <p:nvSpPr>
          <p:cNvPr id="250" name="Google Shape;250;p9"/>
          <p:cNvSpPr/>
          <p:nvPr/>
        </p:nvSpPr>
        <p:spPr>
          <a:xfrm>
            <a:off x="7246332" y="4226170"/>
            <a:ext cx="657447" cy="383511"/>
          </a:xfrm>
          <a:prstGeom prst="rightArrow">
            <a:avLst>
              <a:gd fmla="val 50000" name="adj1"/>
              <a:gd fmla="val 50000" name="adj2"/>
            </a:avLst>
          </a:prstGeom>
          <a:solidFill>
            <a:srgbClr val="ED8A3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p:txBody>
      </p:sp>
      <p:sp>
        <p:nvSpPr>
          <p:cNvPr id="251" name="Google Shape;251;p9"/>
          <p:cNvSpPr/>
          <p:nvPr/>
        </p:nvSpPr>
        <p:spPr>
          <a:xfrm>
            <a:off x="8122928" y="4083723"/>
            <a:ext cx="2739362" cy="547872"/>
          </a:xfrm>
          <a:prstGeom prst="roundRect">
            <a:avLst>
              <a:gd fmla="val 16667" name="adj"/>
            </a:avLst>
          </a:prstGeom>
          <a:solidFill>
            <a:srgbClr val="2B6CB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sms-queue</a:t>
            </a:r>
            <a:endParaRPr b="0" i="0" sz="1400" u="none" cap="none" strike="noStrike">
              <a:solidFill>
                <a:srgbClr val="000000"/>
              </a:solidFill>
              <a:latin typeface="Arial"/>
              <a:ea typeface="Arial"/>
              <a:cs typeface="Arial"/>
              <a:sym typeface="Arial"/>
            </a:endParaRPr>
          </a:p>
        </p:txBody>
      </p:sp>
      <p:sp>
        <p:nvSpPr>
          <p:cNvPr id="252" name="Google Shape;252;p9"/>
          <p:cNvSpPr/>
          <p:nvPr/>
        </p:nvSpPr>
        <p:spPr>
          <a:xfrm>
            <a:off x="7246332" y="4938404"/>
            <a:ext cx="657447" cy="383511"/>
          </a:xfrm>
          <a:prstGeom prst="rightArrow">
            <a:avLst>
              <a:gd fmla="val 50000" name="adj1"/>
              <a:gd fmla="val 50000" name="adj2"/>
            </a:avLst>
          </a:prstGeom>
          <a:solidFill>
            <a:srgbClr val="ED8A3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p:txBody>
      </p:sp>
      <p:sp>
        <p:nvSpPr>
          <p:cNvPr id="253" name="Google Shape;253;p9"/>
          <p:cNvSpPr/>
          <p:nvPr/>
        </p:nvSpPr>
        <p:spPr>
          <a:xfrm>
            <a:off x="8122928" y="4795957"/>
            <a:ext cx="2739362" cy="547872"/>
          </a:xfrm>
          <a:prstGeom prst="roundRect">
            <a:avLst>
              <a:gd fmla="val 16667" name="adj"/>
            </a:avLst>
          </a:prstGeom>
          <a:solidFill>
            <a:srgbClr val="805AD5"/>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analytics-queue</a:t>
            </a:r>
            <a:endParaRPr b="0" i="0" sz="1400" u="none" cap="none" strike="noStrike">
              <a:solidFill>
                <a:srgbClr val="000000"/>
              </a:solidFill>
              <a:latin typeface="Arial"/>
              <a:ea typeface="Arial"/>
              <a:cs typeface="Arial"/>
              <a:sym typeface="Arial"/>
            </a:endParaRPr>
          </a:p>
        </p:txBody>
      </p:sp>
      <p:sp>
        <p:nvSpPr>
          <p:cNvPr id="254" name="Google Shape;254;p9"/>
          <p:cNvSpPr/>
          <p:nvPr/>
        </p:nvSpPr>
        <p:spPr>
          <a:xfrm>
            <a:off x="1329311" y="5672553"/>
            <a:ext cx="6574468" cy="657447"/>
          </a:xfrm>
          <a:prstGeom prst="roundRect">
            <a:avLst>
              <a:gd fmla="val 16667" name="adj"/>
            </a:avLst>
          </a:prstGeom>
          <a:solidFill>
            <a:srgbClr val="EBF8FF"/>
          </a:solidFill>
          <a:ln cap="flat" cmpd="sng" w="19050">
            <a:solidFill>
              <a:srgbClr val="2B6CB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37150" spcFirstLastPara="1" rIns="91425" wrap="square" tIns="91425">
            <a:noAutofit/>
          </a:bodyPr>
          <a:lstStyle/>
          <a:p>
            <a:pPr indent="0" lvl="0" marL="0" marR="0" rtl="0" algn="ctr">
              <a:lnSpc>
                <a:spcPct val="100000"/>
              </a:lnSpc>
              <a:spcBef>
                <a:spcPts val="0"/>
              </a:spcBef>
              <a:spcAft>
                <a:spcPts val="0"/>
              </a:spcAft>
              <a:buClr>
                <a:srgbClr val="000000"/>
              </a:buClr>
              <a:buSzPts val="1700"/>
              <a:buFont typeface="Arial"/>
              <a:buNone/>
            </a:pPr>
            <a:r>
              <a:rPr b="0" i="1" lang="en-US" sz="1700" u="none" cap="none" strike="noStrike">
                <a:solidFill>
                  <a:srgbClr val="2B6CB0"/>
                </a:solidFill>
                <a:latin typeface="Calibri"/>
                <a:ea typeface="Calibri"/>
                <a:cs typeface="Calibri"/>
                <a:sym typeface="Calibri"/>
              </a:rPr>
              <a:t>💡 In real tech terms: one event ('user signed up') triggers email, SMS, and analytics at once.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259" name="Shape 259"/>
        <p:cNvGrpSpPr/>
        <p:nvPr/>
      </p:nvGrpSpPr>
      <p:grpSpPr>
        <a:xfrm>
          <a:off x="0" y="0"/>
          <a:ext cx="0" cy="0"/>
          <a:chOff x="0" y="0"/>
          <a:chExt cx="0" cy="0"/>
        </a:xfrm>
      </p:grpSpPr>
      <p:sp>
        <p:nvSpPr>
          <p:cNvPr id="260" name="Google Shape;260;p10"/>
          <p:cNvSpPr/>
          <p:nvPr/>
        </p:nvSpPr>
        <p:spPr>
          <a:xfrm>
            <a:off x="0" y="0"/>
            <a:ext cx="12191695" cy="1005840"/>
          </a:xfrm>
          <a:prstGeom prst="rect">
            <a:avLst/>
          </a:prstGeom>
          <a:solidFill>
            <a:srgbClr val="2B6CB0"/>
          </a:solidFill>
          <a:ln>
            <a:noFill/>
          </a:ln>
          <a:effectLst>
            <a:outerShdw blurRad="40000" rotWithShape="0" dir="5400000" dist="23000">
              <a:srgbClr val="000000">
                <a:alpha val="34902"/>
              </a:srgbClr>
            </a:outerShdw>
          </a:effectLst>
        </p:spPr>
        <p:txBody>
          <a:bodyPr anchorCtr="0" anchor="ctr" bIns="45700" lIns="548625" spcFirstLastPara="1" rIns="91425" wrap="square" tIns="13715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Calibri"/>
                <a:ea typeface="Calibri"/>
                <a:cs typeface="Calibri"/>
                <a:sym typeface="Calibri"/>
              </a:rPr>
              <a:t>Headers &amp; Default Exchange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BEE3F8"/>
                </a:solidFill>
                <a:latin typeface="Calibri"/>
                <a:ea typeface="Calibri"/>
                <a:cs typeface="Calibri"/>
                <a:sym typeface="Calibri"/>
              </a:rPr>
              <a:t>Match on message attributes, or send straight to a named queue</a:t>
            </a:r>
            <a:endParaRPr b="0" i="0" sz="1400" u="none" cap="none" strike="noStrike">
              <a:solidFill>
                <a:srgbClr val="000000"/>
              </a:solidFill>
              <a:latin typeface="Arial"/>
              <a:ea typeface="Arial"/>
              <a:cs typeface="Arial"/>
              <a:sym typeface="Arial"/>
            </a:endParaRPr>
          </a:p>
        </p:txBody>
      </p:sp>
      <p:sp>
        <p:nvSpPr>
          <p:cNvPr id="261" name="Google Shape;261;p10"/>
          <p:cNvSpPr/>
          <p:nvPr/>
        </p:nvSpPr>
        <p:spPr>
          <a:xfrm>
            <a:off x="457200" y="6400800"/>
            <a:ext cx="11277295" cy="18288"/>
          </a:xfrm>
          <a:prstGeom prst="rect">
            <a:avLst/>
          </a:prstGeom>
          <a:solidFill>
            <a:srgbClr val="E2E8F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2" name="Google Shape;262;p10"/>
          <p:cNvSpPr txBox="1"/>
          <p:nvPr/>
        </p:nvSpPr>
        <p:spPr>
          <a:xfrm>
            <a:off x="457200" y="6446520"/>
            <a:ext cx="4572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RabbitMQ in Production</a:t>
            </a:r>
            <a:endParaRPr b="0" i="0" sz="1400" u="none" cap="none" strike="noStrike">
              <a:solidFill>
                <a:srgbClr val="000000"/>
              </a:solidFill>
              <a:latin typeface="Arial"/>
              <a:ea typeface="Arial"/>
              <a:cs typeface="Arial"/>
              <a:sym typeface="Arial"/>
            </a:endParaRPr>
          </a:p>
        </p:txBody>
      </p:sp>
      <p:sp>
        <p:nvSpPr>
          <p:cNvPr id="263" name="Google Shape;263;p10"/>
          <p:cNvSpPr txBox="1"/>
          <p:nvPr/>
        </p:nvSpPr>
        <p:spPr>
          <a:xfrm>
            <a:off x="10515600" y="6446520"/>
            <a:ext cx="1371600" cy="32004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10 / 26</a:t>
            </a:r>
            <a:endParaRPr b="0" i="0" sz="1400" u="none" cap="none" strike="noStrike">
              <a:solidFill>
                <a:srgbClr val="000000"/>
              </a:solidFill>
              <a:latin typeface="Arial"/>
              <a:ea typeface="Arial"/>
              <a:cs typeface="Arial"/>
              <a:sym typeface="Arial"/>
            </a:endParaRPr>
          </a:p>
        </p:txBody>
      </p:sp>
      <p:sp>
        <p:nvSpPr>
          <p:cNvPr id="264" name="Google Shape;264;p10"/>
          <p:cNvSpPr txBox="1"/>
          <p:nvPr/>
        </p:nvSpPr>
        <p:spPr>
          <a:xfrm>
            <a:off x="645800" y="2050847"/>
            <a:ext cx="5080508" cy="4618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805AD5"/>
                </a:solidFill>
                <a:latin typeface="Calibri"/>
                <a:ea typeface="Calibri"/>
                <a:cs typeface="Calibri"/>
                <a:sym typeface="Calibri"/>
              </a:rPr>
              <a:t>Headers Exchange</a:t>
            </a:r>
            <a:endParaRPr b="0" i="0" sz="1400" u="none" cap="none" strike="noStrike">
              <a:solidFill>
                <a:srgbClr val="000000"/>
              </a:solidFill>
              <a:latin typeface="Arial"/>
              <a:ea typeface="Arial"/>
              <a:cs typeface="Arial"/>
              <a:sym typeface="Arial"/>
            </a:endParaRPr>
          </a:p>
        </p:txBody>
      </p:sp>
      <p:sp>
        <p:nvSpPr>
          <p:cNvPr id="265" name="Google Shape;265;p10"/>
          <p:cNvSpPr txBox="1"/>
          <p:nvPr/>
        </p:nvSpPr>
        <p:spPr>
          <a:xfrm>
            <a:off x="645800" y="2558898"/>
            <a:ext cx="5080508" cy="138559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Routes by message header attributes, not routing key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Binding: x-match=all (all headers) or any (any header)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Example: format=pdf → pdf-workers queue</a:t>
            </a:r>
            <a:endParaRPr b="0" i="0" sz="1400" u="none" cap="none" strike="noStrike">
              <a:solidFill>
                <a:srgbClr val="000000"/>
              </a:solidFill>
              <a:latin typeface="Arial"/>
              <a:ea typeface="Arial"/>
              <a:cs typeface="Arial"/>
              <a:sym typeface="Arial"/>
            </a:endParaRPr>
          </a:p>
        </p:txBody>
      </p:sp>
      <p:sp>
        <p:nvSpPr>
          <p:cNvPr id="266" name="Google Shape;266;p10"/>
          <p:cNvSpPr txBox="1"/>
          <p:nvPr/>
        </p:nvSpPr>
        <p:spPr>
          <a:xfrm>
            <a:off x="6465292" y="2050847"/>
            <a:ext cx="5080508" cy="4618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2B6CB0"/>
                </a:solidFill>
                <a:latin typeface="Calibri"/>
                <a:ea typeface="Calibri"/>
                <a:cs typeface="Calibri"/>
                <a:sym typeface="Calibri"/>
              </a:rPr>
              <a:t>Default Exchange</a:t>
            </a:r>
            <a:endParaRPr b="0" i="0" sz="1400" u="none" cap="none" strike="noStrike">
              <a:solidFill>
                <a:srgbClr val="000000"/>
              </a:solidFill>
              <a:latin typeface="Arial"/>
              <a:ea typeface="Arial"/>
              <a:cs typeface="Arial"/>
              <a:sym typeface="Arial"/>
            </a:endParaRPr>
          </a:p>
        </p:txBody>
      </p:sp>
      <p:sp>
        <p:nvSpPr>
          <p:cNvPr id="267" name="Google Shape;267;p10"/>
          <p:cNvSpPr txBox="1"/>
          <p:nvPr/>
        </p:nvSpPr>
        <p:spPr>
          <a:xfrm>
            <a:off x="6465292" y="2558898"/>
            <a:ext cx="5080508" cy="138559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Every queue is auto-bound with its own name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Routing key = queue name → direct delivery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Useful for simple point-to-point messaging</a:t>
            </a:r>
            <a:endParaRPr b="0" i="0" sz="1400" u="none" cap="none" strike="noStrike">
              <a:solidFill>
                <a:srgbClr val="000000"/>
              </a:solidFill>
              <a:latin typeface="Arial"/>
              <a:ea typeface="Arial"/>
              <a:cs typeface="Arial"/>
              <a:sym typeface="Arial"/>
            </a:endParaRPr>
          </a:p>
        </p:txBody>
      </p:sp>
      <p:sp>
        <p:nvSpPr>
          <p:cNvPr id="268" name="Google Shape;268;p10"/>
          <p:cNvSpPr/>
          <p:nvPr/>
        </p:nvSpPr>
        <p:spPr>
          <a:xfrm>
            <a:off x="738173" y="4452542"/>
            <a:ext cx="2309322" cy="646610"/>
          </a:xfrm>
          <a:prstGeom prst="roundRect">
            <a:avLst>
              <a:gd fmla="val 16667" name="adj"/>
            </a:avLst>
          </a:prstGeom>
          <a:solidFill>
            <a:srgbClr val="EBF8FF"/>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805AD5"/>
                </a:solidFill>
                <a:latin typeface="Calibri"/>
                <a:ea typeface="Calibri"/>
                <a:cs typeface="Calibri"/>
                <a:sym typeface="Calibri"/>
              </a:rPr>
              <a:t>format=pdf</a:t>
            </a:r>
            <a:br>
              <a:rPr b="0" i="0" lang="en-US" sz="1200" u="none" cap="none" strike="noStrike">
                <a:solidFill>
                  <a:srgbClr val="805AD5"/>
                </a:solidFill>
                <a:latin typeface="Calibri"/>
                <a:ea typeface="Calibri"/>
                <a:cs typeface="Calibri"/>
                <a:sym typeface="Calibri"/>
              </a:rPr>
            </a:br>
            <a:r>
              <a:rPr b="0" i="0" lang="en-US" sz="1200" u="none" cap="none" strike="noStrike">
                <a:solidFill>
                  <a:srgbClr val="805AD5"/>
                </a:solidFill>
                <a:latin typeface="Calibri"/>
                <a:ea typeface="Calibri"/>
                <a:cs typeface="Calibri"/>
                <a:sym typeface="Calibri"/>
              </a:rPr>
              <a:t>type=report</a:t>
            </a:r>
            <a:endParaRPr b="0" i="0" sz="1400" u="none" cap="none" strike="noStrike">
              <a:solidFill>
                <a:srgbClr val="000000"/>
              </a:solidFill>
              <a:latin typeface="Arial"/>
              <a:ea typeface="Arial"/>
              <a:cs typeface="Arial"/>
              <a:sym typeface="Arial"/>
            </a:endParaRPr>
          </a:p>
        </p:txBody>
      </p:sp>
      <p:sp>
        <p:nvSpPr>
          <p:cNvPr id="269" name="Google Shape;269;p10"/>
          <p:cNvSpPr/>
          <p:nvPr/>
        </p:nvSpPr>
        <p:spPr>
          <a:xfrm>
            <a:off x="3232241" y="4618814"/>
            <a:ext cx="554237" cy="323305"/>
          </a:xfrm>
          <a:prstGeom prst="rightArrow">
            <a:avLst>
              <a:gd fmla="val 50000" name="adj1"/>
              <a:gd fmla="val 50000" name="adj2"/>
            </a:avLst>
          </a:prstGeom>
          <a:solidFill>
            <a:srgbClr val="805AD5"/>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0" name="Google Shape;270;p10"/>
          <p:cNvSpPr/>
          <p:nvPr/>
        </p:nvSpPr>
        <p:spPr>
          <a:xfrm>
            <a:off x="3971224" y="4452542"/>
            <a:ext cx="1847458" cy="646610"/>
          </a:xfrm>
          <a:prstGeom prst="roundRect">
            <a:avLst>
              <a:gd fmla="val 16667" name="adj"/>
            </a:avLst>
          </a:prstGeom>
          <a:solidFill>
            <a:srgbClr val="805AD5"/>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Headers Ex.</a:t>
            </a:r>
            <a:endParaRPr b="0" i="0" sz="1400" u="none" cap="none" strike="noStrike">
              <a:solidFill>
                <a:srgbClr val="000000"/>
              </a:solidFill>
              <a:latin typeface="Arial"/>
              <a:ea typeface="Arial"/>
              <a:cs typeface="Arial"/>
              <a:sym typeface="Arial"/>
            </a:endParaRPr>
          </a:p>
        </p:txBody>
      </p:sp>
      <p:sp>
        <p:nvSpPr>
          <p:cNvPr id="271" name="Google Shape;271;p10"/>
          <p:cNvSpPr/>
          <p:nvPr/>
        </p:nvSpPr>
        <p:spPr>
          <a:xfrm>
            <a:off x="6003427" y="4618814"/>
            <a:ext cx="554237" cy="323305"/>
          </a:xfrm>
          <a:prstGeom prst="rightArrow">
            <a:avLst>
              <a:gd fmla="val 50000" name="adj1"/>
              <a:gd fmla="val 50000" name="adj2"/>
            </a:avLst>
          </a:prstGeom>
          <a:solidFill>
            <a:srgbClr val="805AD5"/>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2" name="Google Shape;272;p10"/>
          <p:cNvSpPr/>
          <p:nvPr/>
        </p:nvSpPr>
        <p:spPr>
          <a:xfrm>
            <a:off x="6742410" y="4452542"/>
            <a:ext cx="2124576" cy="646610"/>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pdf-workers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277" name="Shape 277"/>
        <p:cNvGrpSpPr/>
        <p:nvPr/>
      </p:nvGrpSpPr>
      <p:grpSpPr>
        <a:xfrm>
          <a:off x="0" y="0"/>
          <a:ext cx="0" cy="0"/>
          <a:chOff x="0" y="0"/>
          <a:chExt cx="0" cy="0"/>
        </a:xfrm>
      </p:grpSpPr>
      <p:sp>
        <p:nvSpPr>
          <p:cNvPr id="278" name="Google Shape;278;p11"/>
          <p:cNvSpPr/>
          <p:nvPr/>
        </p:nvSpPr>
        <p:spPr>
          <a:xfrm>
            <a:off x="0" y="0"/>
            <a:ext cx="12191695" cy="1005840"/>
          </a:xfrm>
          <a:prstGeom prst="rect">
            <a:avLst/>
          </a:prstGeom>
          <a:solidFill>
            <a:srgbClr val="2B6CB0"/>
          </a:solidFill>
          <a:ln>
            <a:noFill/>
          </a:ln>
          <a:effectLst>
            <a:outerShdw blurRad="40000" rotWithShape="0" dir="5400000" dist="23000">
              <a:srgbClr val="000000">
                <a:alpha val="34902"/>
              </a:srgbClr>
            </a:outerShdw>
          </a:effectLst>
        </p:spPr>
        <p:txBody>
          <a:bodyPr anchorCtr="0" anchor="ctr" bIns="45700" lIns="548625" spcFirstLastPara="1" rIns="91425" wrap="square" tIns="13715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Calibri"/>
                <a:ea typeface="Calibri"/>
                <a:cs typeface="Calibri"/>
                <a:sym typeface="Calibri"/>
              </a:rPr>
              <a:t>Virtual Hosts &amp; Permissions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BEE3F8"/>
                </a:solidFill>
                <a:latin typeface="Calibri"/>
                <a:ea typeface="Calibri"/>
                <a:cs typeface="Calibri"/>
                <a:sym typeface="Calibri"/>
              </a:rPr>
              <a:t>Separate rooms per environment — never share the guest user</a:t>
            </a:r>
            <a:endParaRPr b="0" i="0" sz="1400" u="none" cap="none" strike="noStrike">
              <a:solidFill>
                <a:srgbClr val="000000"/>
              </a:solidFill>
              <a:latin typeface="Arial"/>
              <a:ea typeface="Arial"/>
              <a:cs typeface="Arial"/>
              <a:sym typeface="Arial"/>
            </a:endParaRPr>
          </a:p>
        </p:txBody>
      </p:sp>
      <p:sp>
        <p:nvSpPr>
          <p:cNvPr id="279" name="Google Shape;279;p11"/>
          <p:cNvSpPr/>
          <p:nvPr/>
        </p:nvSpPr>
        <p:spPr>
          <a:xfrm>
            <a:off x="457200" y="6400800"/>
            <a:ext cx="11277295" cy="18288"/>
          </a:xfrm>
          <a:prstGeom prst="rect">
            <a:avLst/>
          </a:prstGeom>
          <a:solidFill>
            <a:srgbClr val="E2E8F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0" name="Google Shape;280;p11"/>
          <p:cNvSpPr txBox="1"/>
          <p:nvPr/>
        </p:nvSpPr>
        <p:spPr>
          <a:xfrm>
            <a:off x="457200" y="6446520"/>
            <a:ext cx="4572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RabbitMQ in Production</a:t>
            </a:r>
            <a:endParaRPr b="0" i="0" sz="1400" u="none" cap="none" strike="noStrike">
              <a:solidFill>
                <a:srgbClr val="000000"/>
              </a:solidFill>
              <a:latin typeface="Arial"/>
              <a:ea typeface="Arial"/>
              <a:cs typeface="Arial"/>
              <a:sym typeface="Arial"/>
            </a:endParaRPr>
          </a:p>
        </p:txBody>
      </p:sp>
      <p:sp>
        <p:nvSpPr>
          <p:cNvPr id="281" name="Google Shape;281;p11"/>
          <p:cNvSpPr txBox="1"/>
          <p:nvPr/>
        </p:nvSpPr>
        <p:spPr>
          <a:xfrm>
            <a:off x="10515600" y="6446520"/>
            <a:ext cx="1371600" cy="32004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11 / 26</a:t>
            </a:r>
            <a:endParaRPr b="0" i="0" sz="1400" u="none" cap="none" strike="noStrike">
              <a:solidFill>
                <a:srgbClr val="000000"/>
              </a:solidFill>
              <a:latin typeface="Arial"/>
              <a:ea typeface="Arial"/>
              <a:cs typeface="Arial"/>
              <a:sym typeface="Arial"/>
            </a:endParaRPr>
          </a:p>
        </p:txBody>
      </p:sp>
      <p:sp>
        <p:nvSpPr>
          <p:cNvPr id="282" name="Google Shape;282;p11"/>
          <p:cNvSpPr txBox="1"/>
          <p:nvPr/>
        </p:nvSpPr>
        <p:spPr>
          <a:xfrm>
            <a:off x="645800" y="1450424"/>
            <a:ext cx="5080508" cy="230932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 Vhost = isolated namespace (exchanges, queues, users)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 Each team/env gets its own vhost (/prod, /staging)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 Users have per-vhost permissions (configure, write, 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 Delete the default 'guest' user in production!</a:t>
            </a:r>
            <a:endParaRPr b="0" i="0" sz="1400" u="none" cap="none" strike="noStrike">
              <a:solidFill>
                <a:srgbClr val="000000"/>
              </a:solidFill>
              <a:latin typeface="Arial"/>
              <a:ea typeface="Arial"/>
              <a:cs typeface="Arial"/>
              <a:sym typeface="Arial"/>
            </a:endParaRPr>
          </a:p>
        </p:txBody>
      </p:sp>
      <p:sp>
        <p:nvSpPr>
          <p:cNvPr id="283" name="Google Shape;283;p11"/>
          <p:cNvSpPr/>
          <p:nvPr/>
        </p:nvSpPr>
        <p:spPr>
          <a:xfrm>
            <a:off x="6465292" y="1542797"/>
            <a:ext cx="5080508" cy="4156780"/>
          </a:xfrm>
          <a:prstGeom prst="roundRect">
            <a:avLst>
              <a:gd fmla="val 16667" name="adj"/>
            </a:avLst>
          </a:prstGeom>
          <a:solidFill>
            <a:srgbClr val="EBF8FF"/>
          </a:solidFill>
          <a:ln cap="flat" cmpd="sng" w="25400">
            <a:solidFill>
              <a:srgbClr val="2B6CB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37150"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2B6CB0"/>
                </a:solidFill>
                <a:latin typeface="Calibri"/>
                <a:ea typeface="Calibri"/>
                <a:cs typeface="Calibri"/>
                <a:sym typeface="Calibri"/>
              </a:rPr>
              <a:t>RabbitMQ Broker</a:t>
            </a:r>
            <a:endParaRPr b="0" i="0" sz="1400" u="none" cap="none" strike="noStrike">
              <a:solidFill>
                <a:srgbClr val="000000"/>
              </a:solidFill>
              <a:latin typeface="Arial"/>
              <a:ea typeface="Arial"/>
              <a:cs typeface="Arial"/>
              <a:sym typeface="Arial"/>
            </a:endParaRPr>
          </a:p>
        </p:txBody>
      </p:sp>
      <p:sp>
        <p:nvSpPr>
          <p:cNvPr id="284" name="Google Shape;284;p11"/>
          <p:cNvSpPr/>
          <p:nvPr/>
        </p:nvSpPr>
        <p:spPr>
          <a:xfrm>
            <a:off x="6878575" y="2062869"/>
            <a:ext cx="2032325" cy="1385593"/>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Calibri"/>
                <a:ea typeface="Calibri"/>
                <a:cs typeface="Calibri"/>
                <a:sym typeface="Calibri"/>
              </a:rPr>
              <a:t>/prod</a:t>
            </a:r>
            <a:br>
              <a:rPr b="1" i="0" lang="en-US" sz="1300" u="none" cap="none" strike="noStrike">
                <a:solidFill>
                  <a:srgbClr val="FFFFFF"/>
                </a:solidFill>
                <a:latin typeface="Calibri"/>
                <a:ea typeface="Calibri"/>
                <a:cs typeface="Calibri"/>
                <a:sym typeface="Calibri"/>
              </a:rPr>
            </a:br>
            <a:br>
              <a:rPr b="1" i="0" lang="en-US" sz="1300" u="none" cap="none" strike="noStrike">
                <a:solidFill>
                  <a:srgbClr val="FFFFFF"/>
                </a:solidFill>
                <a:latin typeface="Calibri"/>
                <a:ea typeface="Calibri"/>
                <a:cs typeface="Calibri"/>
                <a:sym typeface="Calibri"/>
              </a:rPr>
            </a:br>
            <a:r>
              <a:rPr b="1" i="0" lang="en-US" sz="1300" u="none" cap="none" strike="noStrike">
                <a:solidFill>
                  <a:srgbClr val="FFFFFF"/>
                </a:solidFill>
                <a:latin typeface="Calibri"/>
                <a:ea typeface="Calibri"/>
                <a:cs typeface="Calibri"/>
                <a:sym typeface="Calibri"/>
              </a:rPr>
              <a:t>🔒 Team A</a:t>
            </a:r>
            <a:endParaRPr b="0" i="0" sz="1400" u="none" cap="none" strike="noStrike">
              <a:solidFill>
                <a:srgbClr val="000000"/>
              </a:solidFill>
              <a:latin typeface="Arial"/>
              <a:ea typeface="Arial"/>
              <a:cs typeface="Arial"/>
              <a:sym typeface="Arial"/>
            </a:endParaRPr>
          </a:p>
        </p:txBody>
      </p:sp>
      <p:sp>
        <p:nvSpPr>
          <p:cNvPr id="285" name="Google Shape;285;p11"/>
          <p:cNvSpPr/>
          <p:nvPr/>
        </p:nvSpPr>
        <p:spPr>
          <a:xfrm>
            <a:off x="9144004" y="2062869"/>
            <a:ext cx="2032325" cy="1385593"/>
          </a:xfrm>
          <a:prstGeom prst="roundRect">
            <a:avLst>
              <a:gd fmla="val 16667" name="adj"/>
            </a:avLst>
          </a:prstGeom>
          <a:solidFill>
            <a:srgbClr val="ED8A36"/>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Calibri"/>
                <a:ea typeface="Calibri"/>
                <a:cs typeface="Calibri"/>
                <a:sym typeface="Calibri"/>
              </a:rPr>
              <a:t>/staging</a:t>
            </a:r>
            <a:br>
              <a:rPr b="1" i="0" lang="en-US" sz="1300" u="none" cap="none" strike="noStrike">
                <a:solidFill>
                  <a:srgbClr val="FFFFFF"/>
                </a:solidFill>
                <a:latin typeface="Calibri"/>
                <a:ea typeface="Calibri"/>
                <a:cs typeface="Calibri"/>
                <a:sym typeface="Calibri"/>
              </a:rPr>
            </a:br>
            <a:br>
              <a:rPr b="1" i="0" lang="en-US" sz="1300" u="none" cap="none" strike="noStrike">
                <a:solidFill>
                  <a:srgbClr val="FFFFFF"/>
                </a:solidFill>
                <a:latin typeface="Calibri"/>
                <a:ea typeface="Calibri"/>
                <a:cs typeface="Calibri"/>
                <a:sym typeface="Calibri"/>
              </a:rPr>
            </a:br>
            <a:r>
              <a:rPr b="1" i="0" lang="en-US" sz="1300" u="none" cap="none" strike="noStrike">
                <a:solidFill>
                  <a:srgbClr val="FFFFFF"/>
                </a:solidFill>
                <a:latin typeface="Calibri"/>
                <a:ea typeface="Calibri"/>
                <a:cs typeface="Calibri"/>
                <a:sym typeface="Calibri"/>
              </a:rPr>
              <a:t>🧪 Team B</a:t>
            </a:r>
            <a:endParaRPr b="0" i="0" sz="1400" u="none" cap="none" strike="noStrike">
              <a:solidFill>
                <a:srgbClr val="000000"/>
              </a:solidFill>
              <a:latin typeface="Arial"/>
              <a:ea typeface="Arial"/>
              <a:cs typeface="Arial"/>
              <a:sym typeface="Arial"/>
            </a:endParaRPr>
          </a:p>
        </p:txBody>
      </p:sp>
      <p:sp>
        <p:nvSpPr>
          <p:cNvPr id="286" name="Google Shape;286;p11"/>
          <p:cNvSpPr/>
          <p:nvPr/>
        </p:nvSpPr>
        <p:spPr>
          <a:xfrm>
            <a:off x="6834783" y="4036864"/>
            <a:ext cx="4341525" cy="554237"/>
          </a:xfrm>
          <a:prstGeom prst="roundRect">
            <a:avLst>
              <a:gd fmla="val 16667" name="adj"/>
            </a:avLst>
          </a:prstGeom>
          <a:solidFill>
            <a:srgbClr val="E53E3E"/>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Calibri"/>
                <a:ea typeface="Calibri"/>
                <a:cs typeface="Calibri"/>
                <a:sym typeface="Calibri"/>
              </a:rPr>
              <a:t>⚠️  /default — remove guest user!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291" name="Shape 291"/>
        <p:cNvGrpSpPr/>
        <p:nvPr/>
      </p:nvGrpSpPr>
      <p:grpSpPr>
        <a:xfrm>
          <a:off x="0" y="0"/>
          <a:ext cx="0" cy="0"/>
          <a:chOff x="0" y="0"/>
          <a:chExt cx="0" cy="0"/>
        </a:xfrm>
      </p:grpSpPr>
      <p:sp>
        <p:nvSpPr>
          <p:cNvPr id="292" name="Google Shape;292;p12"/>
          <p:cNvSpPr/>
          <p:nvPr/>
        </p:nvSpPr>
        <p:spPr>
          <a:xfrm>
            <a:off x="0" y="0"/>
            <a:ext cx="12191695" cy="1005840"/>
          </a:xfrm>
          <a:prstGeom prst="rect">
            <a:avLst/>
          </a:prstGeom>
          <a:solidFill>
            <a:srgbClr val="2B6CB0"/>
          </a:solidFill>
          <a:ln>
            <a:noFill/>
          </a:ln>
          <a:effectLst>
            <a:outerShdw blurRad="40000" rotWithShape="0" dir="5400000" dist="23000">
              <a:srgbClr val="000000">
                <a:alpha val="34902"/>
              </a:srgbClr>
            </a:outerShdw>
          </a:effectLst>
        </p:spPr>
        <p:txBody>
          <a:bodyPr anchorCtr="0" anchor="ctr" bIns="45700" lIns="548625" spcFirstLastPara="1" rIns="91425" wrap="square" tIns="13715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Calibri"/>
                <a:ea typeface="Calibri"/>
                <a:cs typeface="Calibri"/>
                <a:sym typeface="Calibri"/>
              </a:rPr>
              <a:t>Connections &amp; Channels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BEE3F8"/>
                </a:solidFill>
                <a:latin typeface="Calibri"/>
                <a:ea typeface="Calibri"/>
                <a:cs typeface="Calibri"/>
                <a:sym typeface="Calibri"/>
              </a:rPr>
              <a:t>One TCP connection, many lightweight channels inside (AMQP 0-9-1)</a:t>
            </a:r>
            <a:endParaRPr b="0" i="0" sz="1400" u="none" cap="none" strike="noStrike">
              <a:solidFill>
                <a:srgbClr val="000000"/>
              </a:solidFill>
              <a:latin typeface="Arial"/>
              <a:ea typeface="Arial"/>
              <a:cs typeface="Arial"/>
              <a:sym typeface="Arial"/>
            </a:endParaRPr>
          </a:p>
        </p:txBody>
      </p:sp>
      <p:sp>
        <p:nvSpPr>
          <p:cNvPr id="293" name="Google Shape;293;p12"/>
          <p:cNvSpPr/>
          <p:nvPr/>
        </p:nvSpPr>
        <p:spPr>
          <a:xfrm>
            <a:off x="457200" y="6400800"/>
            <a:ext cx="11277295" cy="18288"/>
          </a:xfrm>
          <a:prstGeom prst="rect">
            <a:avLst/>
          </a:prstGeom>
          <a:solidFill>
            <a:srgbClr val="E2E8F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4" name="Google Shape;294;p12"/>
          <p:cNvSpPr txBox="1"/>
          <p:nvPr/>
        </p:nvSpPr>
        <p:spPr>
          <a:xfrm>
            <a:off x="457200" y="6446520"/>
            <a:ext cx="4572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RabbitMQ in Production</a:t>
            </a:r>
            <a:endParaRPr b="0" i="0" sz="1400" u="none" cap="none" strike="noStrike">
              <a:solidFill>
                <a:srgbClr val="000000"/>
              </a:solidFill>
              <a:latin typeface="Arial"/>
              <a:ea typeface="Arial"/>
              <a:cs typeface="Arial"/>
              <a:sym typeface="Arial"/>
            </a:endParaRPr>
          </a:p>
        </p:txBody>
      </p:sp>
      <p:sp>
        <p:nvSpPr>
          <p:cNvPr id="295" name="Google Shape;295;p12"/>
          <p:cNvSpPr txBox="1"/>
          <p:nvPr/>
        </p:nvSpPr>
        <p:spPr>
          <a:xfrm>
            <a:off x="10515600" y="6446520"/>
            <a:ext cx="1371600" cy="32004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12 / 26</a:t>
            </a:r>
            <a:endParaRPr b="0" i="0" sz="1400" u="none" cap="none" strike="noStrike">
              <a:solidFill>
                <a:srgbClr val="000000"/>
              </a:solidFill>
              <a:latin typeface="Arial"/>
              <a:ea typeface="Arial"/>
              <a:cs typeface="Arial"/>
              <a:sym typeface="Arial"/>
            </a:endParaRPr>
          </a:p>
        </p:txBody>
      </p:sp>
      <p:sp>
        <p:nvSpPr>
          <p:cNvPr id="296" name="Google Shape;296;p12"/>
          <p:cNvSpPr txBox="1"/>
          <p:nvPr/>
        </p:nvSpPr>
        <p:spPr>
          <a:xfrm>
            <a:off x="645800" y="1450000"/>
            <a:ext cx="6180412" cy="280927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2D3A4A"/>
                </a:solidFill>
                <a:latin typeface="Calibri"/>
                <a:ea typeface="Calibri"/>
                <a:cs typeface="Calibri"/>
                <a:sym typeface="Calibri"/>
              </a:rPr>
              <a:t>🔌 Connection = one TCP socket to the broker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2200"/>
              <a:buFont typeface="Arial"/>
              <a:buNone/>
            </a:pPr>
            <a:r>
              <a:rPr b="0" i="0" lang="en-US" sz="2200" u="none" cap="none" strike="noStrike">
                <a:solidFill>
                  <a:srgbClr val="2D3A4A"/>
                </a:solidFill>
                <a:latin typeface="Calibri"/>
                <a:ea typeface="Calibri"/>
                <a:cs typeface="Calibri"/>
                <a:sym typeface="Calibri"/>
              </a:rPr>
              <a:t>📺 Channel = lightweight virtual connection inside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2200"/>
              <a:buFont typeface="Arial"/>
              <a:buNone/>
            </a:pPr>
            <a:r>
              <a:rPr b="0" i="0" lang="en-US" sz="2200" u="none" cap="none" strike="noStrike">
                <a:solidFill>
                  <a:srgbClr val="2D3A4A"/>
                </a:solidFill>
                <a:latin typeface="Calibri"/>
                <a:ea typeface="Calibri"/>
                <a:cs typeface="Calibri"/>
                <a:sym typeface="Calibri"/>
              </a:rPr>
              <a:t>💡 Open 1 connection, create many channels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2200"/>
              <a:buFont typeface="Arial"/>
              <a:buNone/>
            </a:pPr>
            <a:r>
              <a:rPr b="0" i="0" lang="en-US" sz="2200" u="none" cap="none" strike="noStrike">
                <a:solidFill>
                  <a:srgbClr val="2D3A4A"/>
                </a:solidFill>
                <a:latin typeface="Calibri"/>
                <a:ea typeface="Calibri"/>
                <a:cs typeface="Calibri"/>
                <a:sym typeface="Calibri"/>
              </a:rPr>
              <a:t>⚡ Channels are cheap — connections are expensive</a:t>
            </a:r>
            <a:endParaRPr b="0" i="0" sz="1400" u="none" cap="none" strike="noStrike">
              <a:solidFill>
                <a:srgbClr val="000000"/>
              </a:solidFill>
              <a:latin typeface="Arial"/>
              <a:ea typeface="Arial"/>
              <a:cs typeface="Arial"/>
              <a:sym typeface="Arial"/>
            </a:endParaRPr>
          </a:p>
        </p:txBody>
      </p:sp>
      <p:sp>
        <p:nvSpPr>
          <p:cNvPr id="297" name="Google Shape;297;p12"/>
          <p:cNvSpPr/>
          <p:nvPr/>
        </p:nvSpPr>
        <p:spPr>
          <a:xfrm>
            <a:off x="758171" y="4596392"/>
            <a:ext cx="2022680" cy="898969"/>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Calibri"/>
                <a:ea typeface="Calibri"/>
                <a:cs typeface="Calibri"/>
                <a:sym typeface="Calibri"/>
              </a:rPr>
              <a:t>Application</a:t>
            </a:r>
            <a:endParaRPr b="0" i="0" sz="1400" u="none" cap="none" strike="noStrike">
              <a:solidFill>
                <a:srgbClr val="000000"/>
              </a:solidFill>
              <a:latin typeface="Arial"/>
              <a:ea typeface="Arial"/>
              <a:cs typeface="Arial"/>
              <a:sym typeface="Arial"/>
            </a:endParaRPr>
          </a:p>
        </p:txBody>
      </p:sp>
      <p:sp>
        <p:nvSpPr>
          <p:cNvPr id="298" name="Google Shape;298;p12"/>
          <p:cNvSpPr/>
          <p:nvPr/>
        </p:nvSpPr>
        <p:spPr>
          <a:xfrm>
            <a:off x="3230336" y="4034536"/>
            <a:ext cx="5056701" cy="2022680"/>
          </a:xfrm>
          <a:prstGeom prst="roundRect">
            <a:avLst>
              <a:gd fmla="val 16667" name="adj"/>
            </a:avLst>
          </a:prstGeom>
          <a:solidFill>
            <a:srgbClr val="EBF8FF"/>
          </a:solidFill>
          <a:ln cap="flat" cmpd="sng" w="25400">
            <a:solidFill>
              <a:srgbClr val="2B6CB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2B6CB0"/>
                </a:solidFill>
                <a:latin typeface="Calibri"/>
                <a:ea typeface="Calibri"/>
                <a:cs typeface="Calibri"/>
                <a:sym typeface="Calibri"/>
              </a:rPr>
              <a:t>1 TCP Connection</a:t>
            </a:r>
            <a:endParaRPr b="0" i="0" sz="1400" u="none" cap="none" strike="noStrike">
              <a:solidFill>
                <a:srgbClr val="000000"/>
              </a:solidFill>
              <a:latin typeface="Arial"/>
              <a:ea typeface="Arial"/>
              <a:cs typeface="Arial"/>
              <a:sym typeface="Arial"/>
            </a:endParaRPr>
          </a:p>
        </p:txBody>
      </p:sp>
      <p:sp>
        <p:nvSpPr>
          <p:cNvPr id="299" name="Google Shape;299;p12"/>
          <p:cNvSpPr/>
          <p:nvPr/>
        </p:nvSpPr>
        <p:spPr>
          <a:xfrm>
            <a:off x="3005594" y="4849229"/>
            <a:ext cx="449411" cy="393373"/>
          </a:xfrm>
          <a:prstGeom prst="rightArrow">
            <a:avLst>
              <a:gd fmla="val 50000" name="adj1"/>
              <a:gd fmla="val 50000" name="adj2"/>
            </a:avLst>
          </a:prstGeom>
          <a:solidFill>
            <a:srgbClr val="A0AEC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p:txBody>
      </p:sp>
      <p:sp>
        <p:nvSpPr>
          <p:cNvPr id="300" name="Google Shape;300;p12"/>
          <p:cNvSpPr/>
          <p:nvPr/>
        </p:nvSpPr>
        <p:spPr>
          <a:xfrm>
            <a:off x="3567456" y="4349283"/>
            <a:ext cx="1191178" cy="393373"/>
          </a:xfrm>
          <a:prstGeom prst="roundRect">
            <a:avLst>
              <a:gd fmla="val 16667" name="adj"/>
            </a:avLst>
          </a:prstGeom>
          <a:solidFill>
            <a:srgbClr val="2B6CB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Channel 1</a:t>
            </a:r>
            <a:endParaRPr b="0" i="0" sz="1400" u="none" cap="none" strike="noStrike">
              <a:solidFill>
                <a:srgbClr val="000000"/>
              </a:solidFill>
              <a:latin typeface="Arial"/>
              <a:ea typeface="Arial"/>
              <a:cs typeface="Arial"/>
              <a:sym typeface="Arial"/>
            </a:endParaRPr>
          </a:p>
        </p:txBody>
      </p:sp>
      <p:sp>
        <p:nvSpPr>
          <p:cNvPr id="301" name="Google Shape;301;p12"/>
          <p:cNvSpPr/>
          <p:nvPr/>
        </p:nvSpPr>
        <p:spPr>
          <a:xfrm>
            <a:off x="3540724" y="4832673"/>
            <a:ext cx="1244636" cy="393373"/>
          </a:xfrm>
          <a:prstGeom prst="roundRect">
            <a:avLst>
              <a:gd fmla="val 16667" name="adj"/>
            </a:avLst>
          </a:prstGeom>
          <a:solidFill>
            <a:srgbClr val="2B6CB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Channel 2</a:t>
            </a:r>
            <a:endParaRPr b="0" i="0" sz="1400" u="none" cap="none" strike="noStrike">
              <a:solidFill>
                <a:srgbClr val="000000"/>
              </a:solidFill>
              <a:latin typeface="Arial"/>
              <a:ea typeface="Arial"/>
              <a:cs typeface="Arial"/>
              <a:sym typeface="Arial"/>
            </a:endParaRPr>
          </a:p>
        </p:txBody>
      </p:sp>
      <p:sp>
        <p:nvSpPr>
          <p:cNvPr id="302" name="Google Shape;302;p12"/>
          <p:cNvSpPr/>
          <p:nvPr/>
        </p:nvSpPr>
        <p:spPr>
          <a:xfrm>
            <a:off x="3540727" y="5387248"/>
            <a:ext cx="1244636" cy="393373"/>
          </a:xfrm>
          <a:prstGeom prst="roundRect">
            <a:avLst>
              <a:gd fmla="val 16667" name="adj"/>
            </a:avLst>
          </a:prstGeom>
          <a:solidFill>
            <a:srgbClr val="2B6CB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Channel 3</a:t>
            </a:r>
            <a:endParaRPr b="0" i="0" sz="1400" u="none" cap="none" strike="noStrike">
              <a:solidFill>
                <a:srgbClr val="000000"/>
              </a:solidFill>
              <a:latin typeface="Arial"/>
              <a:ea typeface="Arial"/>
              <a:cs typeface="Arial"/>
              <a:sym typeface="Arial"/>
            </a:endParaRPr>
          </a:p>
        </p:txBody>
      </p:sp>
      <p:sp>
        <p:nvSpPr>
          <p:cNvPr id="303" name="Google Shape;303;p12"/>
          <p:cNvSpPr/>
          <p:nvPr/>
        </p:nvSpPr>
        <p:spPr>
          <a:xfrm>
            <a:off x="8511779" y="4798660"/>
            <a:ext cx="561856" cy="393299"/>
          </a:xfrm>
          <a:prstGeom prst="rightArrow">
            <a:avLst>
              <a:gd fmla="val 50000" name="adj1"/>
              <a:gd fmla="val 50000" name="adj2"/>
            </a:avLst>
          </a:prstGeom>
          <a:solidFill>
            <a:srgbClr val="A0AEC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p:txBody>
      </p:sp>
      <p:sp>
        <p:nvSpPr>
          <p:cNvPr id="304" name="Google Shape;304;p12"/>
          <p:cNvSpPr/>
          <p:nvPr/>
        </p:nvSpPr>
        <p:spPr>
          <a:xfrm>
            <a:off x="9298377" y="4596392"/>
            <a:ext cx="2247423" cy="898969"/>
          </a:xfrm>
          <a:prstGeom prst="roundRect">
            <a:avLst>
              <a:gd fmla="val 16667" name="adj"/>
            </a:avLst>
          </a:prstGeom>
          <a:solidFill>
            <a:srgbClr val="ED8A36"/>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Calibri"/>
                <a:ea typeface="Calibri"/>
                <a:cs typeface="Calibri"/>
                <a:sym typeface="Calibri"/>
              </a:rPr>
              <a:t>RabbitMQ</a:t>
            </a:r>
            <a:br>
              <a:rPr b="1" i="0" lang="en-US" sz="1700" u="none" cap="none" strike="noStrike">
                <a:solidFill>
                  <a:srgbClr val="FFFFFF"/>
                </a:solidFill>
                <a:latin typeface="Calibri"/>
                <a:ea typeface="Calibri"/>
                <a:cs typeface="Calibri"/>
                <a:sym typeface="Calibri"/>
              </a:rPr>
            </a:br>
            <a:r>
              <a:rPr b="1" i="0" lang="en-US" sz="1700" u="none" cap="none" strike="noStrike">
                <a:solidFill>
                  <a:srgbClr val="FFFFFF"/>
                </a:solidFill>
                <a:latin typeface="Calibri"/>
                <a:ea typeface="Calibri"/>
                <a:cs typeface="Calibri"/>
                <a:sym typeface="Calibri"/>
              </a:rPr>
              <a:t>Broker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309" name="Shape 309"/>
        <p:cNvGrpSpPr/>
        <p:nvPr/>
      </p:nvGrpSpPr>
      <p:grpSpPr>
        <a:xfrm>
          <a:off x="0" y="0"/>
          <a:ext cx="0" cy="0"/>
          <a:chOff x="0" y="0"/>
          <a:chExt cx="0" cy="0"/>
        </a:xfrm>
      </p:grpSpPr>
      <p:sp>
        <p:nvSpPr>
          <p:cNvPr id="310" name="Google Shape;310;p13"/>
          <p:cNvSpPr/>
          <p:nvPr/>
        </p:nvSpPr>
        <p:spPr>
          <a:xfrm>
            <a:off x="0" y="0"/>
            <a:ext cx="12191695" cy="1005840"/>
          </a:xfrm>
          <a:prstGeom prst="rect">
            <a:avLst/>
          </a:prstGeom>
          <a:solidFill>
            <a:srgbClr val="2B6CB0"/>
          </a:solidFill>
          <a:ln>
            <a:noFill/>
          </a:ln>
          <a:effectLst>
            <a:outerShdw blurRad="40000" rotWithShape="0" dir="5400000" dist="23000">
              <a:srgbClr val="000000">
                <a:alpha val="34902"/>
              </a:srgbClr>
            </a:outerShdw>
          </a:effectLst>
        </p:spPr>
        <p:txBody>
          <a:bodyPr anchorCtr="0" anchor="ctr" bIns="45700" lIns="548625" spcFirstLastPara="1" rIns="91425" wrap="square" tIns="13715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Calibri"/>
                <a:ea typeface="Calibri"/>
                <a:cs typeface="Calibri"/>
                <a:sym typeface="Calibri"/>
              </a:rPr>
              <a:t>Where Can Messages Get Lost?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BEE3F8"/>
                </a:solidFill>
                <a:latin typeface="Calibri"/>
                <a:ea typeface="Calibri"/>
                <a:cs typeface="Calibri"/>
                <a:sym typeface="Calibri"/>
              </a:rPr>
              <a:t>Three risk points and their safety nets</a:t>
            </a:r>
            <a:endParaRPr b="0" i="0" sz="1400" u="none" cap="none" strike="noStrike">
              <a:solidFill>
                <a:srgbClr val="000000"/>
              </a:solidFill>
              <a:latin typeface="Arial"/>
              <a:ea typeface="Arial"/>
              <a:cs typeface="Arial"/>
              <a:sym typeface="Arial"/>
            </a:endParaRPr>
          </a:p>
        </p:txBody>
      </p:sp>
      <p:sp>
        <p:nvSpPr>
          <p:cNvPr id="311" name="Google Shape;311;p13"/>
          <p:cNvSpPr/>
          <p:nvPr/>
        </p:nvSpPr>
        <p:spPr>
          <a:xfrm>
            <a:off x="457200" y="6400800"/>
            <a:ext cx="11277295" cy="18288"/>
          </a:xfrm>
          <a:prstGeom prst="rect">
            <a:avLst/>
          </a:prstGeom>
          <a:solidFill>
            <a:srgbClr val="E2E8F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2" name="Google Shape;312;p13"/>
          <p:cNvSpPr txBox="1"/>
          <p:nvPr/>
        </p:nvSpPr>
        <p:spPr>
          <a:xfrm>
            <a:off x="457200" y="6446520"/>
            <a:ext cx="4572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RabbitMQ in Production</a:t>
            </a:r>
            <a:endParaRPr b="0" i="0" sz="1400" u="none" cap="none" strike="noStrike">
              <a:solidFill>
                <a:srgbClr val="000000"/>
              </a:solidFill>
              <a:latin typeface="Arial"/>
              <a:ea typeface="Arial"/>
              <a:cs typeface="Arial"/>
              <a:sym typeface="Arial"/>
            </a:endParaRPr>
          </a:p>
        </p:txBody>
      </p:sp>
      <p:sp>
        <p:nvSpPr>
          <p:cNvPr id="313" name="Google Shape;313;p13"/>
          <p:cNvSpPr txBox="1"/>
          <p:nvPr/>
        </p:nvSpPr>
        <p:spPr>
          <a:xfrm>
            <a:off x="10515600" y="6446520"/>
            <a:ext cx="1371600" cy="32004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13 / 26</a:t>
            </a:r>
            <a:endParaRPr b="0" i="0" sz="1400" u="none" cap="none" strike="noStrike">
              <a:solidFill>
                <a:srgbClr val="000000"/>
              </a:solidFill>
              <a:latin typeface="Arial"/>
              <a:ea typeface="Arial"/>
              <a:cs typeface="Arial"/>
              <a:sym typeface="Arial"/>
            </a:endParaRPr>
          </a:p>
        </p:txBody>
      </p:sp>
      <p:sp>
        <p:nvSpPr>
          <p:cNvPr id="314" name="Google Shape;314;p13"/>
          <p:cNvSpPr txBox="1"/>
          <p:nvPr/>
        </p:nvSpPr>
        <p:spPr>
          <a:xfrm>
            <a:off x="645800" y="1727542"/>
            <a:ext cx="5080508" cy="230932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❶ Producer → Broker: message lost in transit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❷ Inside Broker: server crash, queue not durable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❸ Broker → Consumer: consumer crashes mid-processing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Each risk has a fix — we'll cover them next</a:t>
            </a:r>
            <a:endParaRPr b="0" i="0" sz="1400" u="none" cap="none" strike="noStrike">
              <a:solidFill>
                <a:srgbClr val="000000"/>
              </a:solidFill>
              <a:latin typeface="Arial"/>
              <a:ea typeface="Arial"/>
              <a:cs typeface="Arial"/>
              <a:sym typeface="Arial"/>
            </a:endParaRPr>
          </a:p>
        </p:txBody>
      </p:sp>
      <p:sp>
        <p:nvSpPr>
          <p:cNvPr id="315" name="Google Shape;315;p13"/>
          <p:cNvSpPr/>
          <p:nvPr/>
        </p:nvSpPr>
        <p:spPr>
          <a:xfrm>
            <a:off x="738173" y="4406356"/>
            <a:ext cx="1385593" cy="646610"/>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Producer</a:t>
            </a:r>
            <a:endParaRPr b="0" i="0" sz="1400" u="none" cap="none" strike="noStrike">
              <a:solidFill>
                <a:srgbClr val="000000"/>
              </a:solidFill>
              <a:latin typeface="Arial"/>
              <a:ea typeface="Arial"/>
              <a:cs typeface="Arial"/>
              <a:sym typeface="Arial"/>
            </a:endParaRPr>
          </a:p>
        </p:txBody>
      </p:sp>
      <p:sp>
        <p:nvSpPr>
          <p:cNvPr id="316" name="Google Shape;316;p13"/>
          <p:cNvSpPr/>
          <p:nvPr/>
        </p:nvSpPr>
        <p:spPr>
          <a:xfrm>
            <a:off x="2308512" y="4572627"/>
            <a:ext cx="738983" cy="323305"/>
          </a:xfrm>
          <a:prstGeom prst="rightArrow">
            <a:avLst>
              <a:gd fmla="val 50000" name="adj1"/>
              <a:gd fmla="val 50000" name="adj2"/>
            </a:avLst>
          </a:prstGeom>
          <a:solidFill>
            <a:srgbClr val="E53E3E"/>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7" name="Google Shape;317;p13"/>
          <p:cNvSpPr txBox="1"/>
          <p:nvPr/>
        </p:nvSpPr>
        <p:spPr>
          <a:xfrm>
            <a:off x="2308512" y="4083051"/>
            <a:ext cx="923729" cy="27711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E53E3E"/>
                </a:solidFill>
                <a:latin typeface="Calibri"/>
                <a:ea typeface="Calibri"/>
                <a:cs typeface="Calibri"/>
                <a:sym typeface="Calibri"/>
              </a:rPr>
              <a:t>⚠ Risk 1</a:t>
            </a:r>
            <a:endParaRPr b="0" i="0" sz="1400" u="none" cap="none" strike="noStrike">
              <a:solidFill>
                <a:srgbClr val="000000"/>
              </a:solidFill>
              <a:latin typeface="Arial"/>
              <a:ea typeface="Arial"/>
              <a:cs typeface="Arial"/>
              <a:sym typeface="Arial"/>
            </a:endParaRPr>
          </a:p>
        </p:txBody>
      </p:sp>
      <p:sp>
        <p:nvSpPr>
          <p:cNvPr id="318" name="Google Shape;318;p13"/>
          <p:cNvSpPr/>
          <p:nvPr/>
        </p:nvSpPr>
        <p:spPr>
          <a:xfrm>
            <a:off x="3232241" y="4406356"/>
            <a:ext cx="1847458" cy="646610"/>
          </a:xfrm>
          <a:prstGeom prst="roundRect">
            <a:avLst>
              <a:gd fmla="val 16667" name="adj"/>
            </a:avLst>
          </a:prstGeom>
          <a:solidFill>
            <a:srgbClr val="ED8A36"/>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Broker</a:t>
            </a:r>
            <a:endParaRPr b="0" i="0" sz="1400" u="none" cap="none" strike="noStrike">
              <a:solidFill>
                <a:srgbClr val="000000"/>
              </a:solidFill>
              <a:latin typeface="Arial"/>
              <a:ea typeface="Arial"/>
              <a:cs typeface="Arial"/>
              <a:sym typeface="Arial"/>
            </a:endParaRPr>
          </a:p>
        </p:txBody>
      </p:sp>
      <p:sp>
        <p:nvSpPr>
          <p:cNvPr id="319" name="Google Shape;319;p13"/>
          <p:cNvSpPr txBox="1"/>
          <p:nvPr/>
        </p:nvSpPr>
        <p:spPr>
          <a:xfrm>
            <a:off x="3509359" y="5099153"/>
            <a:ext cx="1385593" cy="27711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E53E3E"/>
                </a:solidFill>
                <a:latin typeface="Calibri"/>
                <a:ea typeface="Calibri"/>
                <a:cs typeface="Calibri"/>
                <a:sym typeface="Calibri"/>
              </a:rPr>
              <a:t>⚠ Risk 2</a:t>
            </a:r>
            <a:endParaRPr b="0" i="0" sz="1400" u="none" cap="none" strike="noStrike">
              <a:solidFill>
                <a:srgbClr val="000000"/>
              </a:solidFill>
              <a:latin typeface="Arial"/>
              <a:ea typeface="Arial"/>
              <a:cs typeface="Arial"/>
              <a:sym typeface="Arial"/>
            </a:endParaRPr>
          </a:p>
        </p:txBody>
      </p:sp>
      <p:sp>
        <p:nvSpPr>
          <p:cNvPr id="320" name="Google Shape;320;p13"/>
          <p:cNvSpPr/>
          <p:nvPr/>
        </p:nvSpPr>
        <p:spPr>
          <a:xfrm>
            <a:off x="5264444" y="4572627"/>
            <a:ext cx="738983" cy="323305"/>
          </a:xfrm>
          <a:prstGeom prst="rightArrow">
            <a:avLst>
              <a:gd fmla="val 50000" name="adj1"/>
              <a:gd fmla="val 50000" name="adj2"/>
            </a:avLst>
          </a:prstGeom>
          <a:solidFill>
            <a:srgbClr val="E53E3E"/>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1" name="Google Shape;321;p13"/>
          <p:cNvSpPr txBox="1"/>
          <p:nvPr/>
        </p:nvSpPr>
        <p:spPr>
          <a:xfrm>
            <a:off x="5264444" y="4083051"/>
            <a:ext cx="923729" cy="27711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E53E3E"/>
                </a:solidFill>
                <a:latin typeface="Calibri"/>
                <a:ea typeface="Calibri"/>
                <a:cs typeface="Calibri"/>
                <a:sym typeface="Calibri"/>
              </a:rPr>
              <a:t>⚠ Risk 3</a:t>
            </a:r>
            <a:endParaRPr b="0" i="0" sz="1400" u="none" cap="none" strike="noStrike">
              <a:solidFill>
                <a:srgbClr val="000000"/>
              </a:solidFill>
              <a:latin typeface="Arial"/>
              <a:ea typeface="Arial"/>
              <a:cs typeface="Arial"/>
              <a:sym typeface="Arial"/>
            </a:endParaRPr>
          </a:p>
        </p:txBody>
      </p:sp>
      <p:sp>
        <p:nvSpPr>
          <p:cNvPr id="322" name="Google Shape;322;p13"/>
          <p:cNvSpPr/>
          <p:nvPr/>
        </p:nvSpPr>
        <p:spPr>
          <a:xfrm>
            <a:off x="6188173" y="4406356"/>
            <a:ext cx="1570339" cy="646610"/>
          </a:xfrm>
          <a:prstGeom prst="roundRect">
            <a:avLst>
              <a:gd fmla="val 16667" name="adj"/>
            </a:avLst>
          </a:prstGeom>
          <a:solidFill>
            <a:srgbClr val="2B6CB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Consumer</a:t>
            </a:r>
            <a:endParaRPr b="0" i="0" sz="1400" u="none" cap="none" strike="noStrike">
              <a:solidFill>
                <a:srgbClr val="000000"/>
              </a:solidFill>
              <a:latin typeface="Arial"/>
              <a:ea typeface="Arial"/>
              <a:cs typeface="Arial"/>
              <a:sym typeface="Arial"/>
            </a:endParaRPr>
          </a:p>
        </p:txBody>
      </p:sp>
      <p:sp>
        <p:nvSpPr>
          <p:cNvPr id="323" name="Google Shape;323;p13"/>
          <p:cNvSpPr/>
          <p:nvPr/>
        </p:nvSpPr>
        <p:spPr>
          <a:xfrm>
            <a:off x="8312749" y="4129237"/>
            <a:ext cx="3233051" cy="369492"/>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Calibri"/>
                <a:ea typeface="Calibri"/>
                <a:cs typeface="Calibri"/>
                <a:sym typeface="Calibri"/>
              </a:rPr>
              <a:t>Fix 1: Publisher confirms</a:t>
            </a:r>
            <a:endParaRPr b="0" i="0" sz="1400" u="none" cap="none" strike="noStrike">
              <a:solidFill>
                <a:srgbClr val="000000"/>
              </a:solidFill>
              <a:latin typeface="Arial"/>
              <a:ea typeface="Arial"/>
              <a:cs typeface="Arial"/>
              <a:sym typeface="Arial"/>
            </a:endParaRPr>
          </a:p>
        </p:txBody>
      </p:sp>
      <p:sp>
        <p:nvSpPr>
          <p:cNvPr id="324" name="Google Shape;324;p13"/>
          <p:cNvSpPr/>
          <p:nvPr/>
        </p:nvSpPr>
        <p:spPr>
          <a:xfrm>
            <a:off x="8312749" y="4591102"/>
            <a:ext cx="3233051" cy="369492"/>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Calibri"/>
                <a:ea typeface="Calibri"/>
                <a:cs typeface="Calibri"/>
                <a:sym typeface="Calibri"/>
              </a:rPr>
              <a:t>Fix 2: Durable queue + persistent msg</a:t>
            </a:r>
            <a:endParaRPr b="0" i="0" sz="1400" u="none" cap="none" strike="noStrike">
              <a:solidFill>
                <a:srgbClr val="000000"/>
              </a:solidFill>
              <a:latin typeface="Arial"/>
              <a:ea typeface="Arial"/>
              <a:cs typeface="Arial"/>
              <a:sym typeface="Arial"/>
            </a:endParaRPr>
          </a:p>
        </p:txBody>
      </p:sp>
      <p:sp>
        <p:nvSpPr>
          <p:cNvPr id="325" name="Google Shape;325;p13"/>
          <p:cNvSpPr/>
          <p:nvPr/>
        </p:nvSpPr>
        <p:spPr>
          <a:xfrm>
            <a:off x="8312749" y="5052966"/>
            <a:ext cx="3233051" cy="369492"/>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Calibri"/>
                <a:ea typeface="Calibri"/>
                <a:cs typeface="Calibri"/>
                <a:sym typeface="Calibri"/>
              </a:rPr>
              <a:t>Fix 3: Manual acknowledgements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330" name="Shape 330"/>
        <p:cNvGrpSpPr/>
        <p:nvPr/>
      </p:nvGrpSpPr>
      <p:grpSpPr>
        <a:xfrm>
          <a:off x="0" y="0"/>
          <a:ext cx="0" cy="0"/>
          <a:chOff x="0" y="0"/>
          <a:chExt cx="0" cy="0"/>
        </a:xfrm>
      </p:grpSpPr>
      <p:sp>
        <p:nvSpPr>
          <p:cNvPr id="331" name="Google Shape;331;p14"/>
          <p:cNvSpPr/>
          <p:nvPr/>
        </p:nvSpPr>
        <p:spPr>
          <a:xfrm>
            <a:off x="0" y="0"/>
            <a:ext cx="12191695" cy="1005840"/>
          </a:xfrm>
          <a:prstGeom prst="rect">
            <a:avLst/>
          </a:prstGeom>
          <a:solidFill>
            <a:srgbClr val="2B6CB0"/>
          </a:solidFill>
          <a:ln>
            <a:noFill/>
          </a:ln>
          <a:effectLst>
            <a:outerShdw blurRad="40000" rotWithShape="0" dir="5400000" dist="23000">
              <a:srgbClr val="000000">
                <a:alpha val="34902"/>
              </a:srgbClr>
            </a:outerShdw>
          </a:effectLst>
        </p:spPr>
        <p:txBody>
          <a:bodyPr anchorCtr="0" anchor="ctr" bIns="45700" lIns="548625" spcFirstLastPara="1" rIns="91425" wrap="square" tIns="13715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Calibri"/>
                <a:ea typeface="Calibri"/>
                <a:cs typeface="Calibri"/>
                <a:sym typeface="Calibri"/>
              </a:rPr>
              <a:t>Durability = Queue + Message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BEE3F8"/>
                </a:solidFill>
                <a:latin typeface="Calibri"/>
                <a:ea typeface="Calibri"/>
                <a:cs typeface="Calibri"/>
                <a:sym typeface="Calibri"/>
              </a:rPr>
              <a:t>Both must be persistent, or you lose messages on restart</a:t>
            </a:r>
            <a:endParaRPr b="0" i="0" sz="1400" u="none" cap="none" strike="noStrike">
              <a:solidFill>
                <a:srgbClr val="000000"/>
              </a:solidFill>
              <a:latin typeface="Arial"/>
              <a:ea typeface="Arial"/>
              <a:cs typeface="Arial"/>
              <a:sym typeface="Arial"/>
            </a:endParaRPr>
          </a:p>
        </p:txBody>
      </p:sp>
      <p:sp>
        <p:nvSpPr>
          <p:cNvPr id="332" name="Google Shape;332;p14"/>
          <p:cNvSpPr/>
          <p:nvPr/>
        </p:nvSpPr>
        <p:spPr>
          <a:xfrm>
            <a:off x="457200" y="6400800"/>
            <a:ext cx="11277295" cy="18288"/>
          </a:xfrm>
          <a:prstGeom prst="rect">
            <a:avLst/>
          </a:prstGeom>
          <a:solidFill>
            <a:srgbClr val="E2E8F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3" name="Google Shape;333;p14"/>
          <p:cNvSpPr txBox="1"/>
          <p:nvPr/>
        </p:nvSpPr>
        <p:spPr>
          <a:xfrm>
            <a:off x="457200" y="6446520"/>
            <a:ext cx="4572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RabbitMQ in Production</a:t>
            </a:r>
            <a:endParaRPr b="0" i="0" sz="1400" u="none" cap="none" strike="noStrike">
              <a:solidFill>
                <a:srgbClr val="000000"/>
              </a:solidFill>
              <a:latin typeface="Arial"/>
              <a:ea typeface="Arial"/>
              <a:cs typeface="Arial"/>
              <a:sym typeface="Arial"/>
            </a:endParaRPr>
          </a:p>
        </p:txBody>
      </p:sp>
      <p:sp>
        <p:nvSpPr>
          <p:cNvPr id="334" name="Google Shape;334;p14"/>
          <p:cNvSpPr txBox="1"/>
          <p:nvPr/>
        </p:nvSpPr>
        <p:spPr>
          <a:xfrm>
            <a:off x="10515600" y="6446520"/>
            <a:ext cx="1371600" cy="32004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14 / 26</a:t>
            </a:r>
            <a:endParaRPr b="0" i="0" sz="1400" u="none" cap="none" strike="noStrike">
              <a:solidFill>
                <a:srgbClr val="000000"/>
              </a:solidFill>
              <a:latin typeface="Arial"/>
              <a:ea typeface="Arial"/>
              <a:cs typeface="Arial"/>
              <a:sym typeface="Arial"/>
            </a:endParaRPr>
          </a:p>
        </p:txBody>
      </p:sp>
      <p:sp>
        <p:nvSpPr>
          <p:cNvPr id="335" name="Google Shape;335;p14"/>
          <p:cNvSpPr txBox="1"/>
          <p:nvPr/>
        </p:nvSpPr>
        <p:spPr>
          <a:xfrm>
            <a:off x="645800" y="1450000"/>
            <a:ext cx="5080508" cy="203220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  Durable queue: survives broker restart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  Persistent message: written to disk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  Classic queues need BOTH (quorum queues always write to disk)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  Small performance cost, huge reliability gain</a:t>
            </a:r>
            <a:endParaRPr b="0" i="0" sz="1400" u="none" cap="none" strike="noStrike">
              <a:solidFill>
                <a:srgbClr val="000000"/>
              </a:solidFill>
              <a:latin typeface="Arial"/>
              <a:ea typeface="Arial"/>
              <a:cs typeface="Arial"/>
              <a:sym typeface="Arial"/>
            </a:endParaRPr>
          </a:p>
        </p:txBody>
      </p:sp>
      <p:sp>
        <p:nvSpPr>
          <p:cNvPr id="336" name="Google Shape;336;p14"/>
          <p:cNvSpPr/>
          <p:nvPr/>
        </p:nvSpPr>
        <p:spPr>
          <a:xfrm>
            <a:off x="922919" y="3851695"/>
            <a:ext cx="1847458" cy="646610"/>
          </a:xfrm>
          <a:prstGeom prst="roundRect">
            <a:avLst>
              <a:gd fmla="val 16667" name="adj"/>
            </a:avLst>
          </a:prstGeom>
          <a:solidFill>
            <a:srgbClr val="2B6CB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Calibri"/>
                <a:ea typeface="Calibri"/>
                <a:cs typeface="Calibri"/>
                <a:sym typeface="Calibri"/>
              </a:rPr>
              <a:t>Message</a:t>
            </a:r>
            <a:br>
              <a:rPr b="1" i="0" lang="en-US" sz="1300" u="none" cap="none" strike="noStrike">
                <a:solidFill>
                  <a:srgbClr val="FFFFFF"/>
                </a:solidFill>
                <a:latin typeface="Calibri"/>
                <a:ea typeface="Calibri"/>
                <a:cs typeface="Calibri"/>
                <a:sym typeface="Calibri"/>
              </a:rPr>
            </a:br>
            <a:r>
              <a:rPr b="1" i="0" lang="en-US" sz="1300" u="none" cap="none" strike="noStrike">
                <a:solidFill>
                  <a:srgbClr val="FFFFFF"/>
                </a:solidFill>
                <a:latin typeface="Calibri"/>
                <a:ea typeface="Calibri"/>
                <a:cs typeface="Calibri"/>
                <a:sym typeface="Calibri"/>
              </a:rPr>
              <a:t>(persistent)</a:t>
            </a:r>
            <a:endParaRPr b="0" i="0" sz="1400" u="none" cap="none" strike="noStrike">
              <a:solidFill>
                <a:srgbClr val="000000"/>
              </a:solidFill>
              <a:latin typeface="Arial"/>
              <a:ea typeface="Arial"/>
              <a:cs typeface="Arial"/>
              <a:sym typeface="Arial"/>
            </a:endParaRPr>
          </a:p>
        </p:txBody>
      </p:sp>
      <p:sp>
        <p:nvSpPr>
          <p:cNvPr id="337" name="Google Shape;337;p14"/>
          <p:cNvSpPr/>
          <p:nvPr/>
        </p:nvSpPr>
        <p:spPr>
          <a:xfrm>
            <a:off x="2955122" y="4017966"/>
            <a:ext cx="646610" cy="323305"/>
          </a:xfrm>
          <a:prstGeom prst="rightArrow">
            <a:avLst>
              <a:gd fmla="val 50000" name="adj1"/>
              <a:gd fmla="val 50000" name="adj2"/>
            </a:avLst>
          </a:prstGeom>
          <a:solidFill>
            <a:srgbClr val="A0AEC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8" name="Google Shape;338;p14"/>
          <p:cNvSpPr/>
          <p:nvPr/>
        </p:nvSpPr>
        <p:spPr>
          <a:xfrm>
            <a:off x="3786477" y="3851695"/>
            <a:ext cx="2309322" cy="646610"/>
          </a:xfrm>
          <a:prstGeom prst="roundRect">
            <a:avLst>
              <a:gd fmla="val 16667" name="adj"/>
            </a:avLst>
          </a:prstGeom>
          <a:solidFill>
            <a:srgbClr val="ED8A36"/>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Durable Queue</a:t>
            </a:r>
            <a:endParaRPr b="0" i="0" sz="1400" u="none" cap="none" strike="noStrike">
              <a:solidFill>
                <a:srgbClr val="000000"/>
              </a:solidFill>
              <a:latin typeface="Arial"/>
              <a:ea typeface="Arial"/>
              <a:cs typeface="Arial"/>
              <a:sym typeface="Arial"/>
            </a:endParaRPr>
          </a:p>
        </p:txBody>
      </p:sp>
      <p:sp>
        <p:nvSpPr>
          <p:cNvPr id="339" name="Google Shape;339;p14"/>
          <p:cNvSpPr/>
          <p:nvPr/>
        </p:nvSpPr>
        <p:spPr>
          <a:xfrm>
            <a:off x="4617834" y="4590678"/>
            <a:ext cx="323305" cy="461864"/>
          </a:xfrm>
          <a:prstGeom prst="downArrow">
            <a:avLst>
              <a:gd fmla="val 50000" name="adj1"/>
              <a:gd fmla="val 50000" name="adj2"/>
            </a:avLst>
          </a:prstGeom>
          <a:solidFill>
            <a:srgbClr val="38A16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0" name="Google Shape;340;p14"/>
          <p:cNvSpPr/>
          <p:nvPr/>
        </p:nvSpPr>
        <p:spPr>
          <a:xfrm>
            <a:off x="3786477" y="5144916"/>
            <a:ext cx="2309322" cy="646610"/>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 Disk</a:t>
            </a:r>
            <a:endParaRPr b="0" i="0" sz="1400" u="none" cap="none" strike="noStrike">
              <a:solidFill>
                <a:srgbClr val="000000"/>
              </a:solidFill>
              <a:latin typeface="Arial"/>
              <a:ea typeface="Arial"/>
              <a:cs typeface="Arial"/>
              <a:sym typeface="Arial"/>
            </a:endParaRPr>
          </a:p>
        </p:txBody>
      </p:sp>
      <p:sp>
        <p:nvSpPr>
          <p:cNvPr id="341" name="Google Shape;341;p14"/>
          <p:cNvSpPr/>
          <p:nvPr/>
        </p:nvSpPr>
        <p:spPr>
          <a:xfrm>
            <a:off x="6927156" y="3851695"/>
            <a:ext cx="4618644" cy="646610"/>
          </a:xfrm>
          <a:prstGeom prst="roundRect">
            <a:avLst>
              <a:gd fmla="val 16667" name="adj"/>
            </a:avLst>
          </a:prstGeom>
          <a:solidFill>
            <a:srgbClr val="EBF8FF"/>
          </a:solidFill>
          <a:ln cap="flat" cmpd="sng" w="19050">
            <a:solidFill>
              <a:srgbClr val="2B6CB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37150"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rgbClr val="2B6CB0"/>
                </a:solidFill>
                <a:latin typeface="Calibri"/>
                <a:ea typeface="Calibri"/>
                <a:cs typeface="Calibri"/>
                <a:sym typeface="Calibri"/>
              </a:rPr>
              <a:t>💡 In real tech terms: like saving a document — if you don't hit Save (persistent), restarting the computer (broker) loses it.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346" name="Shape 346"/>
        <p:cNvGrpSpPr/>
        <p:nvPr/>
      </p:nvGrpSpPr>
      <p:grpSpPr>
        <a:xfrm>
          <a:off x="0" y="0"/>
          <a:ext cx="0" cy="0"/>
          <a:chOff x="0" y="0"/>
          <a:chExt cx="0" cy="0"/>
        </a:xfrm>
      </p:grpSpPr>
      <p:sp>
        <p:nvSpPr>
          <p:cNvPr id="347" name="Google Shape;347;p15"/>
          <p:cNvSpPr/>
          <p:nvPr/>
        </p:nvSpPr>
        <p:spPr>
          <a:xfrm>
            <a:off x="0" y="0"/>
            <a:ext cx="12191695" cy="1005840"/>
          </a:xfrm>
          <a:prstGeom prst="rect">
            <a:avLst/>
          </a:prstGeom>
          <a:solidFill>
            <a:srgbClr val="2B6CB0"/>
          </a:solidFill>
          <a:ln>
            <a:noFill/>
          </a:ln>
          <a:effectLst>
            <a:outerShdw blurRad="40000" rotWithShape="0" dir="5400000" dist="23000">
              <a:srgbClr val="000000">
                <a:alpha val="34902"/>
              </a:srgbClr>
            </a:outerShdw>
          </a:effectLst>
        </p:spPr>
        <p:txBody>
          <a:bodyPr anchorCtr="0" anchor="ctr" bIns="45700" lIns="548625" spcFirstLastPara="1" rIns="91425" wrap="square" tIns="13715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Calibri"/>
                <a:ea typeface="Calibri"/>
                <a:cs typeface="Calibri"/>
                <a:sym typeface="Calibri"/>
              </a:rPr>
              <a:t>Publisher Confirms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BEE3F8"/>
                </a:solidFill>
                <a:latin typeface="Calibri"/>
                <a:ea typeface="Calibri"/>
                <a:cs typeface="Calibri"/>
                <a:sym typeface="Calibri"/>
              </a:rPr>
              <a:t>The broker tells the producer 'I got your message'</a:t>
            </a:r>
            <a:endParaRPr b="0" i="0" sz="1400" u="none" cap="none" strike="noStrike">
              <a:solidFill>
                <a:srgbClr val="000000"/>
              </a:solidFill>
              <a:latin typeface="Arial"/>
              <a:ea typeface="Arial"/>
              <a:cs typeface="Arial"/>
              <a:sym typeface="Arial"/>
            </a:endParaRPr>
          </a:p>
        </p:txBody>
      </p:sp>
      <p:sp>
        <p:nvSpPr>
          <p:cNvPr id="348" name="Google Shape;348;p15"/>
          <p:cNvSpPr/>
          <p:nvPr/>
        </p:nvSpPr>
        <p:spPr>
          <a:xfrm>
            <a:off x="457200" y="6400800"/>
            <a:ext cx="11277295" cy="18288"/>
          </a:xfrm>
          <a:prstGeom prst="rect">
            <a:avLst/>
          </a:prstGeom>
          <a:solidFill>
            <a:srgbClr val="E2E8F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9" name="Google Shape;349;p15"/>
          <p:cNvSpPr txBox="1"/>
          <p:nvPr/>
        </p:nvSpPr>
        <p:spPr>
          <a:xfrm>
            <a:off x="457200" y="6446520"/>
            <a:ext cx="4572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RabbitMQ in Production</a:t>
            </a:r>
            <a:endParaRPr b="0" i="0" sz="1400" u="none" cap="none" strike="noStrike">
              <a:solidFill>
                <a:srgbClr val="000000"/>
              </a:solidFill>
              <a:latin typeface="Arial"/>
              <a:ea typeface="Arial"/>
              <a:cs typeface="Arial"/>
              <a:sym typeface="Arial"/>
            </a:endParaRPr>
          </a:p>
        </p:txBody>
      </p:sp>
      <p:sp>
        <p:nvSpPr>
          <p:cNvPr id="350" name="Google Shape;350;p15"/>
          <p:cNvSpPr txBox="1"/>
          <p:nvPr/>
        </p:nvSpPr>
        <p:spPr>
          <a:xfrm>
            <a:off x="10515600" y="6446520"/>
            <a:ext cx="1371600" cy="32004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15 / 26</a:t>
            </a:r>
            <a:endParaRPr b="0" i="0" sz="1400" u="none" cap="none" strike="noStrike">
              <a:solidFill>
                <a:srgbClr val="000000"/>
              </a:solidFill>
              <a:latin typeface="Arial"/>
              <a:ea typeface="Arial"/>
              <a:cs typeface="Arial"/>
              <a:sym typeface="Arial"/>
            </a:endParaRPr>
          </a:p>
        </p:txBody>
      </p:sp>
      <p:sp>
        <p:nvSpPr>
          <p:cNvPr id="351" name="Google Shape;351;p15"/>
          <p:cNvSpPr txBox="1"/>
          <p:nvPr/>
        </p:nvSpPr>
        <p:spPr>
          <a:xfrm>
            <a:off x="649224" y="1453896"/>
            <a:ext cx="10515600" cy="182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2D3A4A"/>
                </a:solidFill>
                <a:latin typeface="Calibri"/>
                <a:ea typeface="Calibri"/>
                <a:cs typeface="Calibri"/>
                <a:sym typeface="Calibri"/>
              </a:rPr>
              <a:t>🤝 Channel set to confirm mode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2300"/>
              <a:buFont typeface="Arial"/>
              <a:buNone/>
            </a:pPr>
            <a:r>
              <a:rPr b="0" i="0" lang="en-US" sz="2300" u="none" cap="none" strike="noStrike">
                <a:solidFill>
                  <a:srgbClr val="2D3A4A"/>
                </a:solidFill>
                <a:latin typeface="Calibri"/>
                <a:ea typeface="Calibri"/>
                <a:cs typeface="Calibri"/>
                <a:sym typeface="Calibri"/>
              </a:rPr>
              <a:t>✅ Broker sends ack (or nack) for each message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2300"/>
              <a:buFont typeface="Arial"/>
              <a:buNone/>
            </a:pPr>
            <a:r>
              <a:rPr b="0" i="0" lang="en-US" sz="2300" u="none" cap="none" strike="noStrike">
                <a:solidFill>
                  <a:srgbClr val="2D3A4A"/>
                </a:solidFill>
                <a:latin typeface="Calibri"/>
                <a:ea typeface="Calibri"/>
                <a:cs typeface="Calibri"/>
                <a:sym typeface="Calibri"/>
              </a:rPr>
              <a:t>🔄 On failure: republish — may cause duplicates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2300"/>
              <a:buFont typeface="Arial"/>
              <a:buNone/>
            </a:pPr>
            <a:r>
              <a:rPr b="0" i="0" lang="en-US" sz="2300" u="none" cap="none" strike="noStrike">
                <a:solidFill>
                  <a:srgbClr val="2D3A4A"/>
                </a:solidFill>
                <a:latin typeface="Calibri"/>
                <a:ea typeface="Calibri"/>
                <a:cs typeface="Calibri"/>
                <a:sym typeface="Calibri"/>
              </a:rPr>
              <a:t>💡 Combine with idempotent consumers (slide 18)</a:t>
            </a:r>
            <a:endParaRPr b="0" i="0" sz="1400" u="none" cap="none" strike="noStrike">
              <a:solidFill>
                <a:srgbClr val="000000"/>
              </a:solidFill>
              <a:latin typeface="Arial"/>
              <a:ea typeface="Arial"/>
              <a:cs typeface="Arial"/>
              <a:sym typeface="Arial"/>
            </a:endParaRPr>
          </a:p>
        </p:txBody>
      </p:sp>
      <p:sp>
        <p:nvSpPr>
          <p:cNvPr id="352" name="Google Shape;352;p15"/>
          <p:cNvSpPr/>
          <p:nvPr/>
        </p:nvSpPr>
        <p:spPr>
          <a:xfrm>
            <a:off x="3064564" y="4540672"/>
            <a:ext cx="2139696" cy="832104"/>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Producer</a:t>
            </a:r>
            <a:endParaRPr b="0" i="0" sz="1400" u="none" cap="none" strike="noStrike">
              <a:solidFill>
                <a:srgbClr val="000000"/>
              </a:solidFill>
              <a:latin typeface="Arial"/>
              <a:ea typeface="Arial"/>
              <a:cs typeface="Arial"/>
              <a:sym typeface="Arial"/>
            </a:endParaRPr>
          </a:p>
        </p:txBody>
      </p:sp>
      <p:sp>
        <p:nvSpPr>
          <p:cNvPr id="353" name="Google Shape;353;p15"/>
          <p:cNvSpPr/>
          <p:nvPr/>
        </p:nvSpPr>
        <p:spPr>
          <a:xfrm>
            <a:off x="5442004" y="4600108"/>
            <a:ext cx="1426464" cy="416052"/>
          </a:xfrm>
          <a:prstGeom prst="rightArrow">
            <a:avLst>
              <a:gd fmla="val 50000" name="adj1"/>
              <a:gd fmla="val 50000" name="adj2"/>
            </a:avLst>
          </a:prstGeom>
          <a:solidFill>
            <a:srgbClr val="38A16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300"/>
              <a:buFont typeface="Arial"/>
              <a:buNone/>
            </a:pPr>
            <a:r>
              <a:t/>
            </a:r>
            <a:endParaRPr b="0" i="0" sz="2300" u="none" cap="none" strike="noStrike">
              <a:solidFill>
                <a:schemeClr val="dk1"/>
              </a:solidFill>
              <a:latin typeface="Calibri"/>
              <a:ea typeface="Calibri"/>
              <a:cs typeface="Calibri"/>
              <a:sym typeface="Calibri"/>
            </a:endParaRPr>
          </a:p>
        </p:txBody>
      </p:sp>
      <p:sp>
        <p:nvSpPr>
          <p:cNvPr id="354" name="Google Shape;354;p15"/>
          <p:cNvSpPr txBox="1"/>
          <p:nvPr/>
        </p:nvSpPr>
        <p:spPr>
          <a:xfrm>
            <a:off x="5679748" y="4184056"/>
            <a:ext cx="1188720" cy="35661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38A169"/>
                </a:solidFill>
                <a:latin typeface="Calibri"/>
                <a:ea typeface="Calibri"/>
                <a:cs typeface="Calibri"/>
                <a:sym typeface="Calibri"/>
              </a:rPr>
              <a:t>publish</a:t>
            </a:r>
            <a:endParaRPr b="0" i="0" sz="1400" u="none" cap="none" strike="noStrike">
              <a:solidFill>
                <a:srgbClr val="000000"/>
              </a:solidFill>
              <a:latin typeface="Arial"/>
              <a:ea typeface="Arial"/>
              <a:cs typeface="Arial"/>
              <a:sym typeface="Arial"/>
            </a:endParaRPr>
          </a:p>
        </p:txBody>
      </p:sp>
      <p:sp>
        <p:nvSpPr>
          <p:cNvPr id="355" name="Google Shape;355;p15"/>
          <p:cNvSpPr/>
          <p:nvPr/>
        </p:nvSpPr>
        <p:spPr>
          <a:xfrm>
            <a:off x="7106212" y="4540672"/>
            <a:ext cx="2377440" cy="832104"/>
          </a:xfrm>
          <a:prstGeom prst="roundRect">
            <a:avLst>
              <a:gd fmla="val 16667" name="adj"/>
            </a:avLst>
          </a:prstGeom>
          <a:solidFill>
            <a:srgbClr val="ED8A36"/>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Broker</a:t>
            </a:r>
            <a:endParaRPr b="0" i="0" sz="1400" u="none" cap="none" strike="noStrike">
              <a:solidFill>
                <a:srgbClr val="000000"/>
              </a:solidFill>
              <a:latin typeface="Arial"/>
              <a:ea typeface="Arial"/>
              <a:cs typeface="Arial"/>
              <a:sym typeface="Arial"/>
            </a:endParaRPr>
          </a:p>
        </p:txBody>
      </p:sp>
      <p:sp>
        <p:nvSpPr>
          <p:cNvPr id="356" name="Google Shape;356;p15"/>
          <p:cNvSpPr/>
          <p:nvPr/>
        </p:nvSpPr>
        <p:spPr>
          <a:xfrm>
            <a:off x="5442004" y="5075596"/>
            <a:ext cx="1426464" cy="356616"/>
          </a:xfrm>
          <a:prstGeom prst="leftArrow">
            <a:avLst>
              <a:gd fmla="val 50000" name="adj1"/>
              <a:gd fmla="val 50000" name="adj2"/>
            </a:avLst>
          </a:prstGeom>
          <a:solidFill>
            <a:srgbClr val="2B6CB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300"/>
              <a:buFont typeface="Arial"/>
              <a:buNone/>
            </a:pPr>
            <a:r>
              <a:t/>
            </a:r>
            <a:endParaRPr b="0" i="0" sz="2300" u="none" cap="none" strike="noStrike">
              <a:solidFill>
                <a:schemeClr val="dk1"/>
              </a:solidFill>
              <a:latin typeface="Calibri"/>
              <a:ea typeface="Calibri"/>
              <a:cs typeface="Calibri"/>
              <a:sym typeface="Calibri"/>
            </a:endParaRPr>
          </a:p>
        </p:txBody>
      </p:sp>
      <p:sp>
        <p:nvSpPr>
          <p:cNvPr id="357" name="Google Shape;357;p15"/>
          <p:cNvSpPr txBox="1"/>
          <p:nvPr/>
        </p:nvSpPr>
        <p:spPr>
          <a:xfrm>
            <a:off x="5679748" y="5491648"/>
            <a:ext cx="1188720" cy="35661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2B6CB0"/>
                </a:solidFill>
                <a:latin typeface="Calibri"/>
                <a:ea typeface="Calibri"/>
                <a:cs typeface="Calibri"/>
                <a:sym typeface="Calibri"/>
              </a:rPr>
              <a:t>confirm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362" name="Shape 362"/>
        <p:cNvGrpSpPr/>
        <p:nvPr/>
      </p:nvGrpSpPr>
      <p:grpSpPr>
        <a:xfrm>
          <a:off x="0" y="0"/>
          <a:ext cx="0" cy="0"/>
          <a:chOff x="0" y="0"/>
          <a:chExt cx="0" cy="0"/>
        </a:xfrm>
      </p:grpSpPr>
      <p:sp>
        <p:nvSpPr>
          <p:cNvPr id="363" name="Google Shape;363;p16"/>
          <p:cNvSpPr/>
          <p:nvPr/>
        </p:nvSpPr>
        <p:spPr>
          <a:xfrm>
            <a:off x="0" y="0"/>
            <a:ext cx="12191695" cy="1005840"/>
          </a:xfrm>
          <a:prstGeom prst="rect">
            <a:avLst/>
          </a:prstGeom>
          <a:solidFill>
            <a:srgbClr val="2B6CB0"/>
          </a:solidFill>
          <a:ln>
            <a:noFill/>
          </a:ln>
          <a:effectLst>
            <a:outerShdw blurRad="40000" rotWithShape="0" dir="5400000" dist="23000">
              <a:srgbClr val="000000">
                <a:alpha val="34902"/>
              </a:srgbClr>
            </a:outerShdw>
          </a:effectLst>
        </p:spPr>
        <p:txBody>
          <a:bodyPr anchorCtr="0" anchor="ctr" bIns="45700" lIns="548625" spcFirstLastPara="1" rIns="91425" wrap="square" tIns="13715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Calibri"/>
                <a:ea typeface="Calibri"/>
                <a:cs typeface="Calibri"/>
                <a:sym typeface="Calibri"/>
              </a:rPr>
              <a:t>Acknowledgements &amp; Prefetch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BEE3F8"/>
                </a:solidFill>
                <a:latin typeface="Calibri"/>
                <a:ea typeface="Calibri"/>
                <a:cs typeface="Calibri"/>
                <a:sym typeface="Calibri"/>
              </a:rPr>
              <a:t>Ack after work, redelivery on crash, limit in-flight messages</a:t>
            </a:r>
            <a:endParaRPr b="0" i="0" sz="1400" u="none" cap="none" strike="noStrike">
              <a:solidFill>
                <a:srgbClr val="000000"/>
              </a:solidFill>
              <a:latin typeface="Arial"/>
              <a:ea typeface="Arial"/>
              <a:cs typeface="Arial"/>
              <a:sym typeface="Arial"/>
            </a:endParaRPr>
          </a:p>
        </p:txBody>
      </p:sp>
      <p:sp>
        <p:nvSpPr>
          <p:cNvPr id="364" name="Google Shape;364;p16"/>
          <p:cNvSpPr/>
          <p:nvPr/>
        </p:nvSpPr>
        <p:spPr>
          <a:xfrm>
            <a:off x="457200" y="6400800"/>
            <a:ext cx="11277295" cy="18288"/>
          </a:xfrm>
          <a:prstGeom prst="rect">
            <a:avLst/>
          </a:prstGeom>
          <a:solidFill>
            <a:srgbClr val="E2E8F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5" name="Google Shape;365;p16"/>
          <p:cNvSpPr txBox="1"/>
          <p:nvPr/>
        </p:nvSpPr>
        <p:spPr>
          <a:xfrm>
            <a:off x="457200" y="6446520"/>
            <a:ext cx="4572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RabbitMQ in Production</a:t>
            </a:r>
            <a:endParaRPr b="0" i="0" sz="1400" u="none" cap="none" strike="noStrike">
              <a:solidFill>
                <a:srgbClr val="000000"/>
              </a:solidFill>
              <a:latin typeface="Arial"/>
              <a:ea typeface="Arial"/>
              <a:cs typeface="Arial"/>
              <a:sym typeface="Arial"/>
            </a:endParaRPr>
          </a:p>
        </p:txBody>
      </p:sp>
      <p:sp>
        <p:nvSpPr>
          <p:cNvPr id="366" name="Google Shape;366;p16"/>
          <p:cNvSpPr txBox="1"/>
          <p:nvPr/>
        </p:nvSpPr>
        <p:spPr>
          <a:xfrm>
            <a:off x="10515600" y="6446520"/>
            <a:ext cx="1371600" cy="32004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16 / 26</a:t>
            </a:r>
            <a:endParaRPr b="0" i="0" sz="1400" u="none" cap="none" strike="noStrike">
              <a:solidFill>
                <a:srgbClr val="000000"/>
              </a:solidFill>
              <a:latin typeface="Arial"/>
              <a:ea typeface="Arial"/>
              <a:cs typeface="Arial"/>
              <a:sym typeface="Arial"/>
            </a:endParaRPr>
          </a:p>
        </p:txBody>
      </p:sp>
      <p:sp>
        <p:nvSpPr>
          <p:cNvPr id="367" name="Google Shape;367;p16"/>
          <p:cNvSpPr txBox="1"/>
          <p:nvPr/>
        </p:nvSpPr>
        <p:spPr>
          <a:xfrm>
            <a:off x="645800" y="1556481"/>
            <a:ext cx="10515600" cy="182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2D3A4A"/>
                </a:solidFill>
                <a:latin typeface="Calibri"/>
                <a:ea typeface="Calibri"/>
                <a:cs typeface="Calibri"/>
                <a:sym typeface="Calibri"/>
              </a:rPr>
              <a:t>📩 Consumer receives message → processes it → sends ack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2000"/>
              <a:buFont typeface="Arial"/>
              <a:buNone/>
            </a:pPr>
            <a:r>
              <a:rPr b="0" i="0" lang="en-US" sz="2000" u="none" cap="none" strike="noStrike">
                <a:solidFill>
                  <a:srgbClr val="2D3A4A"/>
                </a:solidFill>
                <a:latin typeface="Calibri"/>
                <a:ea typeface="Calibri"/>
                <a:cs typeface="Calibri"/>
                <a:sym typeface="Calibri"/>
              </a:rPr>
              <a:t>💥 If consumer crashes before ack → message redelivered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2000"/>
              <a:buFont typeface="Arial"/>
              <a:buNone/>
            </a:pPr>
            <a:r>
              <a:rPr b="0" i="0" lang="en-US" sz="2000" u="none" cap="none" strike="noStrike">
                <a:solidFill>
                  <a:srgbClr val="2D3A4A"/>
                </a:solidFill>
                <a:latin typeface="Calibri"/>
                <a:ea typeface="Calibri"/>
                <a:cs typeface="Calibri"/>
                <a:sym typeface="Calibri"/>
              </a:rPr>
              <a:t>🔢 Prefetch = max unacked messages per consumer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2000"/>
              <a:buFont typeface="Arial"/>
              <a:buNone/>
            </a:pPr>
            <a:r>
              <a:rPr b="0" i="0" lang="en-US" sz="2000" u="none" cap="none" strike="noStrike">
                <a:solidFill>
                  <a:srgbClr val="2D3A4A"/>
                </a:solidFill>
                <a:latin typeface="Calibri"/>
                <a:ea typeface="Calibri"/>
                <a:cs typeface="Calibri"/>
                <a:sym typeface="Calibri"/>
              </a:rPr>
              <a:t>⚖️ Low prefetch = fair distribution, high = throughput</a:t>
            </a:r>
            <a:endParaRPr b="0" i="0" sz="1400" u="none" cap="none" strike="noStrike">
              <a:solidFill>
                <a:srgbClr val="000000"/>
              </a:solidFill>
              <a:latin typeface="Arial"/>
              <a:ea typeface="Arial"/>
              <a:cs typeface="Arial"/>
              <a:sym typeface="Arial"/>
            </a:endParaRPr>
          </a:p>
        </p:txBody>
      </p:sp>
      <p:sp>
        <p:nvSpPr>
          <p:cNvPr id="368" name="Google Shape;368;p16"/>
          <p:cNvSpPr/>
          <p:nvPr/>
        </p:nvSpPr>
        <p:spPr>
          <a:xfrm>
            <a:off x="948578" y="4026133"/>
            <a:ext cx="1816667" cy="706481"/>
          </a:xfrm>
          <a:prstGeom prst="roundRect">
            <a:avLst>
              <a:gd fmla="val 16667" name="adj"/>
            </a:avLst>
          </a:prstGeom>
          <a:solidFill>
            <a:srgbClr val="ED8A36"/>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FFFFFF"/>
                </a:solidFill>
                <a:latin typeface="Calibri"/>
                <a:ea typeface="Calibri"/>
                <a:cs typeface="Calibri"/>
                <a:sym typeface="Calibri"/>
              </a:rPr>
              <a:t>Queue</a:t>
            </a:r>
            <a:br>
              <a:rPr b="1" i="0" lang="en-US" sz="1500" u="none" cap="none" strike="noStrike">
                <a:solidFill>
                  <a:srgbClr val="FFFFFF"/>
                </a:solidFill>
                <a:latin typeface="Calibri"/>
                <a:ea typeface="Calibri"/>
                <a:cs typeface="Calibri"/>
                <a:sym typeface="Calibri"/>
              </a:rPr>
            </a:br>
            <a:r>
              <a:rPr b="1" i="0" lang="en-US" sz="1500" u="none" cap="none" strike="noStrike">
                <a:solidFill>
                  <a:srgbClr val="FFFFFF"/>
                </a:solidFill>
                <a:latin typeface="Calibri"/>
                <a:ea typeface="Calibri"/>
                <a:cs typeface="Calibri"/>
                <a:sym typeface="Calibri"/>
              </a:rPr>
              <a:t>(5 msgs)</a:t>
            </a:r>
            <a:endParaRPr b="0" i="0" sz="1400" u="none" cap="none" strike="noStrike">
              <a:solidFill>
                <a:srgbClr val="000000"/>
              </a:solidFill>
              <a:latin typeface="Arial"/>
              <a:ea typeface="Arial"/>
              <a:cs typeface="Arial"/>
              <a:sym typeface="Arial"/>
            </a:endParaRPr>
          </a:p>
        </p:txBody>
      </p:sp>
      <p:sp>
        <p:nvSpPr>
          <p:cNvPr id="369" name="Google Shape;369;p16"/>
          <p:cNvSpPr/>
          <p:nvPr/>
        </p:nvSpPr>
        <p:spPr>
          <a:xfrm>
            <a:off x="2967096" y="4076596"/>
            <a:ext cx="807407" cy="353241"/>
          </a:xfrm>
          <a:prstGeom prst="rightArrow">
            <a:avLst>
              <a:gd fmla="val 50000" name="adj1"/>
              <a:gd fmla="val 50000" name="adj2"/>
            </a:avLst>
          </a:prstGeom>
          <a:solidFill>
            <a:srgbClr val="A0AEC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370" name="Google Shape;370;p16"/>
          <p:cNvSpPr txBox="1"/>
          <p:nvPr/>
        </p:nvSpPr>
        <p:spPr>
          <a:xfrm>
            <a:off x="2967096" y="3723356"/>
            <a:ext cx="1009259" cy="30277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2B6CB0"/>
                </a:solidFill>
                <a:latin typeface="Calibri"/>
                <a:ea typeface="Calibri"/>
                <a:cs typeface="Calibri"/>
                <a:sym typeface="Calibri"/>
              </a:rPr>
              <a:t>deliver</a:t>
            </a:r>
            <a:endParaRPr b="0" i="0" sz="1400" u="none" cap="none" strike="noStrike">
              <a:solidFill>
                <a:srgbClr val="000000"/>
              </a:solidFill>
              <a:latin typeface="Arial"/>
              <a:ea typeface="Arial"/>
              <a:cs typeface="Arial"/>
              <a:sym typeface="Arial"/>
            </a:endParaRPr>
          </a:p>
        </p:txBody>
      </p:sp>
      <p:sp>
        <p:nvSpPr>
          <p:cNvPr id="371" name="Google Shape;371;p16"/>
          <p:cNvSpPr/>
          <p:nvPr/>
        </p:nvSpPr>
        <p:spPr>
          <a:xfrm>
            <a:off x="3976356" y="4026133"/>
            <a:ext cx="2018519" cy="706481"/>
          </a:xfrm>
          <a:prstGeom prst="roundRect">
            <a:avLst>
              <a:gd fmla="val 16667" name="adj"/>
            </a:avLst>
          </a:prstGeom>
          <a:solidFill>
            <a:srgbClr val="2B6CB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FFFFFF"/>
                </a:solidFill>
                <a:latin typeface="Calibri"/>
                <a:ea typeface="Calibri"/>
                <a:cs typeface="Calibri"/>
                <a:sym typeface="Calibri"/>
              </a:rPr>
              <a:t>Consumer</a:t>
            </a:r>
            <a:endParaRPr b="0" i="0" sz="1400" u="none" cap="none" strike="noStrike">
              <a:solidFill>
                <a:srgbClr val="000000"/>
              </a:solidFill>
              <a:latin typeface="Arial"/>
              <a:ea typeface="Arial"/>
              <a:cs typeface="Arial"/>
              <a:sym typeface="Arial"/>
            </a:endParaRPr>
          </a:p>
        </p:txBody>
      </p:sp>
      <p:sp>
        <p:nvSpPr>
          <p:cNvPr id="372" name="Google Shape;372;p16"/>
          <p:cNvSpPr/>
          <p:nvPr/>
        </p:nvSpPr>
        <p:spPr>
          <a:xfrm>
            <a:off x="2967096" y="4530763"/>
            <a:ext cx="807407" cy="252315"/>
          </a:xfrm>
          <a:prstGeom prst="leftArrow">
            <a:avLst>
              <a:gd fmla="val 50000" name="adj1"/>
              <a:gd fmla="val 50000" name="adj2"/>
            </a:avLst>
          </a:prstGeom>
          <a:solidFill>
            <a:srgbClr val="38A16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373" name="Google Shape;373;p16"/>
          <p:cNvSpPr txBox="1"/>
          <p:nvPr/>
        </p:nvSpPr>
        <p:spPr>
          <a:xfrm>
            <a:off x="2967096" y="4833541"/>
            <a:ext cx="1009259" cy="30277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38A169"/>
                </a:solidFill>
                <a:latin typeface="Calibri"/>
                <a:ea typeface="Calibri"/>
                <a:cs typeface="Calibri"/>
                <a:sym typeface="Calibri"/>
              </a:rPr>
              <a:t>ack ✅</a:t>
            </a:r>
            <a:endParaRPr b="0" i="0" sz="1400" u="none" cap="none" strike="noStrike">
              <a:solidFill>
                <a:srgbClr val="000000"/>
              </a:solidFill>
              <a:latin typeface="Arial"/>
              <a:ea typeface="Arial"/>
              <a:cs typeface="Arial"/>
              <a:sym typeface="Arial"/>
            </a:endParaRPr>
          </a:p>
        </p:txBody>
      </p:sp>
      <p:sp>
        <p:nvSpPr>
          <p:cNvPr id="374" name="Google Shape;374;p16"/>
          <p:cNvSpPr/>
          <p:nvPr/>
        </p:nvSpPr>
        <p:spPr>
          <a:xfrm>
            <a:off x="950976" y="5440680"/>
            <a:ext cx="6400800" cy="504630"/>
          </a:xfrm>
          <a:prstGeom prst="roundRect">
            <a:avLst>
              <a:gd fmla="val 16667" name="adj"/>
            </a:avLst>
          </a:prstGeom>
          <a:solidFill>
            <a:srgbClr val="EBF8FF"/>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2B6CB0"/>
                </a:solidFill>
                <a:latin typeface="Calibri"/>
                <a:ea typeface="Calibri"/>
                <a:cs typeface="Calibri"/>
                <a:sym typeface="Calibri"/>
              </a:rPr>
              <a:t>prefetch_count = 10 → max 10 unacked msgs at a time</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379" name="Shape 379"/>
        <p:cNvGrpSpPr/>
        <p:nvPr/>
      </p:nvGrpSpPr>
      <p:grpSpPr>
        <a:xfrm>
          <a:off x="0" y="0"/>
          <a:ext cx="0" cy="0"/>
          <a:chOff x="0" y="0"/>
          <a:chExt cx="0" cy="0"/>
        </a:xfrm>
      </p:grpSpPr>
      <p:sp>
        <p:nvSpPr>
          <p:cNvPr id="380" name="Google Shape;380;p17"/>
          <p:cNvSpPr/>
          <p:nvPr/>
        </p:nvSpPr>
        <p:spPr>
          <a:xfrm>
            <a:off x="0" y="0"/>
            <a:ext cx="12191695" cy="1005840"/>
          </a:xfrm>
          <a:prstGeom prst="rect">
            <a:avLst/>
          </a:prstGeom>
          <a:solidFill>
            <a:srgbClr val="2B6CB0"/>
          </a:solidFill>
          <a:ln>
            <a:noFill/>
          </a:ln>
          <a:effectLst>
            <a:outerShdw blurRad="40000" rotWithShape="0" dir="5400000" dist="23000">
              <a:srgbClr val="000000">
                <a:alpha val="34902"/>
              </a:srgbClr>
            </a:outerShdw>
          </a:effectLst>
        </p:spPr>
        <p:txBody>
          <a:bodyPr anchorCtr="0" anchor="ctr" bIns="45700" lIns="548625" spcFirstLastPara="1" rIns="91425" wrap="square" tIns="13715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Calibri"/>
                <a:ea typeface="Calibri"/>
                <a:cs typeface="Calibri"/>
                <a:sym typeface="Calibri"/>
              </a:rPr>
              <a:t>Retries &amp; Dead-Letter Queues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BEE3F8"/>
                </a:solidFill>
                <a:latin typeface="Calibri"/>
                <a:ea typeface="Calibri"/>
                <a:cs typeface="Calibri"/>
                <a:sym typeface="Calibri"/>
              </a:rPr>
              <a:t>Poison messages: retry a few times, then move aside</a:t>
            </a:r>
            <a:endParaRPr b="0" i="0" sz="1400" u="none" cap="none" strike="noStrike">
              <a:solidFill>
                <a:srgbClr val="000000"/>
              </a:solidFill>
              <a:latin typeface="Arial"/>
              <a:ea typeface="Arial"/>
              <a:cs typeface="Arial"/>
              <a:sym typeface="Arial"/>
            </a:endParaRPr>
          </a:p>
        </p:txBody>
      </p:sp>
      <p:sp>
        <p:nvSpPr>
          <p:cNvPr id="381" name="Google Shape;381;p17"/>
          <p:cNvSpPr/>
          <p:nvPr/>
        </p:nvSpPr>
        <p:spPr>
          <a:xfrm>
            <a:off x="457200" y="6400800"/>
            <a:ext cx="11277295" cy="18288"/>
          </a:xfrm>
          <a:prstGeom prst="rect">
            <a:avLst/>
          </a:prstGeom>
          <a:solidFill>
            <a:srgbClr val="E2E8F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2" name="Google Shape;382;p17"/>
          <p:cNvSpPr txBox="1"/>
          <p:nvPr/>
        </p:nvSpPr>
        <p:spPr>
          <a:xfrm>
            <a:off x="457200" y="6446520"/>
            <a:ext cx="4572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RabbitMQ in Production</a:t>
            </a:r>
            <a:endParaRPr b="0" i="0" sz="1400" u="none" cap="none" strike="noStrike">
              <a:solidFill>
                <a:srgbClr val="000000"/>
              </a:solidFill>
              <a:latin typeface="Arial"/>
              <a:ea typeface="Arial"/>
              <a:cs typeface="Arial"/>
              <a:sym typeface="Arial"/>
            </a:endParaRPr>
          </a:p>
        </p:txBody>
      </p:sp>
      <p:sp>
        <p:nvSpPr>
          <p:cNvPr id="383" name="Google Shape;383;p17"/>
          <p:cNvSpPr txBox="1"/>
          <p:nvPr/>
        </p:nvSpPr>
        <p:spPr>
          <a:xfrm>
            <a:off x="10515600" y="6446520"/>
            <a:ext cx="1371600" cy="32004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17 / 26</a:t>
            </a:r>
            <a:endParaRPr b="0" i="0" sz="1400" u="none" cap="none" strike="noStrike">
              <a:solidFill>
                <a:srgbClr val="000000"/>
              </a:solidFill>
              <a:latin typeface="Arial"/>
              <a:ea typeface="Arial"/>
              <a:cs typeface="Arial"/>
              <a:sym typeface="Arial"/>
            </a:endParaRPr>
          </a:p>
        </p:txBody>
      </p:sp>
      <p:sp>
        <p:nvSpPr>
          <p:cNvPr id="384" name="Google Shape;384;p17"/>
          <p:cNvSpPr txBox="1"/>
          <p:nvPr/>
        </p:nvSpPr>
        <p:spPr>
          <a:xfrm>
            <a:off x="645800" y="1450000"/>
            <a:ext cx="10515600" cy="17373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2D3A4A"/>
                </a:solidFill>
                <a:latin typeface="Calibri"/>
                <a:ea typeface="Calibri"/>
                <a:cs typeface="Calibri"/>
                <a:sym typeface="Calibri"/>
              </a:rPr>
              <a:t>☠️ Poison message = one that always fails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2000"/>
              <a:buFont typeface="Arial"/>
              <a:buNone/>
            </a:pPr>
            <a:r>
              <a:rPr b="0" i="0" lang="en-US" sz="2000" u="none" cap="none" strike="noStrike">
                <a:solidFill>
                  <a:srgbClr val="2D3A4A"/>
                </a:solidFill>
                <a:latin typeface="Calibri"/>
                <a:ea typeface="Calibri"/>
                <a:cs typeface="Calibri"/>
                <a:sym typeface="Calibri"/>
              </a:rPr>
              <a:t>🔄 Retry with backoff built in your app (3 attempts)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2000"/>
              <a:buFont typeface="Arial"/>
              <a:buNone/>
            </a:pPr>
            <a:r>
              <a:rPr b="0" i="0" lang="en-US" sz="2000" u="none" cap="none" strike="noStrike">
                <a:solidFill>
                  <a:srgbClr val="2D3A4A"/>
                </a:solidFill>
                <a:latin typeface="Calibri"/>
                <a:ea typeface="Calibri"/>
                <a:cs typeface="Calibri"/>
                <a:sym typeface="Calibri"/>
              </a:rPr>
              <a:t>📦 After max retries or delivery-limit → Dead-Letter Queue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2000"/>
              <a:buFont typeface="Arial"/>
              <a:buNone/>
            </a:pPr>
            <a:r>
              <a:rPr b="0" i="0" lang="en-US" sz="2000" u="none" cap="none" strike="noStrike">
                <a:solidFill>
                  <a:srgbClr val="2D3A4A"/>
                </a:solidFill>
                <a:latin typeface="Calibri"/>
                <a:ea typeface="Calibri"/>
                <a:cs typeface="Calibri"/>
                <a:sym typeface="Calibri"/>
              </a:rPr>
              <a:t>🔍 Review DLQ to find and fix bugs</a:t>
            </a:r>
            <a:endParaRPr b="0" i="0" sz="1400" u="none" cap="none" strike="noStrike">
              <a:solidFill>
                <a:srgbClr val="000000"/>
              </a:solidFill>
              <a:latin typeface="Arial"/>
              <a:ea typeface="Arial"/>
              <a:cs typeface="Arial"/>
              <a:sym typeface="Arial"/>
            </a:endParaRPr>
          </a:p>
        </p:txBody>
      </p:sp>
      <p:sp>
        <p:nvSpPr>
          <p:cNvPr id="385" name="Google Shape;385;p17"/>
          <p:cNvSpPr/>
          <p:nvPr/>
        </p:nvSpPr>
        <p:spPr>
          <a:xfrm>
            <a:off x="745800" y="4124320"/>
            <a:ext cx="2000000" cy="700000"/>
          </a:xfrm>
          <a:prstGeom prst="roundRect">
            <a:avLst>
              <a:gd fmla="val 16667" name="adj"/>
            </a:avLst>
          </a:prstGeom>
          <a:solidFill>
            <a:srgbClr val="E53E3E"/>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FFFFFF"/>
                </a:solidFill>
                <a:latin typeface="Calibri"/>
                <a:ea typeface="Calibri"/>
                <a:cs typeface="Calibri"/>
                <a:sym typeface="Calibri"/>
              </a:rPr>
              <a:t>Failing</a:t>
            </a:r>
            <a:br>
              <a:rPr b="1" i="0" lang="en-US" sz="1500" u="none" cap="none" strike="noStrike">
                <a:solidFill>
                  <a:srgbClr val="FFFFFF"/>
                </a:solidFill>
                <a:latin typeface="Calibri"/>
                <a:ea typeface="Calibri"/>
                <a:cs typeface="Calibri"/>
                <a:sym typeface="Calibri"/>
              </a:rPr>
            </a:br>
            <a:r>
              <a:rPr b="1" i="0" lang="en-US" sz="1500" u="none" cap="none" strike="noStrike">
                <a:solidFill>
                  <a:srgbClr val="FFFFFF"/>
                </a:solidFill>
                <a:latin typeface="Calibri"/>
                <a:ea typeface="Calibri"/>
                <a:cs typeface="Calibri"/>
                <a:sym typeface="Calibri"/>
              </a:rPr>
              <a:t>Consumer</a:t>
            </a:r>
            <a:endParaRPr b="0" i="0" sz="1400" u="none" cap="none" strike="noStrike">
              <a:solidFill>
                <a:srgbClr val="000000"/>
              </a:solidFill>
              <a:latin typeface="Arial"/>
              <a:ea typeface="Arial"/>
              <a:cs typeface="Arial"/>
              <a:sym typeface="Arial"/>
            </a:endParaRPr>
          </a:p>
        </p:txBody>
      </p:sp>
      <p:sp>
        <p:nvSpPr>
          <p:cNvPr id="386" name="Google Shape;386;p17"/>
          <p:cNvSpPr/>
          <p:nvPr/>
        </p:nvSpPr>
        <p:spPr>
          <a:xfrm>
            <a:off x="2945800" y="4174320"/>
            <a:ext cx="600000" cy="350000"/>
          </a:xfrm>
          <a:prstGeom prst="rightArrow">
            <a:avLst>
              <a:gd fmla="val 50000" name="adj1"/>
              <a:gd fmla="val 50000" name="adj2"/>
            </a:avLst>
          </a:prstGeom>
          <a:solidFill>
            <a:srgbClr val="E53E3E"/>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387" name="Google Shape;387;p17"/>
          <p:cNvSpPr txBox="1"/>
          <p:nvPr/>
        </p:nvSpPr>
        <p:spPr>
          <a:xfrm>
            <a:off x="2945800" y="3824320"/>
            <a:ext cx="800000" cy="3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E53E3E"/>
                </a:solidFill>
                <a:latin typeface="Calibri"/>
                <a:ea typeface="Calibri"/>
                <a:cs typeface="Calibri"/>
                <a:sym typeface="Calibri"/>
              </a:rPr>
              <a:t>nack</a:t>
            </a:r>
            <a:endParaRPr b="0" i="0" sz="1400" u="none" cap="none" strike="noStrike">
              <a:solidFill>
                <a:srgbClr val="000000"/>
              </a:solidFill>
              <a:latin typeface="Arial"/>
              <a:ea typeface="Arial"/>
              <a:cs typeface="Arial"/>
              <a:sym typeface="Arial"/>
            </a:endParaRPr>
          </a:p>
        </p:txBody>
      </p:sp>
      <p:sp>
        <p:nvSpPr>
          <p:cNvPr id="388" name="Google Shape;388;p17"/>
          <p:cNvSpPr/>
          <p:nvPr/>
        </p:nvSpPr>
        <p:spPr>
          <a:xfrm>
            <a:off x="3745800" y="4124320"/>
            <a:ext cx="1800000" cy="700000"/>
          </a:xfrm>
          <a:prstGeom prst="roundRect">
            <a:avLst>
              <a:gd fmla="val 16667" name="adj"/>
            </a:avLst>
          </a:prstGeom>
          <a:solidFill>
            <a:srgbClr val="ED8A36"/>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FFFFFF"/>
                </a:solidFill>
                <a:latin typeface="Calibri"/>
                <a:ea typeface="Calibri"/>
                <a:cs typeface="Calibri"/>
                <a:sym typeface="Calibri"/>
              </a:rPr>
              <a:t>Retry x3</a:t>
            </a:r>
            <a:endParaRPr b="0" i="0" sz="1400" u="none" cap="none" strike="noStrike">
              <a:solidFill>
                <a:srgbClr val="000000"/>
              </a:solidFill>
              <a:latin typeface="Arial"/>
              <a:ea typeface="Arial"/>
              <a:cs typeface="Arial"/>
              <a:sym typeface="Arial"/>
            </a:endParaRPr>
          </a:p>
        </p:txBody>
      </p:sp>
      <p:sp>
        <p:nvSpPr>
          <p:cNvPr id="389" name="Google Shape;389;p17"/>
          <p:cNvSpPr/>
          <p:nvPr/>
        </p:nvSpPr>
        <p:spPr>
          <a:xfrm>
            <a:off x="5745800" y="4174320"/>
            <a:ext cx="600000" cy="350000"/>
          </a:xfrm>
          <a:prstGeom prst="rightArrow">
            <a:avLst>
              <a:gd fmla="val 50000" name="adj1"/>
              <a:gd fmla="val 50000" name="adj2"/>
            </a:avLst>
          </a:prstGeom>
          <a:solidFill>
            <a:srgbClr val="A0AEC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390" name="Google Shape;390;p17"/>
          <p:cNvSpPr txBox="1"/>
          <p:nvPr/>
        </p:nvSpPr>
        <p:spPr>
          <a:xfrm>
            <a:off x="5745800" y="3824320"/>
            <a:ext cx="1000000" cy="3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E53E3E"/>
                </a:solidFill>
                <a:latin typeface="Calibri"/>
                <a:ea typeface="Calibri"/>
                <a:cs typeface="Calibri"/>
                <a:sym typeface="Calibri"/>
              </a:rPr>
              <a:t>still fails</a:t>
            </a:r>
            <a:endParaRPr b="0" i="0" sz="1400" u="none" cap="none" strike="noStrike">
              <a:solidFill>
                <a:srgbClr val="000000"/>
              </a:solidFill>
              <a:latin typeface="Arial"/>
              <a:ea typeface="Arial"/>
              <a:cs typeface="Arial"/>
              <a:sym typeface="Arial"/>
            </a:endParaRPr>
          </a:p>
        </p:txBody>
      </p:sp>
      <p:sp>
        <p:nvSpPr>
          <p:cNvPr id="391" name="Google Shape;391;p17"/>
          <p:cNvSpPr/>
          <p:nvPr/>
        </p:nvSpPr>
        <p:spPr>
          <a:xfrm>
            <a:off x="6545800" y="4124320"/>
            <a:ext cx="2500000" cy="700000"/>
          </a:xfrm>
          <a:prstGeom prst="roundRect">
            <a:avLst>
              <a:gd fmla="val 16667" name="adj"/>
            </a:avLst>
          </a:prstGeom>
          <a:solidFill>
            <a:srgbClr val="E53E3E"/>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FFFFFF"/>
                </a:solidFill>
                <a:latin typeface="Calibri"/>
                <a:ea typeface="Calibri"/>
                <a:cs typeface="Calibri"/>
                <a:sym typeface="Calibri"/>
              </a:rPr>
              <a:t>Dead-Letter Queue</a:t>
            </a:r>
            <a:endParaRPr b="0" i="0" sz="1400" u="none" cap="none" strike="noStrike">
              <a:solidFill>
                <a:srgbClr val="000000"/>
              </a:solidFill>
              <a:latin typeface="Arial"/>
              <a:ea typeface="Arial"/>
              <a:cs typeface="Arial"/>
              <a:sym typeface="Arial"/>
            </a:endParaRPr>
          </a:p>
        </p:txBody>
      </p:sp>
      <p:sp>
        <p:nvSpPr>
          <p:cNvPr id="392" name="Google Shape;392;p17"/>
          <p:cNvSpPr/>
          <p:nvPr/>
        </p:nvSpPr>
        <p:spPr>
          <a:xfrm>
            <a:off x="9245800" y="4174320"/>
            <a:ext cx="600000" cy="350000"/>
          </a:xfrm>
          <a:prstGeom prst="rightArrow">
            <a:avLst>
              <a:gd fmla="val 50000" name="adj1"/>
              <a:gd fmla="val 50000" name="adj2"/>
            </a:avLst>
          </a:prstGeom>
          <a:solidFill>
            <a:srgbClr val="A0AEC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393" name="Google Shape;393;p17"/>
          <p:cNvSpPr/>
          <p:nvPr/>
        </p:nvSpPr>
        <p:spPr>
          <a:xfrm>
            <a:off x="10045800" y="4124320"/>
            <a:ext cx="1500000" cy="700000"/>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FFFFFF"/>
                </a:solidFill>
                <a:latin typeface="Calibri"/>
                <a:ea typeface="Calibri"/>
                <a:cs typeface="Calibri"/>
                <a:sym typeface="Calibri"/>
              </a:rPr>
              <a:t>Review</a:t>
            </a:r>
            <a:br>
              <a:rPr b="1" i="0" lang="en-US" sz="1500" u="none" cap="none" strike="noStrike">
                <a:solidFill>
                  <a:srgbClr val="FFFFFF"/>
                </a:solidFill>
                <a:latin typeface="Calibri"/>
                <a:ea typeface="Calibri"/>
                <a:cs typeface="Calibri"/>
                <a:sym typeface="Calibri"/>
              </a:rPr>
            </a:br>
            <a:r>
              <a:rPr b="1" i="0" lang="en-US" sz="1500" u="none" cap="none" strike="noStrike">
                <a:solidFill>
                  <a:srgbClr val="FFFFFF"/>
                </a:solidFill>
                <a:latin typeface="Calibri"/>
                <a:ea typeface="Calibri"/>
                <a:cs typeface="Calibri"/>
                <a:sym typeface="Calibri"/>
              </a:rPr>
              <a:t>&amp; Fix</a:t>
            </a:r>
            <a:endParaRPr b="0" i="0" sz="1400" u="none" cap="none" strike="noStrike">
              <a:solidFill>
                <a:srgbClr val="000000"/>
              </a:solidFill>
              <a:latin typeface="Arial"/>
              <a:ea typeface="Arial"/>
              <a:cs typeface="Arial"/>
              <a:sym typeface="Arial"/>
            </a:endParaRPr>
          </a:p>
        </p:txBody>
      </p:sp>
      <p:sp>
        <p:nvSpPr>
          <p:cNvPr id="394" name="Google Shape;394;p17"/>
          <p:cNvSpPr/>
          <p:nvPr/>
        </p:nvSpPr>
        <p:spPr>
          <a:xfrm>
            <a:off x="645800" y="5350000"/>
            <a:ext cx="8000000" cy="600000"/>
          </a:xfrm>
          <a:prstGeom prst="roundRect">
            <a:avLst>
              <a:gd fmla="val 16667" name="adj"/>
            </a:avLst>
          </a:prstGeom>
          <a:solidFill>
            <a:srgbClr val="EBF8FF"/>
          </a:solidFill>
          <a:ln cap="flat" cmpd="sng" w="19050">
            <a:solidFill>
              <a:srgbClr val="2B6CB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37150"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1" lang="en-US" sz="1500" u="none" cap="none" strike="noStrike">
                <a:solidFill>
                  <a:srgbClr val="2B6CB0"/>
                </a:solidFill>
                <a:latin typeface="Calibri"/>
                <a:ea typeface="Calibri"/>
                <a:cs typeface="Calibri"/>
                <a:sym typeface="Calibri"/>
              </a:rPr>
              <a:t>💡 In real tech terms: like undeliverable mail — the post office puts it in a special pile for investigation.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399" name="Shape 399"/>
        <p:cNvGrpSpPr/>
        <p:nvPr/>
      </p:nvGrpSpPr>
      <p:grpSpPr>
        <a:xfrm>
          <a:off x="0" y="0"/>
          <a:ext cx="0" cy="0"/>
          <a:chOff x="0" y="0"/>
          <a:chExt cx="0" cy="0"/>
        </a:xfrm>
      </p:grpSpPr>
      <p:sp>
        <p:nvSpPr>
          <p:cNvPr id="400" name="Google Shape;400;p18"/>
          <p:cNvSpPr/>
          <p:nvPr/>
        </p:nvSpPr>
        <p:spPr>
          <a:xfrm>
            <a:off x="0" y="0"/>
            <a:ext cx="12191695" cy="1005840"/>
          </a:xfrm>
          <a:prstGeom prst="rect">
            <a:avLst/>
          </a:prstGeom>
          <a:solidFill>
            <a:srgbClr val="2B6CB0"/>
          </a:solidFill>
          <a:ln>
            <a:noFill/>
          </a:ln>
          <a:effectLst>
            <a:outerShdw blurRad="40000" rotWithShape="0" dir="5400000" dist="23000">
              <a:srgbClr val="000000">
                <a:alpha val="34902"/>
              </a:srgbClr>
            </a:outerShdw>
          </a:effectLst>
        </p:spPr>
        <p:txBody>
          <a:bodyPr anchorCtr="0" anchor="ctr" bIns="45700" lIns="548625" spcFirstLastPara="1" rIns="91425" wrap="square" tIns="13715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Calibri"/>
                <a:ea typeface="Calibri"/>
                <a:cs typeface="Calibri"/>
                <a:sym typeface="Calibri"/>
              </a:rPr>
              <a:t>Delivery Guarantees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BEE3F8"/>
                </a:solidFill>
                <a:latin typeface="Calibri"/>
                <a:ea typeface="Calibri"/>
                <a:cs typeface="Calibri"/>
                <a:sym typeface="Calibri"/>
              </a:rPr>
              <a:t>At-most-once, at-least-once, and the idempotent consumer pattern</a:t>
            </a:r>
            <a:endParaRPr b="0" i="0" sz="1400" u="none" cap="none" strike="noStrike">
              <a:solidFill>
                <a:srgbClr val="000000"/>
              </a:solidFill>
              <a:latin typeface="Arial"/>
              <a:ea typeface="Arial"/>
              <a:cs typeface="Arial"/>
              <a:sym typeface="Arial"/>
            </a:endParaRPr>
          </a:p>
        </p:txBody>
      </p:sp>
      <p:sp>
        <p:nvSpPr>
          <p:cNvPr id="401" name="Google Shape;401;p18"/>
          <p:cNvSpPr/>
          <p:nvPr/>
        </p:nvSpPr>
        <p:spPr>
          <a:xfrm>
            <a:off x="457200" y="6400800"/>
            <a:ext cx="11277295" cy="18288"/>
          </a:xfrm>
          <a:prstGeom prst="rect">
            <a:avLst/>
          </a:prstGeom>
          <a:solidFill>
            <a:srgbClr val="E2E8F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2" name="Google Shape;402;p18"/>
          <p:cNvSpPr txBox="1"/>
          <p:nvPr/>
        </p:nvSpPr>
        <p:spPr>
          <a:xfrm>
            <a:off x="457200" y="6446520"/>
            <a:ext cx="4572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RabbitMQ in Production</a:t>
            </a:r>
            <a:endParaRPr b="0" i="0" sz="1400" u="none" cap="none" strike="noStrike">
              <a:solidFill>
                <a:srgbClr val="000000"/>
              </a:solidFill>
              <a:latin typeface="Arial"/>
              <a:ea typeface="Arial"/>
              <a:cs typeface="Arial"/>
              <a:sym typeface="Arial"/>
            </a:endParaRPr>
          </a:p>
        </p:txBody>
      </p:sp>
      <p:sp>
        <p:nvSpPr>
          <p:cNvPr id="403" name="Google Shape;403;p18"/>
          <p:cNvSpPr txBox="1"/>
          <p:nvPr/>
        </p:nvSpPr>
        <p:spPr>
          <a:xfrm>
            <a:off x="10515600" y="6446520"/>
            <a:ext cx="1371600" cy="32004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18 / 26</a:t>
            </a:r>
            <a:endParaRPr b="0" i="0" sz="1400" u="none" cap="none" strike="noStrike">
              <a:solidFill>
                <a:srgbClr val="000000"/>
              </a:solidFill>
              <a:latin typeface="Arial"/>
              <a:ea typeface="Arial"/>
              <a:cs typeface="Arial"/>
              <a:sym typeface="Arial"/>
            </a:endParaRPr>
          </a:p>
        </p:txBody>
      </p:sp>
      <p:sp>
        <p:nvSpPr>
          <p:cNvPr id="404" name="Google Shape;404;p18"/>
          <p:cNvSpPr/>
          <p:nvPr/>
        </p:nvSpPr>
        <p:spPr>
          <a:xfrm>
            <a:off x="645800" y="1648707"/>
            <a:ext cx="3288793" cy="563793"/>
          </a:xfrm>
          <a:prstGeom prst="roundRect">
            <a:avLst>
              <a:gd fmla="val 16667" name="adj"/>
            </a:avLst>
          </a:prstGeom>
          <a:solidFill>
            <a:srgbClr val="E53E3E"/>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Calibri"/>
                <a:ea typeface="Calibri"/>
                <a:cs typeface="Calibri"/>
                <a:sym typeface="Calibri"/>
              </a:rPr>
              <a:t>🎯  At-Most-Once</a:t>
            </a:r>
            <a:endParaRPr b="0" i="0" sz="1400" u="none" cap="none" strike="noStrike">
              <a:solidFill>
                <a:srgbClr val="000000"/>
              </a:solidFill>
              <a:latin typeface="Arial"/>
              <a:ea typeface="Arial"/>
              <a:cs typeface="Arial"/>
              <a:sym typeface="Arial"/>
            </a:endParaRPr>
          </a:p>
        </p:txBody>
      </p:sp>
      <p:sp>
        <p:nvSpPr>
          <p:cNvPr id="405" name="Google Shape;405;p18"/>
          <p:cNvSpPr txBox="1"/>
          <p:nvPr/>
        </p:nvSpPr>
        <p:spPr>
          <a:xfrm>
            <a:off x="645800" y="2400431"/>
            <a:ext cx="3288793" cy="93965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500"/>
              <a:buFont typeface="Arial"/>
              <a:buNone/>
            </a:pPr>
            <a:r>
              <a:rPr b="0" i="0" lang="en-US" sz="1500" u="none" cap="none" strike="noStrike">
                <a:solidFill>
                  <a:srgbClr val="2D3A4A"/>
                </a:solidFill>
                <a:latin typeface="Calibri"/>
                <a:ea typeface="Calibri"/>
                <a:cs typeface="Calibri"/>
                <a:sym typeface="Calibri"/>
              </a:rPr>
              <a:t>Fire and forget</a:t>
            </a:r>
            <a:br>
              <a:rPr b="0" i="0" lang="en-US" sz="1500" u="none" cap="none" strike="noStrike">
                <a:solidFill>
                  <a:srgbClr val="2D3A4A"/>
                </a:solidFill>
                <a:latin typeface="Calibri"/>
                <a:ea typeface="Calibri"/>
                <a:cs typeface="Calibri"/>
                <a:sym typeface="Calibri"/>
              </a:rPr>
            </a:br>
            <a:r>
              <a:rPr b="0" i="0" lang="en-US" sz="1500" u="none" cap="none" strike="noStrike">
                <a:solidFill>
                  <a:srgbClr val="2D3A4A"/>
                </a:solidFill>
                <a:latin typeface="Calibri"/>
                <a:ea typeface="Calibri"/>
                <a:cs typeface="Calibri"/>
                <a:sym typeface="Calibri"/>
              </a:rPr>
              <a:t>May lose messages</a:t>
            </a:r>
            <a:endParaRPr b="0" i="0" sz="1400" u="none" cap="none" strike="noStrike">
              <a:solidFill>
                <a:srgbClr val="000000"/>
              </a:solidFill>
              <a:latin typeface="Arial"/>
              <a:ea typeface="Arial"/>
              <a:cs typeface="Arial"/>
              <a:sym typeface="Arial"/>
            </a:endParaRPr>
          </a:p>
        </p:txBody>
      </p:sp>
      <p:sp>
        <p:nvSpPr>
          <p:cNvPr id="406" name="Google Shape;406;p18"/>
          <p:cNvSpPr/>
          <p:nvPr/>
        </p:nvSpPr>
        <p:spPr>
          <a:xfrm>
            <a:off x="4404421" y="1648707"/>
            <a:ext cx="3288793" cy="563793"/>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Calibri"/>
                <a:ea typeface="Calibri"/>
                <a:cs typeface="Calibri"/>
                <a:sym typeface="Calibri"/>
              </a:rPr>
              <a:t>✅  At-Least-Once</a:t>
            </a:r>
            <a:endParaRPr b="0" i="0" sz="1400" u="none" cap="none" strike="noStrike">
              <a:solidFill>
                <a:srgbClr val="000000"/>
              </a:solidFill>
              <a:latin typeface="Arial"/>
              <a:ea typeface="Arial"/>
              <a:cs typeface="Arial"/>
              <a:sym typeface="Arial"/>
            </a:endParaRPr>
          </a:p>
        </p:txBody>
      </p:sp>
      <p:sp>
        <p:nvSpPr>
          <p:cNvPr id="407" name="Google Shape;407;p18"/>
          <p:cNvSpPr txBox="1"/>
          <p:nvPr/>
        </p:nvSpPr>
        <p:spPr>
          <a:xfrm>
            <a:off x="4404421" y="2400431"/>
            <a:ext cx="3288793" cy="93965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500"/>
              <a:buFont typeface="Arial"/>
              <a:buNone/>
            </a:pPr>
            <a:r>
              <a:rPr b="0" i="0" lang="en-US" sz="1500" u="none" cap="none" strike="noStrike">
                <a:solidFill>
                  <a:srgbClr val="2D3A4A"/>
                </a:solidFill>
                <a:latin typeface="Calibri"/>
                <a:ea typeface="Calibri"/>
                <a:cs typeface="Calibri"/>
                <a:sym typeface="Calibri"/>
              </a:rPr>
              <a:t>Confirms + acks</a:t>
            </a:r>
            <a:br>
              <a:rPr b="0" i="0" lang="en-US" sz="1500" u="none" cap="none" strike="noStrike">
                <a:solidFill>
                  <a:srgbClr val="2D3A4A"/>
                </a:solidFill>
                <a:latin typeface="Calibri"/>
                <a:ea typeface="Calibri"/>
                <a:cs typeface="Calibri"/>
                <a:sym typeface="Calibri"/>
              </a:rPr>
            </a:br>
            <a:r>
              <a:rPr b="0" i="0" lang="en-US" sz="1500" u="none" cap="none" strike="noStrike">
                <a:solidFill>
                  <a:srgbClr val="2D3A4A"/>
                </a:solidFill>
                <a:latin typeface="Calibri"/>
                <a:ea typeface="Calibri"/>
                <a:cs typeface="Calibri"/>
                <a:sym typeface="Calibri"/>
              </a:rPr>
              <a:t>May get duplicates</a:t>
            </a:r>
            <a:endParaRPr b="0" i="0" sz="1400" u="none" cap="none" strike="noStrike">
              <a:solidFill>
                <a:srgbClr val="000000"/>
              </a:solidFill>
              <a:latin typeface="Arial"/>
              <a:ea typeface="Arial"/>
              <a:cs typeface="Arial"/>
              <a:sym typeface="Arial"/>
            </a:endParaRPr>
          </a:p>
        </p:txBody>
      </p:sp>
      <p:sp>
        <p:nvSpPr>
          <p:cNvPr id="408" name="Google Shape;408;p18"/>
          <p:cNvSpPr/>
          <p:nvPr/>
        </p:nvSpPr>
        <p:spPr>
          <a:xfrm>
            <a:off x="8163041" y="1648707"/>
            <a:ext cx="3288793" cy="563793"/>
          </a:xfrm>
          <a:prstGeom prst="roundRect">
            <a:avLst>
              <a:gd fmla="val 16667" name="adj"/>
            </a:avLst>
          </a:prstGeom>
          <a:solidFill>
            <a:srgbClr val="2B6CB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Calibri"/>
                <a:ea typeface="Calibri"/>
                <a:cs typeface="Calibri"/>
                <a:sym typeface="Calibri"/>
              </a:rPr>
              <a:t>🛡  Idempotent</a:t>
            </a:r>
            <a:endParaRPr b="0" i="0" sz="1400" u="none" cap="none" strike="noStrike">
              <a:solidFill>
                <a:srgbClr val="000000"/>
              </a:solidFill>
              <a:latin typeface="Arial"/>
              <a:ea typeface="Arial"/>
              <a:cs typeface="Arial"/>
              <a:sym typeface="Arial"/>
            </a:endParaRPr>
          </a:p>
        </p:txBody>
      </p:sp>
      <p:sp>
        <p:nvSpPr>
          <p:cNvPr id="409" name="Google Shape;409;p18"/>
          <p:cNvSpPr txBox="1"/>
          <p:nvPr/>
        </p:nvSpPr>
        <p:spPr>
          <a:xfrm>
            <a:off x="8163041" y="2400431"/>
            <a:ext cx="3288793" cy="93965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500"/>
              <a:buFont typeface="Arial"/>
              <a:buNone/>
            </a:pPr>
            <a:r>
              <a:rPr b="0" i="0" lang="en-US" sz="1500" u="none" cap="none" strike="noStrike">
                <a:solidFill>
                  <a:srgbClr val="2D3A4A"/>
                </a:solidFill>
                <a:latin typeface="Calibri"/>
                <a:ea typeface="Calibri"/>
                <a:cs typeface="Calibri"/>
                <a:sym typeface="Calibri"/>
              </a:rPr>
              <a:t>At-least-once +</a:t>
            </a:r>
            <a:br>
              <a:rPr b="0" i="0" lang="en-US" sz="1500" u="none" cap="none" strike="noStrike">
                <a:solidFill>
                  <a:srgbClr val="2D3A4A"/>
                </a:solidFill>
                <a:latin typeface="Calibri"/>
                <a:ea typeface="Calibri"/>
                <a:cs typeface="Calibri"/>
                <a:sym typeface="Calibri"/>
              </a:rPr>
            </a:br>
            <a:r>
              <a:rPr b="0" i="0" lang="en-US" sz="1500" u="none" cap="none" strike="noStrike">
                <a:solidFill>
                  <a:srgbClr val="2D3A4A"/>
                </a:solidFill>
                <a:latin typeface="Calibri"/>
                <a:ea typeface="Calibri"/>
                <a:cs typeface="Calibri"/>
                <a:sym typeface="Calibri"/>
              </a:rPr>
              <a:t>dedup by ID</a:t>
            </a:r>
            <a:endParaRPr b="0" i="0" sz="1400" u="none" cap="none" strike="noStrike">
              <a:solidFill>
                <a:srgbClr val="000000"/>
              </a:solidFill>
              <a:latin typeface="Arial"/>
              <a:ea typeface="Arial"/>
              <a:cs typeface="Arial"/>
              <a:sym typeface="Arial"/>
            </a:endParaRPr>
          </a:p>
        </p:txBody>
      </p:sp>
      <p:sp>
        <p:nvSpPr>
          <p:cNvPr id="410" name="Google Shape;410;p18"/>
          <p:cNvSpPr/>
          <p:nvPr/>
        </p:nvSpPr>
        <p:spPr>
          <a:xfrm>
            <a:off x="1773386" y="3903879"/>
            <a:ext cx="2349138" cy="657759"/>
          </a:xfrm>
          <a:prstGeom prst="roundRect">
            <a:avLst>
              <a:gd fmla="val 16667" name="adj"/>
            </a:avLst>
          </a:prstGeom>
          <a:solidFill>
            <a:srgbClr val="ED8A36"/>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Duplicate message</a:t>
            </a:r>
            <a:br>
              <a:rPr b="1" i="0" lang="en-US" sz="1400" u="none" cap="none" strike="noStrike">
                <a:solidFill>
                  <a:srgbClr val="FFFFFF"/>
                </a:solidFill>
                <a:latin typeface="Calibri"/>
                <a:ea typeface="Calibri"/>
                <a:cs typeface="Calibri"/>
                <a:sym typeface="Calibri"/>
              </a:rPr>
            </a:br>
            <a:r>
              <a:rPr b="1" i="0" lang="en-US" sz="1400" u="none" cap="none" strike="noStrike">
                <a:solidFill>
                  <a:srgbClr val="FFFFFF"/>
                </a:solidFill>
                <a:latin typeface="Calibri"/>
                <a:ea typeface="Calibri"/>
                <a:cs typeface="Calibri"/>
                <a:sym typeface="Calibri"/>
              </a:rPr>
              <a:t>(same ID)</a:t>
            </a:r>
            <a:endParaRPr b="0" i="0" sz="1400" u="none" cap="none" strike="noStrike">
              <a:solidFill>
                <a:srgbClr val="000000"/>
              </a:solidFill>
              <a:latin typeface="Arial"/>
              <a:ea typeface="Arial"/>
              <a:cs typeface="Arial"/>
              <a:sym typeface="Arial"/>
            </a:endParaRPr>
          </a:p>
        </p:txBody>
      </p:sp>
      <p:sp>
        <p:nvSpPr>
          <p:cNvPr id="411" name="Google Shape;411;p18"/>
          <p:cNvSpPr/>
          <p:nvPr/>
        </p:nvSpPr>
        <p:spPr>
          <a:xfrm>
            <a:off x="4310455" y="4073017"/>
            <a:ext cx="751724" cy="328879"/>
          </a:xfrm>
          <a:prstGeom prst="rightArrow">
            <a:avLst>
              <a:gd fmla="val 50000" name="adj1"/>
              <a:gd fmla="val 50000" name="adj2"/>
            </a:avLst>
          </a:prstGeom>
          <a:solidFill>
            <a:srgbClr val="A0AEC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2" name="Google Shape;412;p18"/>
          <p:cNvSpPr/>
          <p:nvPr/>
        </p:nvSpPr>
        <p:spPr>
          <a:xfrm>
            <a:off x="5250110" y="3903879"/>
            <a:ext cx="2818966" cy="657759"/>
          </a:xfrm>
          <a:prstGeom prst="roundRect">
            <a:avLst>
              <a:gd fmla="val 16667" name="adj"/>
            </a:avLst>
          </a:prstGeom>
          <a:solidFill>
            <a:srgbClr val="2B6CB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Idempotent Consumer</a:t>
            </a:r>
            <a:br>
              <a:rPr b="1" i="0" lang="en-US" sz="1400" u="none" cap="none" strike="noStrike">
                <a:solidFill>
                  <a:srgbClr val="FFFFFF"/>
                </a:solidFill>
                <a:latin typeface="Calibri"/>
                <a:ea typeface="Calibri"/>
                <a:cs typeface="Calibri"/>
                <a:sym typeface="Calibri"/>
              </a:rPr>
            </a:br>
            <a:r>
              <a:rPr b="1" i="0" lang="en-US" sz="1400" u="none" cap="none" strike="noStrike">
                <a:solidFill>
                  <a:srgbClr val="FFFFFF"/>
                </a:solidFill>
                <a:latin typeface="Calibri"/>
                <a:ea typeface="Calibri"/>
                <a:cs typeface="Calibri"/>
                <a:sym typeface="Calibri"/>
              </a:rPr>
              <a:t>(checks ID first)</a:t>
            </a:r>
            <a:endParaRPr b="0" i="0" sz="1400" u="none" cap="none" strike="noStrike">
              <a:solidFill>
                <a:srgbClr val="000000"/>
              </a:solidFill>
              <a:latin typeface="Arial"/>
              <a:ea typeface="Arial"/>
              <a:cs typeface="Arial"/>
              <a:sym typeface="Arial"/>
            </a:endParaRPr>
          </a:p>
        </p:txBody>
      </p:sp>
      <p:sp>
        <p:nvSpPr>
          <p:cNvPr id="413" name="Google Shape;413;p18"/>
          <p:cNvSpPr/>
          <p:nvPr/>
        </p:nvSpPr>
        <p:spPr>
          <a:xfrm>
            <a:off x="8257007" y="4073017"/>
            <a:ext cx="751724" cy="328879"/>
          </a:xfrm>
          <a:prstGeom prst="rightArrow">
            <a:avLst>
              <a:gd fmla="val 50000" name="adj1"/>
              <a:gd fmla="val 50000" name="adj2"/>
            </a:avLst>
          </a:prstGeom>
          <a:solidFill>
            <a:srgbClr val="A0AEC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4" name="Google Shape;414;p18"/>
          <p:cNvSpPr/>
          <p:nvPr/>
        </p:nvSpPr>
        <p:spPr>
          <a:xfrm>
            <a:off x="9196662" y="3903879"/>
            <a:ext cx="2349138" cy="657759"/>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Processed once ✅</a:t>
            </a:r>
            <a:endParaRPr b="0" i="0" sz="1400" u="none" cap="none" strike="noStrike">
              <a:solidFill>
                <a:srgbClr val="000000"/>
              </a:solidFill>
              <a:latin typeface="Arial"/>
              <a:ea typeface="Arial"/>
              <a:cs typeface="Arial"/>
              <a:sym typeface="Arial"/>
            </a:endParaRPr>
          </a:p>
        </p:txBody>
      </p:sp>
      <p:sp>
        <p:nvSpPr>
          <p:cNvPr id="415" name="Google Shape;415;p18"/>
          <p:cNvSpPr txBox="1"/>
          <p:nvPr/>
        </p:nvSpPr>
        <p:spPr>
          <a:xfrm>
            <a:off x="833731" y="5031466"/>
            <a:ext cx="9396552" cy="4698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2B6CB0"/>
                </a:solidFill>
                <a:latin typeface="Calibri"/>
                <a:ea typeface="Calibri"/>
                <a:cs typeface="Calibri"/>
                <a:sym typeface="Calibri"/>
              </a:rPr>
              <a:t>💡 RabbitMQ gives at-least-once. Make your consumers idempotent by storing a message ID and skipping duplicates.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420" name="Shape 420"/>
        <p:cNvGrpSpPr/>
        <p:nvPr/>
      </p:nvGrpSpPr>
      <p:grpSpPr>
        <a:xfrm>
          <a:off x="0" y="0"/>
          <a:ext cx="0" cy="0"/>
          <a:chOff x="0" y="0"/>
          <a:chExt cx="0" cy="0"/>
        </a:xfrm>
      </p:grpSpPr>
      <p:sp>
        <p:nvSpPr>
          <p:cNvPr id="421" name="Google Shape;421;p19"/>
          <p:cNvSpPr/>
          <p:nvPr/>
        </p:nvSpPr>
        <p:spPr>
          <a:xfrm>
            <a:off x="0" y="0"/>
            <a:ext cx="12191695" cy="1005840"/>
          </a:xfrm>
          <a:prstGeom prst="rect">
            <a:avLst/>
          </a:prstGeom>
          <a:solidFill>
            <a:srgbClr val="2B6CB0"/>
          </a:solidFill>
          <a:ln>
            <a:noFill/>
          </a:ln>
          <a:effectLst>
            <a:outerShdw blurRad="40000" rotWithShape="0" dir="5400000" dist="23000">
              <a:srgbClr val="000000">
                <a:alpha val="34902"/>
              </a:srgbClr>
            </a:outerShdw>
          </a:effectLst>
        </p:spPr>
        <p:txBody>
          <a:bodyPr anchorCtr="0" anchor="ctr" bIns="45700" lIns="548625" spcFirstLastPara="1" rIns="91425" wrap="square" tIns="13715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Calibri"/>
                <a:ea typeface="Calibri"/>
                <a:cs typeface="Calibri"/>
                <a:sym typeface="Calibri"/>
              </a:rPr>
              <a:t>Three Queue Types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BEE3F8"/>
                </a:solidFill>
                <a:latin typeface="Calibri"/>
                <a:ea typeface="Calibri"/>
                <a:cs typeface="Calibri"/>
                <a:sym typeface="Calibri"/>
              </a:rPr>
              <a:t>Classic (single node), Quorum (recommended), Stream (replay)</a:t>
            </a:r>
            <a:endParaRPr b="0" i="0" sz="1400" u="none" cap="none" strike="noStrike">
              <a:solidFill>
                <a:srgbClr val="000000"/>
              </a:solidFill>
              <a:latin typeface="Arial"/>
              <a:ea typeface="Arial"/>
              <a:cs typeface="Arial"/>
              <a:sym typeface="Arial"/>
            </a:endParaRPr>
          </a:p>
        </p:txBody>
      </p:sp>
      <p:sp>
        <p:nvSpPr>
          <p:cNvPr id="422" name="Google Shape;422;p19"/>
          <p:cNvSpPr/>
          <p:nvPr/>
        </p:nvSpPr>
        <p:spPr>
          <a:xfrm>
            <a:off x="457200" y="6400800"/>
            <a:ext cx="11277295" cy="18288"/>
          </a:xfrm>
          <a:prstGeom prst="rect">
            <a:avLst/>
          </a:prstGeom>
          <a:solidFill>
            <a:srgbClr val="E2E8F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3" name="Google Shape;423;p19"/>
          <p:cNvSpPr txBox="1"/>
          <p:nvPr/>
        </p:nvSpPr>
        <p:spPr>
          <a:xfrm>
            <a:off x="457200" y="6446520"/>
            <a:ext cx="4572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RabbitMQ in Production</a:t>
            </a:r>
            <a:endParaRPr b="0" i="0" sz="1400" u="none" cap="none" strike="noStrike">
              <a:solidFill>
                <a:srgbClr val="000000"/>
              </a:solidFill>
              <a:latin typeface="Arial"/>
              <a:ea typeface="Arial"/>
              <a:cs typeface="Arial"/>
              <a:sym typeface="Arial"/>
            </a:endParaRPr>
          </a:p>
        </p:txBody>
      </p:sp>
      <p:sp>
        <p:nvSpPr>
          <p:cNvPr id="424" name="Google Shape;424;p19"/>
          <p:cNvSpPr txBox="1"/>
          <p:nvPr/>
        </p:nvSpPr>
        <p:spPr>
          <a:xfrm>
            <a:off x="10515600" y="6446520"/>
            <a:ext cx="1371600" cy="32004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19 / 26</a:t>
            </a:r>
            <a:endParaRPr b="0" i="0" sz="1400" u="none" cap="none" strike="noStrike">
              <a:solidFill>
                <a:srgbClr val="000000"/>
              </a:solidFill>
              <a:latin typeface="Arial"/>
              <a:ea typeface="Arial"/>
              <a:cs typeface="Arial"/>
              <a:sym typeface="Arial"/>
            </a:endParaRPr>
          </a:p>
        </p:txBody>
      </p:sp>
      <p:sp>
        <p:nvSpPr>
          <p:cNvPr id="425" name="Google Shape;425;p19"/>
          <p:cNvSpPr/>
          <p:nvPr/>
        </p:nvSpPr>
        <p:spPr>
          <a:xfrm>
            <a:off x="739766" y="1695690"/>
            <a:ext cx="3288793" cy="657759"/>
          </a:xfrm>
          <a:prstGeom prst="roundRect">
            <a:avLst>
              <a:gd fmla="val 16667" name="adj"/>
            </a:avLst>
          </a:prstGeom>
          <a:solidFill>
            <a:srgbClr val="A0AEC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Classic</a:t>
            </a:r>
            <a:endParaRPr b="0" i="0" sz="1400" u="none" cap="none" strike="noStrike">
              <a:solidFill>
                <a:srgbClr val="000000"/>
              </a:solidFill>
              <a:latin typeface="Arial"/>
              <a:ea typeface="Arial"/>
              <a:cs typeface="Arial"/>
              <a:sym typeface="Arial"/>
            </a:endParaRPr>
          </a:p>
        </p:txBody>
      </p:sp>
      <p:sp>
        <p:nvSpPr>
          <p:cNvPr id="426" name="Google Shape;426;p19"/>
          <p:cNvSpPr txBox="1"/>
          <p:nvPr/>
        </p:nvSpPr>
        <p:spPr>
          <a:xfrm>
            <a:off x="927697" y="2541379"/>
            <a:ext cx="3006897" cy="16913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2D3A4A"/>
                </a:solidFill>
                <a:latin typeface="Calibri"/>
                <a:ea typeface="Calibri"/>
                <a:cs typeface="Calibri"/>
                <a:sym typeface="Calibri"/>
              </a:rPr>
              <a:t>• Original type</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Single node</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Mirroring removed in 4.0</a:t>
            </a:r>
            <a:endParaRPr b="0" i="0" sz="2000" u="none" cap="none" strike="noStrike">
              <a:solidFill>
                <a:srgbClr val="000000"/>
              </a:solidFill>
              <a:latin typeface="Arial"/>
              <a:ea typeface="Arial"/>
              <a:cs typeface="Arial"/>
              <a:sym typeface="Arial"/>
            </a:endParaRPr>
          </a:p>
        </p:txBody>
      </p:sp>
      <p:sp>
        <p:nvSpPr>
          <p:cNvPr id="427" name="Google Shape;427;p19"/>
          <p:cNvSpPr/>
          <p:nvPr/>
        </p:nvSpPr>
        <p:spPr>
          <a:xfrm>
            <a:off x="4498386" y="1695690"/>
            <a:ext cx="3288793" cy="657759"/>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Quorum ⭐</a:t>
            </a:r>
            <a:endParaRPr b="0" i="0" sz="1400" u="none" cap="none" strike="noStrike">
              <a:solidFill>
                <a:srgbClr val="000000"/>
              </a:solidFill>
              <a:latin typeface="Arial"/>
              <a:ea typeface="Arial"/>
              <a:cs typeface="Arial"/>
              <a:sym typeface="Arial"/>
            </a:endParaRPr>
          </a:p>
        </p:txBody>
      </p:sp>
      <p:sp>
        <p:nvSpPr>
          <p:cNvPr id="428" name="Google Shape;428;p19"/>
          <p:cNvSpPr txBox="1"/>
          <p:nvPr/>
        </p:nvSpPr>
        <p:spPr>
          <a:xfrm>
            <a:off x="4686317" y="2541379"/>
            <a:ext cx="3006897" cy="16913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2D3A4A"/>
                </a:solidFill>
                <a:latin typeface="Calibri"/>
                <a:ea typeface="Calibri"/>
                <a:cs typeface="Calibri"/>
                <a:sym typeface="Calibri"/>
              </a:rPr>
              <a:t>• Replicated (Raft)</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Recommended</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Survives failures</a:t>
            </a:r>
            <a:endParaRPr b="0" i="0" sz="2000" u="none" cap="none" strike="noStrike">
              <a:solidFill>
                <a:srgbClr val="000000"/>
              </a:solidFill>
              <a:latin typeface="Arial"/>
              <a:ea typeface="Arial"/>
              <a:cs typeface="Arial"/>
              <a:sym typeface="Arial"/>
            </a:endParaRPr>
          </a:p>
        </p:txBody>
      </p:sp>
      <p:sp>
        <p:nvSpPr>
          <p:cNvPr id="429" name="Google Shape;429;p19"/>
          <p:cNvSpPr/>
          <p:nvPr/>
        </p:nvSpPr>
        <p:spPr>
          <a:xfrm>
            <a:off x="8257007" y="1695690"/>
            <a:ext cx="3288793" cy="657759"/>
          </a:xfrm>
          <a:prstGeom prst="roundRect">
            <a:avLst>
              <a:gd fmla="val 16667" name="adj"/>
            </a:avLst>
          </a:prstGeom>
          <a:solidFill>
            <a:srgbClr val="2B6CB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Stream</a:t>
            </a:r>
            <a:endParaRPr b="0" i="0" sz="1400" u="none" cap="none" strike="noStrike">
              <a:solidFill>
                <a:srgbClr val="000000"/>
              </a:solidFill>
              <a:latin typeface="Arial"/>
              <a:ea typeface="Arial"/>
              <a:cs typeface="Arial"/>
              <a:sym typeface="Arial"/>
            </a:endParaRPr>
          </a:p>
        </p:txBody>
      </p:sp>
      <p:sp>
        <p:nvSpPr>
          <p:cNvPr id="430" name="Google Shape;430;p19"/>
          <p:cNvSpPr txBox="1"/>
          <p:nvPr/>
        </p:nvSpPr>
        <p:spPr>
          <a:xfrm>
            <a:off x="8444938" y="2541379"/>
            <a:ext cx="3006897" cy="16913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2D3A4A"/>
                </a:solidFill>
                <a:latin typeface="Calibri"/>
                <a:ea typeface="Calibri"/>
                <a:cs typeface="Calibri"/>
                <a:sym typeface="Calibri"/>
              </a:rPr>
              <a:t>• Append-only log</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Replayable</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Multiple readers</a:t>
            </a:r>
            <a:endParaRPr b="0" i="0" sz="2000" u="none" cap="none" strike="noStrike">
              <a:solidFill>
                <a:srgbClr val="000000"/>
              </a:solidFill>
              <a:latin typeface="Arial"/>
              <a:ea typeface="Arial"/>
              <a:cs typeface="Arial"/>
              <a:sym typeface="Arial"/>
            </a:endParaRPr>
          </a:p>
        </p:txBody>
      </p:sp>
      <p:sp>
        <p:nvSpPr>
          <p:cNvPr id="431" name="Google Shape;431;p19"/>
          <p:cNvSpPr/>
          <p:nvPr/>
        </p:nvSpPr>
        <p:spPr>
          <a:xfrm>
            <a:off x="645800" y="4754880"/>
            <a:ext cx="10336207" cy="822960"/>
          </a:xfrm>
          <a:prstGeom prst="roundRect">
            <a:avLst>
              <a:gd fmla="val 16667" name="adj"/>
            </a:avLst>
          </a:prstGeom>
          <a:solidFill>
            <a:srgbClr val="EBF8FF"/>
          </a:solidFill>
          <a:ln cap="flat" cmpd="sng" w="19050">
            <a:solidFill>
              <a:srgbClr val="2B6CB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37150"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1" lang="en-US" sz="1800" u="none" cap="none" strike="noStrike">
                <a:solidFill>
                  <a:srgbClr val="2B6CB0"/>
                </a:solidFill>
                <a:latin typeface="Calibri"/>
                <a:ea typeface="Calibri"/>
                <a:cs typeface="Calibri"/>
                <a:sym typeface="Calibri"/>
              </a:rPr>
              <a:t>💡 In real tech terms: quorum queues are like having 3 copies of every letter in different post offices — losing one office doesn't lose the mail.</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436" name="Shape 436"/>
        <p:cNvGrpSpPr/>
        <p:nvPr/>
      </p:nvGrpSpPr>
      <p:grpSpPr>
        <a:xfrm>
          <a:off x="0" y="0"/>
          <a:ext cx="0" cy="0"/>
          <a:chOff x="0" y="0"/>
          <a:chExt cx="0" cy="0"/>
        </a:xfrm>
      </p:grpSpPr>
      <p:sp>
        <p:nvSpPr>
          <p:cNvPr id="437" name="Google Shape;437;p20"/>
          <p:cNvSpPr/>
          <p:nvPr/>
        </p:nvSpPr>
        <p:spPr>
          <a:xfrm>
            <a:off x="0" y="0"/>
            <a:ext cx="12191695" cy="1005840"/>
          </a:xfrm>
          <a:prstGeom prst="rect">
            <a:avLst/>
          </a:prstGeom>
          <a:solidFill>
            <a:srgbClr val="2B6CB0"/>
          </a:solidFill>
          <a:ln>
            <a:noFill/>
          </a:ln>
          <a:effectLst>
            <a:outerShdw blurRad="40000" rotWithShape="0" dir="5400000" dist="23000">
              <a:srgbClr val="000000">
                <a:alpha val="34902"/>
              </a:srgbClr>
            </a:outerShdw>
          </a:effectLst>
        </p:spPr>
        <p:txBody>
          <a:bodyPr anchorCtr="0" anchor="ctr" bIns="45700" lIns="548625" spcFirstLastPara="1" rIns="91425" wrap="square" tIns="13715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Calibri"/>
                <a:ea typeface="Calibri"/>
                <a:cs typeface="Calibri"/>
                <a:sym typeface="Calibri"/>
              </a:rPr>
              <a:t>Quorum Queues &amp; Raft Consensus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BEE3F8"/>
                </a:solidFill>
                <a:latin typeface="Calibri"/>
                <a:ea typeface="Calibri"/>
                <a:cs typeface="Calibri"/>
                <a:sym typeface="Calibri"/>
              </a:rPr>
              <a:t>Leader + followers, majority rule: 3 nodes survive 1 failure</a:t>
            </a:r>
            <a:endParaRPr b="0" i="0" sz="1400" u="none" cap="none" strike="noStrike">
              <a:solidFill>
                <a:srgbClr val="000000"/>
              </a:solidFill>
              <a:latin typeface="Arial"/>
              <a:ea typeface="Arial"/>
              <a:cs typeface="Arial"/>
              <a:sym typeface="Arial"/>
            </a:endParaRPr>
          </a:p>
        </p:txBody>
      </p:sp>
      <p:sp>
        <p:nvSpPr>
          <p:cNvPr id="438" name="Google Shape;438;p20"/>
          <p:cNvSpPr/>
          <p:nvPr/>
        </p:nvSpPr>
        <p:spPr>
          <a:xfrm>
            <a:off x="457200" y="6400800"/>
            <a:ext cx="11277295" cy="18288"/>
          </a:xfrm>
          <a:prstGeom prst="rect">
            <a:avLst/>
          </a:prstGeom>
          <a:solidFill>
            <a:srgbClr val="E2E8F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9" name="Google Shape;439;p20"/>
          <p:cNvSpPr txBox="1"/>
          <p:nvPr/>
        </p:nvSpPr>
        <p:spPr>
          <a:xfrm>
            <a:off x="457200" y="6446520"/>
            <a:ext cx="4572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RabbitMQ in Production</a:t>
            </a:r>
            <a:endParaRPr b="0" i="0" sz="1400" u="none" cap="none" strike="noStrike">
              <a:solidFill>
                <a:srgbClr val="000000"/>
              </a:solidFill>
              <a:latin typeface="Arial"/>
              <a:ea typeface="Arial"/>
              <a:cs typeface="Arial"/>
              <a:sym typeface="Arial"/>
            </a:endParaRPr>
          </a:p>
        </p:txBody>
      </p:sp>
      <p:sp>
        <p:nvSpPr>
          <p:cNvPr id="440" name="Google Shape;440;p20"/>
          <p:cNvSpPr txBox="1"/>
          <p:nvPr/>
        </p:nvSpPr>
        <p:spPr>
          <a:xfrm>
            <a:off x="10515600" y="6446520"/>
            <a:ext cx="1371600" cy="32004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20 / 26</a:t>
            </a:r>
            <a:endParaRPr b="0" i="0" sz="1400" u="none" cap="none" strike="noStrike">
              <a:solidFill>
                <a:srgbClr val="000000"/>
              </a:solidFill>
              <a:latin typeface="Arial"/>
              <a:ea typeface="Arial"/>
              <a:cs typeface="Arial"/>
              <a:sym typeface="Arial"/>
            </a:endParaRPr>
          </a:p>
        </p:txBody>
      </p:sp>
      <p:sp>
        <p:nvSpPr>
          <p:cNvPr id="441" name="Google Shape;441;p20"/>
          <p:cNvSpPr txBox="1"/>
          <p:nvPr/>
        </p:nvSpPr>
        <p:spPr>
          <a:xfrm>
            <a:off x="645800" y="1912288"/>
            <a:ext cx="5080508" cy="203220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 One leader handles all reads and writes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 Followers replicate data from the leader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 Majority must confirm before ack to producer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rgbClr val="2D3A4A"/>
                </a:solidFill>
                <a:latin typeface="Calibri"/>
                <a:ea typeface="Calibri"/>
                <a:cs typeface="Calibri"/>
                <a:sym typeface="Calibri"/>
              </a:rPr>
              <a:t>📊 3 nodes → survive 1 failure, 5 → survive 2</a:t>
            </a:r>
            <a:endParaRPr b="0" i="0" sz="1400" u="none" cap="none" strike="noStrike">
              <a:solidFill>
                <a:srgbClr val="000000"/>
              </a:solidFill>
              <a:latin typeface="Arial"/>
              <a:ea typeface="Arial"/>
              <a:cs typeface="Arial"/>
              <a:sym typeface="Arial"/>
            </a:endParaRPr>
          </a:p>
        </p:txBody>
      </p:sp>
      <p:sp>
        <p:nvSpPr>
          <p:cNvPr id="442" name="Google Shape;442;p20"/>
          <p:cNvSpPr/>
          <p:nvPr/>
        </p:nvSpPr>
        <p:spPr>
          <a:xfrm>
            <a:off x="738173" y="4313983"/>
            <a:ext cx="1385593" cy="646610"/>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Producer</a:t>
            </a:r>
            <a:endParaRPr b="0" i="0" sz="1400" u="none" cap="none" strike="noStrike">
              <a:solidFill>
                <a:srgbClr val="000000"/>
              </a:solidFill>
              <a:latin typeface="Arial"/>
              <a:ea typeface="Arial"/>
              <a:cs typeface="Arial"/>
              <a:sym typeface="Arial"/>
            </a:endParaRPr>
          </a:p>
        </p:txBody>
      </p:sp>
      <p:sp>
        <p:nvSpPr>
          <p:cNvPr id="443" name="Google Shape;443;p20"/>
          <p:cNvSpPr/>
          <p:nvPr/>
        </p:nvSpPr>
        <p:spPr>
          <a:xfrm>
            <a:off x="2308512" y="4480254"/>
            <a:ext cx="646610" cy="323305"/>
          </a:xfrm>
          <a:prstGeom prst="rightArrow">
            <a:avLst>
              <a:gd fmla="val 50000" name="adj1"/>
              <a:gd fmla="val 50000" name="adj2"/>
            </a:avLst>
          </a:prstGeom>
          <a:solidFill>
            <a:srgbClr val="A0AEC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4" name="Google Shape;444;p20"/>
          <p:cNvSpPr/>
          <p:nvPr/>
        </p:nvSpPr>
        <p:spPr>
          <a:xfrm>
            <a:off x="3139868" y="4313983"/>
            <a:ext cx="1847458" cy="646610"/>
          </a:xfrm>
          <a:prstGeom prst="roundRect">
            <a:avLst>
              <a:gd fmla="val 16667" name="adj"/>
            </a:avLst>
          </a:prstGeom>
          <a:solidFill>
            <a:srgbClr val="2B6CB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 Leader</a:t>
            </a:r>
            <a:endParaRPr b="0" i="0" sz="1400" u="none" cap="none" strike="noStrike">
              <a:solidFill>
                <a:srgbClr val="000000"/>
              </a:solidFill>
              <a:latin typeface="Arial"/>
              <a:ea typeface="Arial"/>
              <a:cs typeface="Arial"/>
              <a:sym typeface="Arial"/>
            </a:endParaRPr>
          </a:p>
        </p:txBody>
      </p:sp>
      <p:sp>
        <p:nvSpPr>
          <p:cNvPr id="445" name="Google Shape;445;p20"/>
          <p:cNvSpPr/>
          <p:nvPr/>
        </p:nvSpPr>
        <p:spPr>
          <a:xfrm>
            <a:off x="5172071" y="4129237"/>
            <a:ext cx="554237" cy="323305"/>
          </a:xfrm>
          <a:prstGeom prst="rightArrow">
            <a:avLst>
              <a:gd fmla="val 50000" name="adj1"/>
              <a:gd fmla="val 50000" name="adj2"/>
            </a:avLst>
          </a:prstGeom>
          <a:solidFill>
            <a:srgbClr val="2B6CB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6" name="Google Shape;446;p20"/>
          <p:cNvSpPr/>
          <p:nvPr/>
        </p:nvSpPr>
        <p:spPr>
          <a:xfrm>
            <a:off x="5172071" y="4822034"/>
            <a:ext cx="554237" cy="323305"/>
          </a:xfrm>
          <a:prstGeom prst="rightArrow">
            <a:avLst>
              <a:gd fmla="val 50000" name="adj1"/>
              <a:gd fmla="val 50000" name="adj2"/>
            </a:avLst>
          </a:prstGeom>
          <a:solidFill>
            <a:srgbClr val="2B6CB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7" name="Google Shape;447;p20"/>
          <p:cNvSpPr/>
          <p:nvPr/>
        </p:nvSpPr>
        <p:spPr>
          <a:xfrm>
            <a:off x="5911054" y="3944492"/>
            <a:ext cx="1847458" cy="508051"/>
          </a:xfrm>
          <a:prstGeom prst="roundRect">
            <a:avLst>
              <a:gd fmla="val 16667" name="adj"/>
            </a:avLst>
          </a:prstGeom>
          <a:solidFill>
            <a:srgbClr val="ED8A36"/>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Calibri"/>
                <a:ea typeface="Calibri"/>
                <a:cs typeface="Calibri"/>
                <a:sym typeface="Calibri"/>
              </a:rPr>
              <a:t>Follower 1</a:t>
            </a:r>
            <a:endParaRPr b="0" i="0" sz="1400" u="none" cap="none" strike="noStrike">
              <a:solidFill>
                <a:srgbClr val="000000"/>
              </a:solidFill>
              <a:latin typeface="Arial"/>
              <a:ea typeface="Arial"/>
              <a:cs typeface="Arial"/>
              <a:sym typeface="Arial"/>
            </a:endParaRPr>
          </a:p>
        </p:txBody>
      </p:sp>
      <p:sp>
        <p:nvSpPr>
          <p:cNvPr id="448" name="Google Shape;448;p20"/>
          <p:cNvSpPr/>
          <p:nvPr/>
        </p:nvSpPr>
        <p:spPr>
          <a:xfrm>
            <a:off x="5911054" y="4683475"/>
            <a:ext cx="1847458" cy="508051"/>
          </a:xfrm>
          <a:prstGeom prst="roundRect">
            <a:avLst>
              <a:gd fmla="val 16667" name="adj"/>
            </a:avLst>
          </a:prstGeom>
          <a:solidFill>
            <a:srgbClr val="ED8A36"/>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Calibri"/>
                <a:ea typeface="Calibri"/>
                <a:cs typeface="Calibri"/>
                <a:sym typeface="Calibri"/>
              </a:rPr>
              <a:t>Follower 2</a:t>
            </a:r>
            <a:endParaRPr b="0" i="0" sz="1400" u="none" cap="none" strike="noStrike">
              <a:solidFill>
                <a:srgbClr val="000000"/>
              </a:solidFill>
              <a:latin typeface="Arial"/>
              <a:ea typeface="Arial"/>
              <a:cs typeface="Arial"/>
              <a:sym typeface="Arial"/>
            </a:endParaRPr>
          </a:p>
        </p:txBody>
      </p:sp>
      <p:sp>
        <p:nvSpPr>
          <p:cNvPr id="449" name="Google Shape;449;p20"/>
          <p:cNvSpPr/>
          <p:nvPr/>
        </p:nvSpPr>
        <p:spPr>
          <a:xfrm>
            <a:off x="8312749" y="4221610"/>
            <a:ext cx="3233051" cy="461864"/>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Calibri"/>
                <a:ea typeface="Calibri"/>
                <a:cs typeface="Calibri"/>
                <a:sym typeface="Calibri"/>
              </a:rPr>
              <a:t>2 of 3 confirm = majority ✅</a:t>
            </a:r>
            <a:endParaRPr b="0" i="0" sz="1400" u="none" cap="none" strike="noStrike">
              <a:solidFill>
                <a:srgbClr val="000000"/>
              </a:solidFill>
              <a:latin typeface="Arial"/>
              <a:ea typeface="Arial"/>
              <a:cs typeface="Arial"/>
              <a:sym typeface="Arial"/>
            </a:endParaRPr>
          </a:p>
        </p:txBody>
      </p:sp>
      <p:sp>
        <p:nvSpPr>
          <p:cNvPr id="450" name="Google Shape;450;p20"/>
          <p:cNvSpPr/>
          <p:nvPr/>
        </p:nvSpPr>
        <p:spPr>
          <a:xfrm>
            <a:off x="8312749" y="4775847"/>
            <a:ext cx="3233051" cy="461864"/>
          </a:xfrm>
          <a:prstGeom prst="roundRect">
            <a:avLst>
              <a:gd fmla="val 16667" name="adj"/>
            </a:avLst>
          </a:prstGeom>
          <a:solidFill>
            <a:srgbClr val="EBF8FF"/>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2B6CB0"/>
                </a:solidFill>
                <a:latin typeface="Calibri"/>
                <a:ea typeface="Calibri"/>
                <a:cs typeface="Calibri"/>
                <a:sym typeface="Calibri"/>
              </a:rPr>
              <a:t>Message safely replicated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455" name="Shape 455"/>
        <p:cNvGrpSpPr/>
        <p:nvPr/>
      </p:nvGrpSpPr>
      <p:grpSpPr>
        <a:xfrm>
          <a:off x="0" y="0"/>
          <a:ext cx="0" cy="0"/>
          <a:chOff x="0" y="0"/>
          <a:chExt cx="0" cy="0"/>
        </a:xfrm>
      </p:grpSpPr>
      <p:sp>
        <p:nvSpPr>
          <p:cNvPr id="456" name="Google Shape;456;p21"/>
          <p:cNvSpPr/>
          <p:nvPr/>
        </p:nvSpPr>
        <p:spPr>
          <a:xfrm>
            <a:off x="0" y="0"/>
            <a:ext cx="12191695" cy="1005840"/>
          </a:xfrm>
          <a:prstGeom prst="rect">
            <a:avLst/>
          </a:prstGeom>
          <a:solidFill>
            <a:srgbClr val="2B6CB0"/>
          </a:solidFill>
          <a:ln>
            <a:noFill/>
          </a:ln>
          <a:effectLst>
            <a:outerShdw blurRad="40000" rotWithShape="0" dir="5400000" dist="23000">
              <a:srgbClr val="000000">
                <a:alpha val="34902"/>
              </a:srgbClr>
            </a:outerShdw>
          </a:effectLst>
        </p:spPr>
        <p:txBody>
          <a:bodyPr anchorCtr="0" anchor="ctr" bIns="45700" lIns="548625" spcFirstLastPara="1" rIns="91425" wrap="square" tIns="13715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Calibri"/>
                <a:ea typeface="Calibri"/>
                <a:cs typeface="Calibri"/>
                <a:sym typeface="Calibri"/>
              </a:rPr>
              <a:t>Streams — Replayable Message Log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BEE3F8"/>
                </a:solidFill>
                <a:latin typeface="Calibri"/>
                <a:ea typeface="Calibri"/>
                <a:cs typeface="Calibri"/>
                <a:sym typeface="Calibri"/>
              </a:rPr>
              <a:t>Append-only log with independent readers and replay</a:t>
            </a:r>
            <a:endParaRPr b="0" i="0" sz="1400" u="none" cap="none" strike="noStrike">
              <a:solidFill>
                <a:srgbClr val="000000"/>
              </a:solidFill>
              <a:latin typeface="Arial"/>
              <a:ea typeface="Arial"/>
              <a:cs typeface="Arial"/>
              <a:sym typeface="Arial"/>
            </a:endParaRPr>
          </a:p>
        </p:txBody>
      </p:sp>
      <p:sp>
        <p:nvSpPr>
          <p:cNvPr id="457" name="Google Shape;457;p21"/>
          <p:cNvSpPr/>
          <p:nvPr/>
        </p:nvSpPr>
        <p:spPr>
          <a:xfrm>
            <a:off x="457200" y="6400800"/>
            <a:ext cx="11277295" cy="18288"/>
          </a:xfrm>
          <a:prstGeom prst="rect">
            <a:avLst/>
          </a:prstGeom>
          <a:solidFill>
            <a:srgbClr val="E2E8F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8" name="Google Shape;458;p21"/>
          <p:cNvSpPr txBox="1"/>
          <p:nvPr/>
        </p:nvSpPr>
        <p:spPr>
          <a:xfrm>
            <a:off x="457200" y="6446520"/>
            <a:ext cx="4572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RabbitMQ in Production</a:t>
            </a:r>
            <a:endParaRPr b="0" i="0" sz="1400" u="none" cap="none" strike="noStrike">
              <a:solidFill>
                <a:srgbClr val="000000"/>
              </a:solidFill>
              <a:latin typeface="Arial"/>
              <a:ea typeface="Arial"/>
              <a:cs typeface="Arial"/>
              <a:sym typeface="Arial"/>
            </a:endParaRPr>
          </a:p>
        </p:txBody>
      </p:sp>
      <p:sp>
        <p:nvSpPr>
          <p:cNvPr id="459" name="Google Shape;459;p21"/>
          <p:cNvSpPr txBox="1"/>
          <p:nvPr/>
        </p:nvSpPr>
        <p:spPr>
          <a:xfrm>
            <a:off x="10515600" y="6446520"/>
            <a:ext cx="1371600" cy="32004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21 / 26</a:t>
            </a:r>
            <a:endParaRPr b="0" i="0" sz="1400" u="none" cap="none" strike="noStrike">
              <a:solidFill>
                <a:srgbClr val="000000"/>
              </a:solidFill>
              <a:latin typeface="Arial"/>
              <a:ea typeface="Arial"/>
              <a:cs typeface="Arial"/>
              <a:sym typeface="Arial"/>
            </a:endParaRPr>
          </a:p>
        </p:txBody>
      </p:sp>
      <p:sp>
        <p:nvSpPr>
          <p:cNvPr id="460" name="Google Shape;460;p21"/>
          <p:cNvSpPr txBox="1"/>
          <p:nvPr/>
        </p:nvSpPr>
        <p:spPr>
          <a:xfrm>
            <a:off x="649224" y="1453896"/>
            <a:ext cx="10515600" cy="182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2D3A4A"/>
                </a:solidFill>
                <a:latin typeface="Calibri"/>
                <a:ea typeface="Calibri"/>
                <a:cs typeface="Calibri"/>
                <a:sym typeface="Calibri"/>
              </a:rPr>
              <a:t>📜 Append-only log, kept until size/age retention expires 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2300"/>
              <a:buFont typeface="Arial"/>
              <a:buNone/>
            </a:pPr>
            <a:r>
              <a:rPr b="0" i="0" lang="en-US" sz="2300" u="none" cap="none" strike="noStrike">
                <a:solidFill>
                  <a:srgbClr val="2D3A4A"/>
                </a:solidFill>
                <a:latin typeface="Calibri"/>
                <a:ea typeface="Calibri"/>
                <a:cs typeface="Calibri"/>
                <a:sym typeface="Calibri"/>
              </a:rPr>
              <a:t>🔄 Consumers can replay from any offset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2300"/>
              <a:buFont typeface="Arial"/>
              <a:buNone/>
            </a:pPr>
            <a:r>
              <a:rPr b="0" i="0" lang="en-US" sz="2300" u="none" cap="none" strike="noStrike">
                <a:solidFill>
                  <a:srgbClr val="2D3A4A"/>
                </a:solidFill>
                <a:latin typeface="Calibri"/>
                <a:ea typeface="Calibri"/>
                <a:cs typeface="Calibri"/>
                <a:sym typeface="Calibri"/>
              </a:rPr>
              <a:t>👥 Multiple readers at different positions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2300"/>
              <a:buFont typeface="Arial"/>
              <a:buNone/>
            </a:pPr>
            <a:r>
              <a:rPr b="0" i="0" lang="en-US" sz="2300" u="none" cap="none" strike="noStrike">
                <a:solidFill>
                  <a:srgbClr val="2D3A4A"/>
                </a:solidFill>
                <a:latin typeface="Calibri"/>
                <a:ea typeface="Calibri"/>
                <a:cs typeface="Calibri"/>
                <a:sym typeface="Calibri"/>
              </a:rPr>
              <a:t>📏 Retention by size or age — plan your disk space</a:t>
            </a:r>
            <a:endParaRPr b="0" i="0" sz="1400" u="none" cap="none" strike="noStrike">
              <a:solidFill>
                <a:srgbClr val="000000"/>
              </a:solidFill>
              <a:latin typeface="Arial"/>
              <a:ea typeface="Arial"/>
              <a:cs typeface="Arial"/>
              <a:sym typeface="Arial"/>
            </a:endParaRPr>
          </a:p>
        </p:txBody>
      </p:sp>
      <p:sp>
        <p:nvSpPr>
          <p:cNvPr id="461" name="Google Shape;461;p21"/>
          <p:cNvSpPr/>
          <p:nvPr/>
        </p:nvSpPr>
        <p:spPr>
          <a:xfrm>
            <a:off x="1861356" y="4155556"/>
            <a:ext cx="1258889" cy="629444"/>
          </a:xfrm>
          <a:prstGeom prst="roundRect">
            <a:avLst>
              <a:gd fmla="val 16667" name="adj"/>
            </a:avLst>
          </a:prstGeom>
          <a:solidFill>
            <a:srgbClr val="ED8A36"/>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msg 1</a:t>
            </a:r>
            <a:endParaRPr b="0" i="0" sz="1400" u="none" cap="none" strike="noStrike">
              <a:solidFill>
                <a:srgbClr val="000000"/>
              </a:solidFill>
              <a:latin typeface="Arial"/>
              <a:ea typeface="Arial"/>
              <a:cs typeface="Arial"/>
              <a:sym typeface="Arial"/>
            </a:endParaRPr>
          </a:p>
        </p:txBody>
      </p:sp>
      <p:sp>
        <p:nvSpPr>
          <p:cNvPr id="462" name="Google Shape;462;p21"/>
          <p:cNvSpPr/>
          <p:nvPr/>
        </p:nvSpPr>
        <p:spPr>
          <a:xfrm>
            <a:off x="3349133" y="4155556"/>
            <a:ext cx="1258889" cy="629444"/>
          </a:xfrm>
          <a:prstGeom prst="roundRect">
            <a:avLst>
              <a:gd fmla="val 16667" name="adj"/>
            </a:avLst>
          </a:prstGeom>
          <a:solidFill>
            <a:srgbClr val="ED8A36"/>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msg 2</a:t>
            </a:r>
            <a:endParaRPr b="0" i="0" sz="1400" u="none" cap="none" strike="noStrike">
              <a:solidFill>
                <a:srgbClr val="000000"/>
              </a:solidFill>
              <a:latin typeface="Arial"/>
              <a:ea typeface="Arial"/>
              <a:cs typeface="Arial"/>
              <a:sym typeface="Arial"/>
            </a:endParaRPr>
          </a:p>
        </p:txBody>
      </p:sp>
      <p:sp>
        <p:nvSpPr>
          <p:cNvPr id="463" name="Google Shape;463;p21"/>
          <p:cNvSpPr/>
          <p:nvPr/>
        </p:nvSpPr>
        <p:spPr>
          <a:xfrm>
            <a:off x="4836911" y="4155556"/>
            <a:ext cx="1258889" cy="629444"/>
          </a:xfrm>
          <a:prstGeom prst="roundRect">
            <a:avLst>
              <a:gd fmla="val 16667" name="adj"/>
            </a:avLst>
          </a:prstGeom>
          <a:solidFill>
            <a:srgbClr val="ED8A36"/>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msg 3</a:t>
            </a:r>
            <a:endParaRPr b="0" i="0" sz="1400" u="none" cap="none" strike="noStrike">
              <a:solidFill>
                <a:srgbClr val="000000"/>
              </a:solidFill>
              <a:latin typeface="Arial"/>
              <a:ea typeface="Arial"/>
              <a:cs typeface="Arial"/>
              <a:sym typeface="Arial"/>
            </a:endParaRPr>
          </a:p>
        </p:txBody>
      </p:sp>
      <p:sp>
        <p:nvSpPr>
          <p:cNvPr id="464" name="Google Shape;464;p21"/>
          <p:cNvSpPr/>
          <p:nvPr/>
        </p:nvSpPr>
        <p:spPr>
          <a:xfrm>
            <a:off x="6324689" y="4155556"/>
            <a:ext cx="1258889" cy="629444"/>
          </a:xfrm>
          <a:prstGeom prst="roundRect">
            <a:avLst>
              <a:gd fmla="val 16667" name="adj"/>
            </a:avLst>
          </a:prstGeom>
          <a:solidFill>
            <a:srgbClr val="ED8A36"/>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msg 4</a:t>
            </a:r>
            <a:endParaRPr b="0" i="0" sz="1400" u="none" cap="none" strike="noStrike">
              <a:solidFill>
                <a:srgbClr val="000000"/>
              </a:solidFill>
              <a:latin typeface="Arial"/>
              <a:ea typeface="Arial"/>
              <a:cs typeface="Arial"/>
              <a:sym typeface="Arial"/>
            </a:endParaRPr>
          </a:p>
        </p:txBody>
      </p:sp>
      <p:sp>
        <p:nvSpPr>
          <p:cNvPr id="465" name="Google Shape;465;p21"/>
          <p:cNvSpPr/>
          <p:nvPr/>
        </p:nvSpPr>
        <p:spPr>
          <a:xfrm>
            <a:off x="7812467" y="4155556"/>
            <a:ext cx="1258889" cy="629444"/>
          </a:xfrm>
          <a:prstGeom prst="roundRect">
            <a:avLst>
              <a:gd fmla="val 16667" name="adj"/>
            </a:avLst>
          </a:prstGeom>
          <a:solidFill>
            <a:srgbClr val="EBF8FF"/>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ED8A36"/>
                </a:solidFill>
                <a:latin typeface="Calibri"/>
                <a:ea typeface="Calibri"/>
                <a:cs typeface="Calibri"/>
                <a:sym typeface="Calibri"/>
              </a:rPr>
              <a:t>msg 5</a:t>
            </a:r>
            <a:endParaRPr b="0" i="0" sz="1400" u="none" cap="none" strike="noStrike">
              <a:solidFill>
                <a:srgbClr val="000000"/>
              </a:solidFill>
              <a:latin typeface="Arial"/>
              <a:ea typeface="Arial"/>
              <a:cs typeface="Arial"/>
              <a:sym typeface="Arial"/>
            </a:endParaRPr>
          </a:p>
        </p:txBody>
      </p:sp>
      <p:sp>
        <p:nvSpPr>
          <p:cNvPr id="466" name="Google Shape;466;p21"/>
          <p:cNvSpPr/>
          <p:nvPr/>
        </p:nvSpPr>
        <p:spPr>
          <a:xfrm>
            <a:off x="9300244" y="4155556"/>
            <a:ext cx="1258889" cy="629444"/>
          </a:xfrm>
          <a:prstGeom prst="roundRect">
            <a:avLst>
              <a:gd fmla="val 16667" name="adj"/>
            </a:avLst>
          </a:prstGeom>
          <a:solidFill>
            <a:srgbClr val="EBF8FF"/>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ED8A36"/>
                </a:solidFill>
                <a:latin typeface="Calibri"/>
                <a:ea typeface="Calibri"/>
                <a:cs typeface="Calibri"/>
                <a:sym typeface="Calibri"/>
              </a:rPr>
              <a:t>msg 6</a:t>
            </a:r>
            <a:endParaRPr b="0" i="0" sz="1400" u="none" cap="none" strike="noStrike">
              <a:solidFill>
                <a:srgbClr val="000000"/>
              </a:solidFill>
              <a:latin typeface="Arial"/>
              <a:ea typeface="Arial"/>
              <a:cs typeface="Arial"/>
              <a:sym typeface="Arial"/>
            </a:endParaRPr>
          </a:p>
        </p:txBody>
      </p:sp>
      <p:sp>
        <p:nvSpPr>
          <p:cNvPr id="467" name="Google Shape;467;p21"/>
          <p:cNvSpPr txBox="1"/>
          <p:nvPr/>
        </p:nvSpPr>
        <p:spPr>
          <a:xfrm>
            <a:off x="3349133" y="4899444"/>
            <a:ext cx="1716667" cy="3433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B6CB0"/>
                </a:solidFill>
                <a:latin typeface="Calibri"/>
                <a:ea typeface="Calibri"/>
                <a:cs typeface="Calibri"/>
                <a:sym typeface="Calibri"/>
              </a:rPr>
              <a:t>▲ Reader A</a:t>
            </a:r>
            <a:endParaRPr b="0" i="0" sz="1400" u="none" cap="none" strike="noStrike">
              <a:solidFill>
                <a:srgbClr val="000000"/>
              </a:solidFill>
              <a:latin typeface="Arial"/>
              <a:ea typeface="Arial"/>
              <a:cs typeface="Arial"/>
              <a:sym typeface="Arial"/>
            </a:endParaRPr>
          </a:p>
        </p:txBody>
      </p:sp>
      <p:sp>
        <p:nvSpPr>
          <p:cNvPr id="468" name="Google Shape;468;p21"/>
          <p:cNvSpPr txBox="1"/>
          <p:nvPr/>
        </p:nvSpPr>
        <p:spPr>
          <a:xfrm>
            <a:off x="7812467" y="4899444"/>
            <a:ext cx="1716667" cy="3433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38A169"/>
                </a:solidFill>
                <a:latin typeface="Calibri"/>
                <a:ea typeface="Calibri"/>
                <a:cs typeface="Calibri"/>
                <a:sym typeface="Calibri"/>
              </a:rPr>
              <a:t>▲ Reader B</a:t>
            </a:r>
            <a:endParaRPr b="0" i="0" sz="1400" u="none" cap="none" strike="noStrike">
              <a:solidFill>
                <a:srgbClr val="000000"/>
              </a:solidFill>
              <a:latin typeface="Arial"/>
              <a:ea typeface="Arial"/>
              <a:cs typeface="Arial"/>
              <a:sym typeface="Arial"/>
            </a:endParaRPr>
          </a:p>
        </p:txBody>
      </p:sp>
      <p:sp>
        <p:nvSpPr>
          <p:cNvPr id="469" name="Google Shape;469;p21"/>
          <p:cNvSpPr/>
          <p:nvPr/>
        </p:nvSpPr>
        <p:spPr>
          <a:xfrm>
            <a:off x="1518022" y="5643333"/>
            <a:ext cx="9155556" cy="686667"/>
          </a:xfrm>
          <a:prstGeom prst="roundRect">
            <a:avLst>
              <a:gd fmla="val 16667" name="adj"/>
            </a:avLst>
          </a:prstGeom>
          <a:solidFill>
            <a:srgbClr val="EBF8FF"/>
          </a:solidFill>
          <a:ln cap="flat" cmpd="sng" w="19050">
            <a:solidFill>
              <a:srgbClr val="2B6CB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37150"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1" lang="en-US" sz="1800" u="none" cap="none" strike="noStrike">
                <a:solidFill>
                  <a:srgbClr val="2B6CB0"/>
                </a:solidFill>
                <a:latin typeface="Calibri"/>
                <a:ea typeface="Calibri"/>
                <a:cs typeface="Calibri"/>
                <a:sym typeface="Calibri"/>
              </a:rPr>
              <a:t>💡 In real tech terms: like a DVR — multiple viewers can watch the same show from different points.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474" name="Shape 474"/>
        <p:cNvGrpSpPr/>
        <p:nvPr/>
      </p:nvGrpSpPr>
      <p:grpSpPr>
        <a:xfrm>
          <a:off x="0" y="0"/>
          <a:ext cx="0" cy="0"/>
          <a:chOff x="0" y="0"/>
          <a:chExt cx="0" cy="0"/>
        </a:xfrm>
      </p:grpSpPr>
      <p:sp>
        <p:nvSpPr>
          <p:cNvPr id="475" name="Google Shape;475;p30"/>
          <p:cNvSpPr/>
          <p:nvPr/>
        </p:nvSpPr>
        <p:spPr>
          <a:xfrm>
            <a:off x="0" y="0"/>
            <a:ext cx="12191695" cy="1005840"/>
          </a:xfrm>
          <a:prstGeom prst="rect">
            <a:avLst/>
          </a:prstGeom>
          <a:solidFill>
            <a:srgbClr val="2B6CB0"/>
          </a:solidFill>
          <a:ln>
            <a:noFill/>
          </a:ln>
          <a:effectLst>
            <a:outerShdw blurRad="40000" rotWithShape="0" dir="5400000" dist="23000">
              <a:srgbClr val="000000">
                <a:alpha val="34902"/>
              </a:srgbClr>
            </a:outerShdw>
          </a:effectLst>
        </p:spPr>
        <p:txBody>
          <a:bodyPr anchorCtr="0" anchor="ctr" bIns="45700" lIns="548625" spcFirstLastPara="1" rIns="91425" wrap="square" tIns="13715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Calibri"/>
                <a:ea typeface="Calibri"/>
                <a:cs typeface="Calibri"/>
                <a:sym typeface="Calibri"/>
              </a:rPr>
              <a:t>RabbitMQ vs Kafka vs SQS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BEE3F8"/>
                </a:solidFill>
                <a:latin typeface="Calibri"/>
                <a:ea typeface="Calibri"/>
                <a:cs typeface="Calibri"/>
                <a:sym typeface="Calibri"/>
              </a:rPr>
              <a:t>When to choose each — cost and team skills matter too</a:t>
            </a:r>
            <a:endParaRPr b="0" i="0" sz="1400" u="none" cap="none" strike="noStrike">
              <a:solidFill>
                <a:srgbClr val="000000"/>
              </a:solidFill>
              <a:latin typeface="Arial"/>
              <a:ea typeface="Arial"/>
              <a:cs typeface="Arial"/>
              <a:sym typeface="Arial"/>
            </a:endParaRPr>
          </a:p>
        </p:txBody>
      </p:sp>
      <p:sp>
        <p:nvSpPr>
          <p:cNvPr id="476" name="Google Shape;476;p30"/>
          <p:cNvSpPr/>
          <p:nvPr/>
        </p:nvSpPr>
        <p:spPr>
          <a:xfrm>
            <a:off x="457200" y="6400800"/>
            <a:ext cx="11277295" cy="18288"/>
          </a:xfrm>
          <a:prstGeom prst="rect">
            <a:avLst/>
          </a:prstGeom>
          <a:solidFill>
            <a:srgbClr val="E2E8F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7" name="Google Shape;477;p30"/>
          <p:cNvSpPr txBox="1"/>
          <p:nvPr/>
        </p:nvSpPr>
        <p:spPr>
          <a:xfrm>
            <a:off x="457200" y="6446520"/>
            <a:ext cx="4572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RabbitMQ in Production</a:t>
            </a:r>
            <a:endParaRPr b="0" i="0" sz="1400" u="none" cap="none" strike="noStrike">
              <a:solidFill>
                <a:srgbClr val="000000"/>
              </a:solidFill>
              <a:latin typeface="Arial"/>
              <a:ea typeface="Arial"/>
              <a:cs typeface="Arial"/>
              <a:sym typeface="Arial"/>
            </a:endParaRPr>
          </a:p>
        </p:txBody>
      </p:sp>
      <p:sp>
        <p:nvSpPr>
          <p:cNvPr id="478" name="Google Shape;478;p30"/>
          <p:cNvSpPr txBox="1"/>
          <p:nvPr/>
        </p:nvSpPr>
        <p:spPr>
          <a:xfrm>
            <a:off x="10515600" y="6446520"/>
            <a:ext cx="1371600" cy="32004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25 / 26</a:t>
            </a:r>
            <a:endParaRPr b="0" i="0" sz="1400" u="none" cap="none" strike="noStrike">
              <a:solidFill>
                <a:srgbClr val="000000"/>
              </a:solidFill>
              <a:latin typeface="Arial"/>
              <a:ea typeface="Arial"/>
              <a:cs typeface="Arial"/>
              <a:sym typeface="Arial"/>
            </a:endParaRPr>
          </a:p>
        </p:txBody>
      </p:sp>
      <p:sp>
        <p:nvSpPr>
          <p:cNvPr id="479" name="Google Shape;479;p30"/>
          <p:cNvSpPr/>
          <p:nvPr/>
        </p:nvSpPr>
        <p:spPr>
          <a:xfrm>
            <a:off x="700840" y="1450000"/>
            <a:ext cx="3200400" cy="640080"/>
          </a:xfrm>
          <a:prstGeom prst="roundRect">
            <a:avLst>
              <a:gd fmla="val 16667" name="adj"/>
            </a:avLst>
          </a:prstGeom>
          <a:solidFill>
            <a:srgbClr val="ED8A36"/>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RabbitMQ</a:t>
            </a:r>
            <a:endParaRPr b="0" i="0" sz="1400" u="none" cap="none" strike="noStrike">
              <a:solidFill>
                <a:srgbClr val="000000"/>
              </a:solidFill>
              <a:latin typeface="Arial"/>
              <a:ea typeface="Arial"/>
              <a:cs typeface="Arial"/>
              <a:sym typeface="Arial"/>
            </a:endParaRPr>
          </a:p>
        </p:txBody>
      </p:sp>
      <p:sp>
        <p:nvSpPr>
          <p:cNvPr id="480" name="Google Shape;480;p30"/>
          <p:cNvSpPr txBox="1"/>
          <p:nvPr/>
        </p:nvSpPr>
        <p:spPr>
          <a:xfrm>
            <a:off x="883720" y="2272960"/>
            <a:ext cx="2926080" cy="21031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2D3A4A"/>
                </a:solidFill>
                <a:latin typeface="Calibri"/>
                <a:ea typeface="Calibri"/>
                <a:cs typeface="Calibri"/>
                <a:sym typeface="Calibri"/>
              </a:rPr>
              <a:t>• Complex routing</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Priority queues</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Request/reply</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Multi-protocol</a:t>
            </a:r>
            <a:endParaRPr b="0" i="0" sz="2000" u="none" cap="none" strike="noStrike">
              <a:solidFill>
                <a:srgbClr val="000000"/>
              </a:solidFill>
              <a:latin typeface="Arial"/>
              <a:ea typeface="Arial"/>
              <a:cs typeface="Arial"/>
              <a:sym typeface="Arial"/>
            </a:endParaRPr>
          </a:p>
        </p:txBody>
      </p:sp>
      <p:sp>
        <p:nvSpPr>
          <p:cNvPr id="481" name="Google Shape;481;p30"/>
          <p:cNvSpPr/>
          <p:nvPr/>
        </p:nvSpPr>
        <p:spPr>
          <a:xfrm>
            <a:off x="4358440" y="1450000"/>
            <a:ext cx="3200400" cy="640080"/>
          </a:xfrm>
          <a:prstGeom prst="roundRect">
            <a:avLst>
              <a:gd fmla="val 16667" name="adj"/>
            </a:avLst>
          </a:prstGeom>
          <a:solidFill>
            <a:srgbClr val="2B6CB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Kafka</a:t>
            </a:r>
            <a:endParaRPr b="0" i="0" sz="1400" u="none" cap="none" strike="noStrike">
              <a:solidFill>
                <a:srgbClr val="000000"/>
              </a:solidFill>
              <a:latin typeface="Arial"/>
              <a:ea typeface="Arial"/>
              <a:cs typeface="Arial"/>
              <a:sym typeface="Arial"/>
            </a:endParaRPr>
          </a:p>
        </p:txBody>
      </p:sp>
      <p:sp>
        <p:nvSpPr>
          <p:cNvPr id="482" name="Google Shape;482;p30"/>
          <p:cNvSpPr txBox="1"/>
          <p:nvPr/>
        </p:nvSpPr>
        <p:spPr>
          <a:xfrm>
            <a:off x="4541320" y="2272960"/>
            <a:ext cx="2926080" cy="21031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2D3A4A"/>
                </a:solidFill>
                <a:latin typeface="Calibri"/>
                <a:ea typeface="Calibri"/>
                <a:cs typeface="Calibri"/>
                <a:sym typeface="Calibri"/>
              </a:rPr>
              <a:t>• Event sourcing</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Massive throughput</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Replay needed</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Stream processing</a:t>
            </a:r>
            <a:endParaRPr b="0" i="0" sz="2000" u="none" cap="none" strike="noStrike">
              <a:solidFill>
                <a:srgbClr val="000000"/>
              </a:solidFill>
              <a:latin typeface="Arial"/>
              <a:ea typeface="Arial"/>
              <a:cs typeface="Arial"/>
              <a:sym typeface="Arial"/>
            </a:endParaRPr>
          </a:p>
        </p:txBody>
      </p:sp>
      <p:sp>
        <p:nvSpPr>
          <p:cNvPr id="483" name="Google Shape;483;p30"/>
          <p:cNvSpPr/>
          <p:nvPr/>
        </p:nvSpPr>
        <p:spPr>
          <a:xfrm>
            <a:off x="8016040" y="1450000"/>
            <a:ext cx="3200400" cy="640080"/>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SQS</a:t>
            </a:r>
            <a:endParaRPr b="0" i="0" sz="1400" u="none" cap="none" strike="noStrike">
              <a:solidFill>
                <a:srgbClr val="000000"/>
              </a:solidFill>
              <a:latin typeface="Arial"/>
              <a:ea typeface="Arial"/>
              <a:cs typeface="Arial"/>
              <a:sym typeface="Arial"/>
            </a:endParaRPr>
          </a:p>
        </p:txBody>
      </p:sp>
      <p:sp>
        <p:nvSpPr>
          <p:cNvPr id="484" name="Google Shape;484;p30"/>
          <p:cNvSpPr txBox="1"/>
          <p:nvPr/>
        </p:nvSpPr>
        <p:spPr>
          <a:xfrm>
            <a:off x="8198920" y="2272960"/>
            <a:ext cx="2926080" cy="21031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2D3A4A"/>
                </a:solidFill>
                <a:latin typeface="Calibri"/>
                <a:ea typeface="Calibri"/>
                <a:cs typeface="Calibri"/>
                <a:sym typeface="Calibri"/>
              </a:rPr>
              <a:t>• Least ops (AWS)</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Simple queuing</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No cluster mgmt</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Pay per message</a:t>
            </a:r>
            <a:endParaRPr b="0" i="0" sz="2000" u="none" cap="none" strike="noStrike">
              <a:solidFill>
                <a:srgbClr val="000000"/>
              </a:solidFill>
              <a:latin typeface="Arial"/>
              <a:ea typeface="Arial"/>
              <a:cs typeface="Arial"/>
              <a:sym typeface="Arial"/>
            </a:endParaRPr>
          </a:p>
        </p:txBody>
      </p:sp>
      <p:sp>
        <p:nvSpPr>
          <p:cNvPr id="485" name="Google Shape;485;p30"/>
          <p:cNvSpPr txBox="1"/>
          <p:nvPr/>
        </p:nvSpPr>
        <p:spPr>
          <a:xfrm>
            <a:off x="609400" y="4572000"/>
            <a:ext cx="10972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B6CB0"/>
                </a:solidFill>
                <a:latin typeface="Calibri"/>
                <a:ea typeface="Calibri"/>
                <a:cs typeface="Calibri"/>
                <a:sym typeface="Calibri"/>
              </a:rPr>
              <a:t>🤔  Need routing? → RabbitMQ   |   Need event log/replay? → Kafka   |   Least ops on AWS? → SQS</a:t>
            </a:r>
            <a:endParaRPr b="0" i="0" sz="1800" u="none" cap="none" strike="noStrike">
              <a:solidFill>
                <a:srgbClr val="000000"/>
              </a:solidFill>
              <a:latin typeface="Arial"/>
              <a:ea typeface="Arial"/>
              <a:cs typeface="Arial"/>
              <a:sym typeface="Arial"/>
            </a:endParaRPr>
          </a:p>
        </p:txBody>
      </p:sp>
      <p:sp>
        <p:nvSpPr>
          <p:cNvPr id="486" name="Google Shape;486;p30"/>
          <p:cNvSpPr txBox="1"/>
          <p:nvPr/>
        </p:nvSpPr>
        <p:spPr>
          <a:xfrm>
            <a:off x="3169720" y="5473360"/>
            <a:ext cx="54864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490" name="Shape 490"/>
        <p:cNvGrpSpPr/>
        <p:nvPr/>
      </p:nvGrpSpPr>
      <p:grpSpPr>
        <a:xfrm>
          <a:off x="0" y="0"/>
          <a:ext cx="0" cy="0"/>
          <a:chOff x="0" y="0"/>
          <a:chExt cx="0" cy="0"/>
        </a:xfrm>
      </p:grpSpPr>
      <p:sp>
        <p:nvSpPr>
          <p:cNvPr id="491" name="Google Shape;491;h16c38d813e46dba8_0_11"/>
          <p:cNvSpPr/>
          <p:nvPr/>
        </p:nvSpPr>
        <p:spPr>
          <a:xfrm>
            <a:off x="7010213" y="4148137"/>
            <a:ext cx="457200" cy="38100"/>
          </a:xfrm>
          <a:prstGeom prst="rect">
            <a:avLst/>
          </a:prstGeom>
          <a:solidFill>
            <a:srgbClr val="F59E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492" name="Google Shape;492;h16c38d813e46dba8_0_11"/>
          <p:cNvPicPr preferRelativeResize="0"/>
          <p:nvPr/>
        </p:nvPicPr>
        <p:blipFill rotWithShape="1">
          <a:blip r:embed="rId3">
            <a:alphaModFix/>
          </a:blip>
          <a:srcRect b="0" l="0" r="0" t="0"/>
          <a:stretch/>
        </p:blipFill>
        <p:spPr>
          <a:xfrm>
            <a:off x="0" y="0"/>
            <a:ext cx="6095837" cy="6857816"/>
          </a:xfrm>
          <a:prstGeom prst="rect">
            <a:avLst/>
          </a:prstGeom>
          <a:noFill/>
          <a:ln>
            <a:noFill/>
          </a:ln>
        </p:spPr>
      </p:pic>
      <p:pic>
        <p:nvPicPr>
          <p:cNvPr descr="image.png" id="493" name="Google Shape;493;h16c38d813e46dba8_0_11"/>
          <p:cNvPicPr preferRelativeResize="0"/>
          <p:nvPr/>
        </p:nvPicPr>
        <p:blipFill rotWithShape="1">
          <a:blip r:embed="rId4">
            <a:alphaModFix/>
          </a:blip>
          <a:srcRect b="0" l="0" r="0" t="0"/>
          <a:stretch/>
        </p:blipFill>
        <p:spPr>
          <a:xfrm>
            <a:off x="0" y="0"/>
            <a:ext cx="6086314" cy="6857816"/>
          </a:xfrm>
          <a:prstGeom prst="rect">
            <a:avLst/>
          </a:prstGeom>
          <a:noFill/>
          <a:ln>
            <a:noFill/>
          </a:ln>
        </p:spPr>
      </p:pic>
      <p:sp>
        <p:nvSpPr>
          <p:cNvPr id="494" name="Google Shape;494;h16c38d813e46dba8_0_11"/>
          <p:cNvSpPr txBox="1"/>
          <p:nvPr/>
        </p:nvSpPr>
        <p:spPr>
          <a:xfrm>
            <a:off x="7010213" y="1662112"/>
            <a:ext cx="51816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F59E0B"/>
                </a:solidFill>
                <a:latin typeface="Space Grotesk"/>
                <a:ea typeface="Space Grotesk"/>
                <a:cs typeface="Space Grotesk"/>
                <a:sym typeface="Space Grotesk"/>
              </a:rPr>
              <a:t>RABBITMQ IN PRODUCTION</a:t>
            </a:r>
            <a:endParaRPr/>
          </a:p>
        </p:txBody>
      </p:sp>
      <p:sp>
        <p:nvSpPr>
          <p:cNvPr id="495" name="Google Shape;495;h16c38d813e46dba8_0_11"/>
          <p:cNvSpPr txBox="1"/>
          <p:nvPr/>
        </p:nvSpPr>
        <p:spPr>
          <a:xfrm>
            <a:off x="6594200" y="2372675"/>
            <a:ext cx="5181600" cy="2955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6000" u="none" cap="none" strike="noStrike">
                <a:solidFill>
                  <a:srgbClr val="F8FAFC"/>
                </a:solidFill>
                <a:latin typeface="Space Grotesk"/>
                <a:ea typeface="Space Grotesk"/>
                <a:cs typeface="Space Grotesk"/>
                <a:sym typeface="Space Grotesk"/>
              </a:rPr>
              <a:t>ANY</a:t>
            </a:r>
            <a:br>
              <a:rPr b="0" i="0" lang="en-US" sz="1800" u="none" cap="none" strike="noStrike">
                <a:solidFill>
                  <a:schemeClr val="dk1"/>
                </a:solidFill>
                <a:latin typeface="Calibri"/>
                <a:ea typeface="Calibri"/>
                <a:cs typeface="Calibri"/>
                <a:sym typeface="Calibri"/>
              </a:rPr>
            </a:br>
            <a:r>
              <a:rPr b="1" i="0" lang="en-US" sz="6000" u="none" cap="none" strike="noStrike">
                <a:solidFill>
                  <a:srgbClr val="F8FAFC"/>
                </a:solidFill>
                <a:latin typeface="Space Grotesk"/>
                <a:ea typeface="Space Grotesk"/>
                <a:cs typeface="Space Grotesk"/>
                <a:sym typeface="Space Grotesk"/>
              </a:rPr>
              <a:t> QUESTIONS??</a:t>
            </a:r>
            <a:endParaRPr/>
          </a:p>
        </p:txBody>
      </p:sp>
      <p:pic>
        <p:nvPicPr>
          <p:cNvPr id="496" name="Google Shape;496;h16c38d813e46dba8_0_11"/>
          <p:cNvPicPr preferRelativeResize="0"/>
          <p:nvPr/>
        </p:nvPicPr>
        <p:blipFill>
          <a:blip r:embed="rId5">
            <a:alphaModFix/>
          </a:blip>
          <a:stretch>
            <a:fillRect/>
          </a:stretch>
        </p:blipFill>
        <p:spPr>
          <a:xfrm>
            <a:off x="0" y="-1"/>
            <a:ext cx="6086325" cy="68578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420" name="Shape 420"/>
        <p:cNvGrpSpPr/>
        <p:nvPr/>
      </p:nvGrpSpPr>
      <p:grpSpPr>
        <a:xfrm>
          <a:off x="0" y="0"/>
          <a:ext cx="0" cy="0"/>
          <a:chOff x="0" y="0"/>
          <a:chExt cx="0" cy="0"/>
        </a:xfrm>
      </p:grpSpPr>
      <p:sp>
        <p:nvSpPr>
          <p:cNvPr id="421" name="Google Shape;421;p19"/>
          <p:cNvSpPr/>
          <p:nvPr/>
        </p:nvSpPr>
        <p:spPr>
          <a:xfrm>
            <a:off x="0" y="0"/>
            <a:ext cx="12191695" cy="1005840"/>
          </a:xfrm>
          <a:prstGeom prst="rect">
            <a:avLst/>
          </a:prstGeom>
          <a:solidFill>
            <a:srgbClr val="2B6CB0"/>
          </a:solidFill>
          <a:ln>
            <a:noFill/>
          </a:ln>
          <a:effectLst>
            <a:outerShdw blurRad="40000" rotWithShape="0" dir="5400000" dist="23000">
              <a:srgbClr val="000000">
                <a:alpha val="34902"/>
              </a:srgbClr>
            </a:outerShdw>
          </a:effectLst>
        </p:spPr>
        <p:txBody>
          <a:bodyPr anchorCtr="0" anchor="ctr" bIns="45700" lIns="548625" spcFirstLastPara="1" rIns="91425" wrap="square" tIns="13715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Calibri"/>
                <a:ea typeface="Calibri"/>
                <a:cs typeface="Calibri"/>
                <a:sym typeface="Calibri"/>
              </a:rPr>
              <a:t>Clustering for High Availability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BEE3F8"/>
                </a:solidFill>
                <a:latin typeface="Calibri"/>
                <a:ea typeface="Calibri"/>
                <a:cs typeface="Calibri"/>
                <a:sym typeface="Calibri"/>
              </a:rPr>
              <a:t>Odd node counts, a fast network, and clients that can fail over</a:t>
            </a:r>
            <a:endParaRPr b="0" i="0" sz="1400" u="none" cap="none" strike="noStrike">
              <a:solidFill>
                <a:srgbClr val="000000"/>
              </a:solidFill>
              <a:latin typeface="Arial"/>
              <a:ea typeface="Arial"/>
              <a:cs typeface="Arial"/>
              <a:sym typeface="Arial"/>
            </a:endParaRPr>
          </a:p>
        </p:txBody>
      </p:sp>
      <p:sp>
        <p:nvSpPr>
          <p:cNvPr id="422" name="Google Shape;422;p19"/>
          <p:cNvSpPr/>
          <p:nvPr/>
        </p:nvSpPr>
        <p:spPr>
          <a:xfrm>
            <a:off x="457200" y="6400800"/>
            <a:ext cx="11277295" cy="18288"/>
          </a:xfrm>
          <a:prstGeom prst="rect">
            <a:avLst/>
          </a:prstGeom>
          <a:solidFill>
            <a:srgbClr val="E2E8F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3" name="Google Shape;423;p19"/>
          <p:cNvSpPr txBox="1"/>
          <p:nvPr/>
        </p:nvSpPr>
        <p:spPr>
          <a:xfrm>
            <a:off x="457200" y="6446520"/>
            <a:ext cx="4572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RabbitMQ in Production</a:t>
            </a:r>
            <a:endParaRPr b="0" i="0" sz="1400" u="none" cap="none" strike="noStrike">
              <a:solidFill>
                <a:srgbClr val="000000"/>
              </a:solidFill>
              <a:latin typeface="Arial"/>
              <a:ea typeface="Arial"/>
              <a:cs typeface="Arial"/>
              <a:sym typeface="Arial"/>
            </a:endParaRPr>
          </a:p>
        </p:txBody>
      </p:sp>
      <p:sp>
        <p:nvSpPr>
          <p:cNvPr id="424" name="Google Shape;424;p19"/>
          <p:cNvSpPr txBox="1"/>
          <p:nvPr/>
        </p:nvSpPr>
        <p:spPr>
          <a:xfrm>
            <a:off x="10515600" y="6446520"/>
            <a:ext cx="1371600" cy="32004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22 / 26</a:t>
            </a:r>
            <a:endParaRPr b="0" i="0" sz="1400" u="none" cap="none" strike="noStrike">
              <a:solidFill>
                <a:srgbClr val="000000"/>
              </a:solidFill>
              <a:latin typeface="Arial"/>
              <a:ea typeface="Arial"/>
              <a:cs typeface="Arial"/>
              <a:sym typeface="Arial"/>
            </a:endParaRPr>
          </a:p>
        </p:txBody>
      </p:sp>
      <p:sp>
        <p:nvSpPr>
          <p:cNvPr id="425" name="Google Shape;425;p19"/>
          <p:cNvSpPr/>
          <p:nvPr/>
        </p:nvSpPr>
        <p:spPr>
          <a:xfrm>
            <a:off x="739766" y="1695690"/>
            <a:ext cx="3288793" cy="657759"/>
          </a:xfrm>
          <a:prstGeom prst="roundRect">
            <a:avLst>
              <a:gd fmla="val 16667" name="adj"/>
            </a:avLst>
          </a:prstGeom>
          <a:solidFill>
            <a:srgbClr val="A0AEC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Sizing</a:t>
            </a:r>
            <a:endParaRPr b="0" i="0" sz="1400" u="none" cap="none" strike="noStrike">
              <a:solidFill>
                <a:srgbClr val="000000"/>
              </a:solidFill>
              <a:latin typeface="Arial"/>
              <a:ea typeface="Arial"/>
              <a:cs typeface="Arial"/>
              <a:sym typeface="Arial"/>
            </a:endParaRPr>
          </a:p>
        </p:txBody>
      </p:sp>
      <p:sp>
        <p:nvSpPr>
          <p:cNvPr id="426" name="Google Shape;426;p19"/>
          <p:cNvSpPr txBox="1"/>
          <p:nvPr/>
        </p:nvSpPr>
        <p:spPr>
          <a:xfrm>
            <a:off x="927697" y="2541379"/>
            <a:ext cx="3006897" cy="16913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2D3A4A"/>
                </a:solidFill>
                <a:latin typeface="Calibri"/>
                <a:ea typeface="Calibri"/>
                <a:cs typeface="Calibri"/>
                <a:sym typeface="Calibri"/>
              </a:rPr>
              <a:t>• 3 nodes: survive 1 failure</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5 nodes: survive 2</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Always use odd numbers</a:t>
            </a:r>
            <a:endParaRPr b="0" i="0" sz="2000" u="none" cap="none" strike="noStrike">
              <a:solidFill>
                <a:srgbClr val="000000"/>
              </a:solidFill>
              <a:latin typeface="Arial"/>
              <a:ea typeface="Arial"/>
              <a:cs typeface="Arial"/>
              <a:sym typeface="Arial"/>
            </a:endParaRPr>
          </a:p>
        </p:txBody>
      </p:sp>
      <p:sp>
        <p:nvSpPr>
          <p:cNvPr id="427" name="Google Shape;427;p19"/>
          <p:cNvSpPr/>
          <p:nvPr/>
        </p:nvSpPr>
        <p:spPr>
          <a:xfrm>
            <a:off x="4498386" y="1695690"/>
            <a:ext cx="3288793" cy="657759"/>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Network</a:t>
            </a:r>
            <a:endParaRPr b="0" i="0" sz="1400" u="none" cap="none" strike="noStrike">
              <a:solidFill>
                <a:srgbClr val="000000"/>
              </a:solidFill>
              <a:latin typeface="Arial"/>
              <a:ea typeface="Arial"/>
              <a:cs typeface="Arial"/>
              <a:sym typeface="Arial"/>
            </a:endParaRPr>
          </a:p>
        </p:txBody>
      </p:sp>
      <p:sp>
        <p:nvSpPr>
          <p:cNvPr id="428" name="Google Shape;428;p19"/>
          <p:cNvSpPr txBox="1"/>
          <p:nvPr/>
        </p:nvSpPr>
        <p:spPr>
          <a:xfrm>
            <a:off x="4686317" y="2541379"/>
            <a:ext cx="3006897" cy="16913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2D3A4A"/>
                </a:solidFill>
                <a:latin typeface="Calibri"/>
                <a:ea typeface="Calibri"/>
                <a:cs typeface="Calibri"/>
                <a:sym typeface="Calibri"/>
              </a:rPr>
              <a:t>• Low-latency LAN only</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Spread across zones</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Across sites: Federation</a:t>
            </a:r>
            <a:endParaRPr b="0" i="0" sz="2000" u="none" cap="none" strike="noStrike">
              <a:solidFill>
                <a:srgbClr val="000000"/>
              </a:solidFill>
              <a:latin typeface="Arial"/>
              <a:ea typeface="Arial"/>
              <a:cs typeface="Arial"/>
              <a:sym typeface="Arial"/>
            </a:endParaRPr>
          </a:p>
        </p:txBody>
      </p:sp>
      <p:sp>
        <p:nvSpPr>
          <p:cNvPr id="429" name="Google Shape;429;p19"/>
          <p:cNvSpPr/>
          <p:nvPr/>
        </p:nvSpPr>
        <p:spPr>
          <a:xfrm>
            <a:off x="8257007" y="1695690"/>
            <a:ext cx="3288793" cy="657759"/>
          </a:xfrm>
          <a:prstGeom prst="roundRect">
            <a:avLst>
              <a:gd fmla="val 16667" name="adj"/>
            </a:avLst>
          </a:prstGeom>
          <a:solidFill>
            <a:srgbClr val="2B6CB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Clients</a:t>
            </a:r>
            <a:endParaRPr b="0" i="0" sz="1400" u="none" cap="none" strike="noStrike">
              <a:solidFill>
                <a:srgbClr val="000000"/>
              </a:solidFill>
              <a:latin typeface="Arial"/>
              <a:ea typeface="Arial"/>
              <a:cs typeface="Arial"/>
              <a:sym typeface="Arial"/>
            </a:endParaRPr>
          </a:p>
        </p:txBody>
      </p:sp>
      <p:sp>
        <p:nvSpPr>
          <p:cNvPr id="430" name="Google Shape;430;p19"/>
          <p:cNvSpPr txBox="1"/>
          <p:nvPr/>
        </p:nvSpPr>
        <p:spPr>
          <a:xfrm>
            <a:off x="8444938" y="2541379"/>
            <a:ext cx="3006897" cy="16913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2D3A4A"/>
                </a:solidFill>
                <a:latin typeface="Calibri"/>
                <a:ea typeface="Calibri"/>
                <a:cs typeface="Calibri"/>
                <a:sym typeface="Calibri"/>
              </a:rPr>
              <a:t>• Use a load balancer</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Enable auto-reconnect</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Upgrade node by node</a:t>
            </a:r>
            <a:endParaRPr b="0" i="0" sz="2000" u="none" cap="none" strike="noStrike">
              <a:solidFill>
                <a:srgbClr val="000000"/>
              </a:solidFill>
              <a:latin typeface="Arial"/>
              <a:ea typeface="Arial"/>
              <a:cs typeface="Arial"/>
              <a:sym typeface="Arial"/>
            </a:endParaRPr>
          </a:p>
        </p:txBody>
      </p:sp>
      <p:sp>
        <p:nvSpPr>
          <p:cNvPr id="431" name="Google Shape;431;p19"/>
          <p:cNvSpPr/>
          <p:nvPr/>
        </p:nvSpPr>
        <p:spPr>
          <a:xfrm>
            <a:off x="645800" y="4754880"/>
            <a:ext cx="10336207" cy="822960"/>
          </a:xfrm>
          <a:prstGeom prst="roundRect">
            <a:avLst>
              <a:gd fmla="val 16667" name="adj"/>
            </a:avLst>
          </a:prstGeom>
          <a:solidFill>
            <a:srgbClr val="EBF8FF"/>
          </a:solidFill>
          <a:ln cap="flat" cmpd="sng" w="19050">
            <a:solidFill>
              <a:srgbClr val="2B6CB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37150"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1" lang="en-US" sz="1800" u="none" cap="none" strike="noStrike">
                <a:solidFill>
                  <a:srgbClr val="2B6CB0"/>
                </a:solidFill>
                <a:latin typeface="Calibri"/>
                <a:ea typeface="Calibri"/>
                <a:cs typeface="Calibri"/>
                <a:sym typeface="Calibri"/>
              </a:rPr>
              <a:t>💡 In real tech terms: a cluster is a chain of post offices sharing one ledger — if one branch closes, the others keep the mail moving.</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474" name="Shape 474"/>
        <p:cNvGrpSpPr/>
        <p:nvPr/>
      </p:nvGrpSpPr>
      <p:grpSpPr>
        <a:xfrm>
          <a:off x="0" y="0"/>
          <a:ext cx="0" cy="0"/>
          <a:chOff x="0" y="0"/>
          <a:chExt cx="0" cy="0"/>
        </a:xfrm>
      </p:grpSpPr>
      <p:sp>
        <p:nvSpPr>
          <p:cNvPr id="475" name="Google Shape;475;p30"/>
          <p:cNvSpPr/>
          <p:nvPr/>
        </p:nvSpPr>
        <p:spPr>
          <a:xfrm>
            <a:off x="0" y="0"/>
            <a:ext cx="12191695" cy="1005840"/>
          </a:xfrm>
          <a:prstGeom prst="rect">
            <a:avLst/>
          </a:prstGeom>
          <a:solidFill>
            <a:srgbClr val="2B6CB0"/>
          </a:solidFill>
          <a:ln>
            <a:noFill/>
          </a:ln>
          <a:effectLst>
            <a:outerShdw blurRad="40000" rotWithShape="0" dir="5400000" dist="23000">
              <a:srgbClr val="000000">
                <a:alpha val="34902"/>
              </a:srgbClr>
            </a:outerShdw>
          </a:effectLst>
        </p:spPr>
        <p:txBody>
          <a:bodyPr anchorCtr="0" anchor="ctr" bIns="45700" lIns="548625" spcFirstLastPara="1" rIns="91425" wrap="square" tIns="13715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Calibri"/>
                <a:ea typeface="Calibri"/>
                <a:cs typeface="Calibri"/>
                <a:sym typeface="Calibri"/>
              </a:rPr>
              <a:t>What to Monitor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BEE3F8"/>
                </a:solidFill>
                <a:latin typeface="Calibri"/>
                <a:ea typeface="Calibri"/>
                <a:cs typeface="Calibri"/>
                <a:sym typeface="Calibri"/>
              </a:rPr>
              <a:t>Watch queues, consumers, and nodes — alert before users notice</a:t>
            </a:r>
            <a:endParaRPr b="0" i="0" sz="1400" u="none" cap="none" strike="noStrike">
              <a:solidFill>
                <a:srgbClr val="000000"/>
              </a:solidFill>
              <a:latin typeface="Arial"/>
              <a:ea typeface="Arial"/>
              <a:cs typeface="Arial"/>
              <a:sym typeface="Arial"/>
            </a:endParaRPr>
          </a:p>
        </p:txBody>
      </p:sp>
      <p:sp>
        <p:nvSpPr>
          <p:cNvPr id="476" name="Google Shape;476;p30"/>
          <p:cNvSpPr/>
          <p:nvPr/>
        </p:nvSpPr>
        <p:spPr>
          <a:xfrm>
            <a:off x="457200" y="6400800"/>
            <a:ext cx="11277295" cy="18288"/>
          </a:xfrm>
          <a:prstGeom prst="rect">
            <a:avLst/>
          </a:prstGeom>
          <a:solidFill>
            <a:srgbClr val="E2E8F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7" name="Google Shape;477;p30"/>
          <p:cNvSpPr txBox="1"/>
          <p:nvPr/>
        </p:nvSpPr>
        <p:spPr>
          <a:xfrm>
            <a:off x="457200" y="6446520"/>
            <a:ext cx="4572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RabbitMQ in Production</a:t>
            </a:r>
            <a:endParaRPr b="0" i="0" sz="1400" u="none" cap="none" strike="noStrike">
              <a:solidFill>
                <a:srgbClr val="000000"/>
              </a:solidFill>
              <a:latin typeface="Arial"/>
              <a:ea typeface="Arial"/>
              <a:cs typeface="Arial"/>
              <a:sym typeface="Arial"/>
            </a:endParaRPr>
          </a:p>
        </p:txBody>
      </p:sp>
      <p:sp>
        <p:nvSpPr>
          <p:cNvPr id="478" name="Google Shape;478;p30"/>
          <p:cNvSpPr txBox="1"/>
          <p:nvPr/>
        </p:nvSpPr>
        <p:spPr>
          <a:xfrm>
            <a:off x="10515600" y="6446520"/>
            <a:ext cx="1371600" cy="32004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23 / 26</a:t>
            </a:r>
            <a:endParaRPr b="0" i="0" sz="1400" u="none" cap="none" strike="noStrike">
              <a:solidFill>
                <a:srgbClr val="000000"/>
              </a:solidFill>
              <a:latin typeface="Arial"/>
              <a:ea typeface="Arial"/>
              <a:cs typeface="Arial"/>
              <a:sym typeface="Arial"/>
            </a:endParaRPr>
          </a:p>
        </p:txBody>
      </p:sp>
      <p:sp>
        <p:nvSpPr>
          <p:cNvPr id="479" name="Google Shape;479;p30"/>
          <p:cNvSpPr/>
          <p:nvPr/>
        </p:nvSpPr>
        <p:spPr>
          <a:xfrm>
            <a:off x="700840" y="1450000"/>
            <a:ext cx="3200400" cy="640080"/>
          </a:xfrm>
          <a:prstGeom prst="roundRect">
            <a:avLst>
              <a:gd fmla="val 16667" name="adj"/>
            </a:avLst>
          </a:prstGeom>
          <a:solidFill>
            <a:srgbClr val="ED8A36"/>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Queues</a:t>
            </a:r>
            <a:endParaRPr b="0" i="0" sz="1400" u="none" cap="none" strike="noStrike">
              <a:solidFill>
                <a:srgbClr val="000000"/>
              </a:solidFill>
              <a:latin typeface="Arial"/>
              <a:ea typeface="Arial"/>
              <a:cs typeface="Arial"/>
              <a:sym typeface="Arial"/>
            </a:endParaRPr>
          </a:p>
        </p:txBody>
      </p:sp>
      <p:sp>
        <p:nvSpPr>
          <p:cNvPr id="480" name="Google Shape;480;p30"/>
          <p:cNvSpPr txBox="1"/>
          <p:nvPr/>
        </p:nvSpPr>
        <p:spPr>
          <a:xfrm>
            <a:off x="883720" y="2272960"/>
            <a:ext cx="2926080" cy="21031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2D3A4A"/>
                </a:solidFill>
                <a:latin typeface="Calibri"/>
                <a:ea typeface="Calibri"/>
                <a:cs typeface="Calibri"/>
                <a:sym typeface="Calibri"/>
              </a:rPr>
              <a:t>• Ready vs unacked msgs</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Queue depth trend</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Dead-letter queue size</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Unroutable messages</a:t>
            </a:r>
            <a:endParaRPr b="0" i="0" sz="2000" u="none" cap="none" strike="noStrike">
              <a:solidFill>
                <a:srgbClr val="000000"/>
              </a:solidFill>
              <a:latin typeface="Arial"/>
              <a:ea typeface="Arial"/>
              <a:cs typeface="Arial"/>
              <a:sym typeface="Arial"/>
            </a:endParaRPr>
          </a:p>
        </p:txBody>
      </p:sp>
      <p:sp>
        <p:nvSpPr>
          <p:cNvPr id="481" name="Google Shape;481;p30"/>
          <p:cNvSpPr/>
          <p:nvPr/>
        </p:nvSpPr>
        <p:spPr>
          <a:xfrm>
            <a:off x="4358440" y="1450000"/>
            <a:ext cx="3200400" cy="640080"/>
          </a:xfrm>
          <a:prstGeom prst="roundRect">
            <a:avLst>
              <a:gd fmla="val 16667" name="adj"/>
            </a:avLst>
          </a:prstGeom>
          <a:solidFill>
            <a:srgbClr val="2B6CB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Consumers</a:t>
            </a:r>
            <a:endParaRPr b="0" i="0" sz="1400" u="none" cap="none" strike="noStrike">
              <a:solidFill>
                <a:srgbClr val="000000"/>
              </a:solidFill>
              <a:latin typeface="Arial"/>
              <a:ea typeface="Arial"/>
              <a:cs typeface="Arial"/>
              <a:sym typeface="Arial"/>
            </a:endParaRPr>
          </a:p>
        </p:txBody>
      </p:sp>
      <p:sp>
        <p:nvSpPr>
          <p:cNvPr id="482" name="Google Shape;482;p30"/>
          <p:cNvSpPr txBox="1"/>
          <p:nvPr/>
        </p:nvSpPr>
        <p:spPr>
          <a:xfrm>
            <a:off x="4541320" y="2272960"/>
            <a:ext cx="2926080" cy="21031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2D3A4A"/>
                </a:solidFill>
                <a:latin typeface="Calibri"/>
                <a:ea typeface="Calibri"/>
                <a:cs typeface="Calibri"/>
                <a:sym typeface="Calibri"/>
              </a:rPr>
              <a:t>• Consumer count</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Publish vs ack rate</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Redelivery rate</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Slow or stuck consumers</a:t>
            </a:r>
            <a:endParaRPr b="0" i="0" sz="2000" u="none" cap="none" strike="noStrike">
              <a:solidFill>
                <a:srgbClr val="000000"/>
              </a:solidFill>
              <a:latin typeface="Arial"/>
              <a:ea typeface="Arial"/>
              <a:cs typeface="Arial"/>
              <a:sym typeface="Arial"/>
            </a:endParaRPr>
          </a:p>
        </p:txBody>
      </p:sp>
      <p:sp>
        <p:nvSpPr>
          <p:cNvPr id="483" name="Google Shape;483;p30"/>
          <p:cNvSpPr/>
          <p:nvPr/>
        </p:nvSpPr>
        <p:spPr>
          <a:xfrm>
            <a:off x="8016040" y="1450000"/>
            <a:ext cx="3200400" cy="640080"/>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Nodes</a:t>
            </a:r>
            <a:endParaRPr b="0" i="0" sz="1400" u="none" cap="none" strike="noStrike">
              <a:solidFill>
                <a:srgbClr val="000000"/>
              </a:solidFill>
              <a:latin typeface="Arial"/>
              <a:ea typeface="Arial"/>
              <a:cs typeface="Arial"/>
              <a:sym typeface="Arial"/>
            </a:endParaRPr>
          </a:p>
        </p:txBody>
      </p:sp>
      <p:sp>
        <p:nvSpPr>
          <p:cNvPr id="484" name="Google Shape;484;p30"/>
          <p:cNvSpPr txBox="1"/>
          <p:nvPr/>
        </p:nvSpPr>
        <p:spPr>
          <a:xfrm>
            <a:off x="8198920" y="2272960"/>
            <a:ext cx="2926080" cy="21031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2D3A4A"/>
                </a:solidFill>
                <a:latin typeface="Calibri"/>
                <a:ea typeface="Calibri"/>
                <a:cs typeface="Calibri"/>
                <a:sym typeface="Calibri"/>
              </a:rPr>
              <a:t>• Memory and disk alarms</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File descriptors</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Connections, channels</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Cluster partitions</a:t>
            </a:r>
            <a:endParaRPr b="0" i="0" sz="2000" u="none" cap="none" strike="noStrike">
              <a:solidFill>
                <a:srgbClr val="000000"/>
              </a:solidFill>
              <a:latin typeface="Arial"/>
              <a:ea typeface="Arial"/>
              <a:cs typeface="Arial"/>
              <a:sym typeface="Arial"/>
            </a:endParaRPr>
          </a:p>
        </p:txBody>
      </p:sp>
      <p:sp>
        <p:nvSpPr>
          <p:cNvPr id="485" name="Google Shape;485;p30"/>
          <p:cNvSpPr txBox="1"/>
          <p:nvPr/>
        </p:nvSpPr>
        <p:spPr>
          <a:xfrm>
            <a:off x="609400" y="4572000"/>
            <a:ext cx="10972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B6CB0"/>
                </a:solidFill>
                <a:latin typeface="Calibri"/>
                <a:ea typeface="Calibri"/>
                <a:cs typeface="Calibri"/>
                <a:sym typeface="Calibri"/>
              </a:rPr>
              <a:t>🔔  Tools: Management UI  |  Prometheus + Grafana  |  Alert on: no consumers, growing depth, DLQ &gt; 0</a:t>
            </a:r>
            <a:endParaRPr b="0" i="0" sz="1800" u="none" cap="none" strike="noStrike">
              <a:solidFill>
                <a:srgbClr val="000000"/>
              </a:solidFill>
              <a:latin typeface="Arial"/>
              <a:ea typeface="Arial"/>
              <a:cs typeface="Arial"/>
              <a:sym typeface="Arial"/>
            </a:endParaRPr>
          </a:p>
        </p:txBody>
      </p:sp>
      <p:sp>
        <p:nvSpPr>
          <p:cNvPr id="486" name="Google Shape;486;p30"/>
          <p:cNvSpPr txBox="1"/>
          <p:nvPr/>
        </p:nvSpPr>
        <p:spPr>
          <a:xfrm>
            <a:off x="3169720" y="5473360"/>
            <a:ext cx="54864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420" name="Shape 420"/>
        <p:cNvGrpSpPr/>
        <p:nvPr/>
      </p:nvGrpSpPr>
      <p:grpSpPr>
        <a:xfrm>
          <a:off x="0" y="0"/>
          <a:ext cx="0" cy="0"/>
          <a:chOff x="0" y="0"/>
          <a:chExt cx="0" cy="0"/>
        </a:xfrm>
      </p:grpSpPr>
      <p:sp>
        <p:nvSpPr>
          <p:cNvPr id="421" name="Google Shape;421;p19"/>
          <p:cNvSpPr/>
          <p:nvPr/>
        </p:nvSpPr>
        <p:spPr>
          <a:xfrm>
            <a:off x="0" y="0"/>
            <a:ext cx="12191695" cy="1005840"/>
          </a:xfrm>
          <a:prstGeom prst="rect">
            <a:avLst/>
          </a:prstGeom>
          <a:solidFill>
            <a:srgbClr val="2B6CB0"/>
          </a:solidFill>
          <a:ln>
            <a:noFill/>
          </a:ln>
          <a:effectLst>
            <a:outerShdw blurRad="40000" rotWithShape="0" dir="5400000" dist="23000">
              <a:srgbClr val="000000">
                <a:alpha val="34902"/>
              </a:srgbClr>
            </a:outerShdw>
          </a:effectLst>
        </p:spPr>
        <p:txBody>
          <a:bodyPr anchorCtr="0" anchor="ctr" bIns="45700" lIns="548625" spcFirstLastPara="1" rIns="91425" wrap="square" tIns="13715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Calibri"/>
                <a:ea typeface="Calibri"/>
                <a:cs typeface="Calibri"/>
                <a:sym typeface="Calibri"/>
              </a:rPr>
              <a:t>Common Production Mistakes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BEE3F8"/>
                </a:solidFill>
                <a:latin typeface="Calibri"/>
                <a:ea typeface="Calibri"/>
                <a:cs typeface="Calibri"/>
                <a:sym typeface="Calibri"/>
              </a:rPr>
              <a:t>Connections, queues, and security — the usual suspects</a:t>
            </a:r>
            <a:endParaRPr b="0" i="0" sz="1400" u="none" cap="none" strike="noStrike">
              <a:solidFill>
                <a:srgbClr val="000000"/>
              </a:solidFill>
              <a:latin typeface="Arial"/>
              <a:ea typeface="Arial"/>
              <a:cs typeface="Arial"/>
              <a:sym typeface="Arial"/>
            </a:endParaRPr>
          </a:p>
        </p:txBody>
      </p:sp>
      <p:sp>
        <p:nvSpPr>
          <p:cNvPr id="422" name="Google Shape;422;p19"/>
          <p:cNvSpPr/>
          <p:nvPr/>
        </p:nvSpPr>
        <p:spPr>
          <a:xfrm>
            <a:off x="457200" y="6400800"/>
            <a:ext cx="11277295" cy="18288"/>
          </a:xfrm>
          <a:prstGeom prst="rect">
            <a:avLst/>
          </a:prstGeom>
          <a:solidFill>
            <a:srgbClr val="E2E8F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3" name="Google Shape;423;p19"/>
          <p:cNvSpPr txBox="1"/>
          <p:nvPr/>
        </p:nvSpPr>
        <p:spPr>
          <a:xfrm>
            <a:off x="457200" y="6446520"/>
            <a:ext cx="4572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RabbitMQ in Production</a:t>
            </a:r>
            <a:endParaRPr b="0" i="0" sz="1400" u="none" cap="none" strike="noStrike">
              <a:solidFill>
                <a:srgbClr val="000000"/>
              </a:solidFill>
              <a:latin typeface="Arial"/>
              <a:ea typeface="Arial"/>
              <a:cs typeface="Arial"/>
              <a:sym typeface="Arial"/>
            </a:endParaRPr>
          </a:p>
        </p:txBody>
      </p:sp>
      <p:sp>
        <p:nvSpPr>
          <p:cNvPr id="424" name="Google Shape;424;p19"/>
          <p:cNvSpPr txBox="1"/>
          <p:nvPr/>
        </p:nvSpPr>
        <p:spPr>
          <a:xfrm>
            <a:off x="10515600" y="6446520"/>
            <a:ext cx="1371600" cy="32004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A0AEC0"/>
                </a:solidFill>
                <a:latin typeface="Calibri"/>
                <a:ea typeface="Calibri"/>
                <a:cs typeface="Calibri"/>
                <a:sym typeface="Calibri"/>
              </a:rPr>
              <a:t>24 / 26</a:t>
            </a:r>
            <a:endParaRPr b="0" i="0" sz="1400" u="none" cap="none" strike="noStrike">
              <a:solidFill>
                <a:srgbClr val="000000"/>
              </a:solidFill>
              <a:latin typeface="Arial"/>
              <a:ea typeface="Arial"/>
              <a:cs typeface="Arial"/>
              <a:sym typeface="Arial"/>
            </a:endParaRPr>
          </a:p>
        </p:txBody>
      </p:sp>
      <p:sp>
        <p:nvSpPr>
          <p:cNvPr id="425" name="Google Shape;425;p19"/>
          <p:cNvSpPr/>
          <p:nvPr/>
        </p:nvSpPr>
        <p:spPr>
          <a:xfrm>
            <a:off x="739766" y="1695690"/>
            <a:ext cx="3288793" cy="657759"/>
          </a:xfrm>
          <a:prstGeom prst="roundRect">
            <a:avLst>
              <a:gd fmla="val 16667" name="adj"/>
            </a:avLst>
          </a:prstGeom>
          <a:solidFill>
            <a:srgbClr val="A0AEC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Connections</a:t>
            </a:r>
            <a:endParaRPr b="0" i="0" sz="1400" u="none" cap="none" strike="noStrike">
              <a:solidFill>
                <a:srgbClr val="000000"/>
              </a:solidFill>
              <a:latin typeface="Arial"/>
              <a:ea typeface="Arial"/>
              <a:cs typeface="Arial"/>
              <a:sym typeface="Arial"/>
            </a:endParaRPr>
          </a:p>
        </p:txBody>
      </p:sp>
      <p:sp>
        <p:nvSpPr>
          <p:cNvPr id="426" name="Google Shape;426;p19"/>
          <p:cNvSpPr txBox="1"/>
          <p:nvPr/>
        </p:nvSpPr>
        <p:spPr>
          <a:xfrm>
            <a:off x="927697" y="2541379"/>
            <a:ext cx="3006897" cy="16913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2D3A4A"/>
                </a:solidFill>
                <a:latin typeface="Calibri"/>
                <a:ea typeface="Calibri"/>
                <a:cs typeface="Calibri"/>
                <a:sym typeface="Calibri"/>
              </a:rPr>
              <a:t>• Connection per message</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Hundreds of connections</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Sharing channels</a:t>
            </a:r>
            <a:endParaRPr b="0" i="0" sz="2000" u="none" cap="none" strike="noStrike">
              <a:solidFill>
                <a:srgbClr val="000000"/>
              </a:solidFill>
              <a:latin typeface="Arial"/>
              <a:ea typeface="Arial"/>
              <a:cs typeface="Arial"/>
              <a:sym typeface="Arial"/>
            </a:endParaRPr>
          </a:p>
        </p:txBody>
      </p:sp>
      <p:sp>
        <p:nvSpPr>
          <p:cNvPr id="427" name="Google Shape;427;p19"/>
          <p:cNvSpPr/>
          <p:nvPr/>
        </p:nvSpPr>
        <p:spPr>
          <a:xfrm>
            <a:off x="4498386" y="1695690"/>
            <a:ext cx="3288793" cy="657759"/>
          </a:xfrm>
          <a:prstGeom prst="roundRect">
            <a:avLst>
              <a:gd fmla="val 16667" name="adj"/>
            </a:avLst>
          </a:prstGeom>
          <a:solidFill>
            <a:srgbClr val="38A169"/>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Queues</a:t>
            </a:r>
            <a:endParaRPr b="0" i="0" sz="1400" u="none" cap="none" strike="noStrike">
              <a:solidFill>
                <a:srgbClr val="000000"/>
              </a:solidFill>
              <a:latin typeface="Arial"/>
              <a:ea typeface="Arial"/>
              <a:cs typeface="Arial"/>
              <a:sym typeface="Arial"/>
            </a:endParaRPr>
          </a:p>
        </p:txBody>
      </p:sp>
      <p:sp>
        <p:nvSpPr>
          <p:cNvPr id="428" name="Google Shape;428;p19"/>
          <p:cNvSpPr txBox="1"/>
          <p:nvPr/>
        </p:nvSpPr>
        <p:spPr>
          <a:xfrm>
            <a:off x="4686317" y="2541379"/>
            <a:ext cx="3006897" cy="16913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2D3A4A"/>
                </a:solidFill>
                <a:latin typeface="Calibri"/>
                <a:ea typeface="Calibri"/>
                <a:cs typeface="Calibri"/>
                <a:sym typeface="Calibri"/>
              </a:rPr>
              <a:t>• Unbounded queues</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No DLQ or retry limit</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Auto-ack on critical work</a:t>
            </a:r>
            <a:endParaRPr b="0" i="0" sz="2000" u="none" cap="none" strike="noStrike">
              <a:solidFill>
                <a:srgbClr val="000000"/>
              </a:solidFill>
              <a:latin typeface="Arial"/>
              <a:ea typeface="Arial"/>
              <a:cs typeface="Arial"/>
              <a:sym typeface="Arial"/>
            </a:endParaRPr>
          </a:p>
        </p:txBody>
      </p:sp>
      <p:sp>
        <p:nvSpPr>
          <p:cNvPr id="429" name="Google Shape;429;p19"/>
          <p:cNvSpPr/>
          <p:nvPr/>
        </p:nvSpPr>
        <p:spPr>
          <a:xfrm>
            <a:off x="8257007" y="1695690"/>
            <a:ext cx="3288793" cy="657759"/>
          </a:xfrm>
          <a:prstGeom prst="roundRect">
            <a:avLst>
              <a:gd fmla="val 16667" name="adj"/>
            </a:avLst>
          </a:prstGeom>
          <a:solidFill>
            <a:srgbClr val="2B6CB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Security</a:t>
            </a:r>
            <a:endParaRPr b="0" i="0" sz="1400" u="none" cap="none" strike="noStrike">
              <a:solidFill>
                <a:srgbClr val="000000"/>
              </a:solidFill>
              <a:latin typeface="Arial"/>
              <a:ea typeface="Arial"/>
              <a:cs typeface="Arial"/>
              <a:sym typeface="Arial"/>
            </a:endParaRPr>
          </a:p>
        </p:txBody>
      </p:sp>
      <p:sp>
        <p:nvSpPr>
          <p:cNvPr id="430" name="Google Shape;430;p19"/>
          <p:cNvSpPr txBox="1"/>
          <p:nvPr/>
        </p:nvSpPr>
        <p:spPr>
          <a:xfrm>
            <a:off x="8444938" y="2541379"/>
            <a:ext cx="3006897" cy="16913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2D3A4A"/>
                </a:solidFill>
                <a:latin typeface="Calibri"/>
                <a:ea typeface="Calibri"/>
                <a:cs typeface="Calibri"/>
                <a:sym typeface="Calibri"/>
              </a:rPr>
              <a:t>• Guest user left enabled</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One shared admin login</a:t>
            </a:r>
            <a:br>
              <a:rPr b="0" i="0" lang="en-US" sz="2000" u="none" cap="none" strike="noStrike">
                <a:solidFill>
                  <a:srgbClr val="2D3A4A"/>
                </a:solidFill>
                <a:latin typeface="Calibri"/>
                <a:ea typeface="Calibri"/>
                <a:cs typeface="Calibri"/>
                <a:sym typeface="Calibri"/>
              </a:rPr>
            </a:br>
            <a:r>
              <a:rPr b="0" i="0" lang="en-US" sz="2000" u="none" cap="none" strike="noStrike">
                <a:solidFill>
                  <a:srgbClr val="2D3A4A"/>
                </a:solidFill>
                <a:latin typeface="Calibri"/>
                <a:ea typeface="Calibri"/>
                <a:cs typeface="Calibri"/>
                <a:sym typeface="Calibri"/>
              </a:rPr>
              <a:t>• No TLS on connections</a:t>
            </a:r>
            <a:endParaRPr b="0" i="0" sz="2000" u="none" cap="none" strike="noStrike">
              <a:solidFill>
                <a:srgbClr val="000000"/>
              </a:solidFill>
              <a:latin typeface="Arial"/>
              <a:ea typeface="Arial"/>
              <a:cs typeface="Arial"/>
              <a:sym typeface="Arial"/>
            </a:endParaRPr>
          </a:p>
        </p:txBody>
      </p:sp>
      <p:sp>
        <p:nvSpPr>
          <p:cNvPr id="431" name="Google Shape;431;p19"/>
          <p:cNvSpPr/>
          <p:nvPr/>
        </p:nvSpPr>
        <p:spPr>
          <a:xfrm>
            <a:off x="645800" y="4754880"/>
            <a:ext cx="10336207" cy="822960"/>
          </a:xfrm>
          <a:prstGeom prst="roundRect">
            <a:avLst>
              <a:gd fmla="val 16667" name="adj"/>
            </a:avLst>
          </a:prstGeom>
          <a:solidFill>
            <a:srgbClr val="EBF8FF"/>
          </a:solidFill>
          <a:ln cap="flat" cmpd="sng" w="19050">
            <a:solidFill>
              <a:srgbClr val="2B6CB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37150"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1" lang="en-US" sz="1800" u="none" cap="none" strike="noStrike">
                <a:solidFill>
                  <a:srgbClr val="2B6CB0"/>
                </a:solidFill>
                <a:latin typeface="Calibri"/>
                <a:ea typeface="Calibri"/>
                <a:cs typeface="Calibri"/>
                <a:sym typeface="Calibri"/>
              </a:rPr>
              <a:t>💡 Rule of thumb: one connection per app instance, bounded queues, a DLQ for anything that matters, and a dedicated user per service.</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